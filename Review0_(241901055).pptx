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handoutMasterIdLst>
    <p:handoutMasterId r:id="rId15"/>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9" d="100"/>
          <a:sy n="69"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21F31E85-6B50-4414-8303-1660ABD7E6B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 xmlns:a16="http://schemas.microsoft.com/office/drawing/2014/main" id="{3BFFCE1D-0AE9-4302-BF12-A2B0CA32A9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9A3B001-ABFF-418E-9154-637B4600883D}" type="datetimeFigureOut">
              <a:rPr lang="en-IN" smtClean="0"/>
              <a:t>05-08-2026</a:t>
            </a:fld>
            <a:endParaRPr lang="en-IN"/>
          </a:p>
        </p:txBody>
      </p:sp>
      <p:sp>
        <p:nvSpPr>
          <p:cNvPr id="4" name="Footer Placeholder 3">
            <a:extLst>
              <a:ext uri="{FF2B5EF4-FFF2-40B4-BE49-F238E27FC236}">
                <a16:creationId xmlns="" xmlns:a16="http://schemas.microsoft.com/office/drawing/2014/main" id="{F5D54E17-5DD5-4758-8B2D-0B3BE7289F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5" name="Slide Number Placeholder 4">
            <a:extLst>
              <a:ext uri="{FF2B5EF4-FFF2-40B4-BE49-F238E27FC236}">
                <a16:creationId xmlns="" xmlns:a16="http://schemas.microsoft.com/office/drawing/2014/main" id="{D38A4D68-88AA-42B1-B509-F1FA04B3A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E9E7C3-5A08-4764-A95A-BBECC46AC650}" type="slidenum">
              <a:rPr lang="en-IN" smtClean="0"/>
              <a:t>‹#›</a:t>
            </a:fld>
            <a:endParaRPr lang="en-IN"/>
          </a:p>
        </p:txBody>
      </p:sp>
    </p:spTree>
    <p:extLst>
      <p:ext uri="{BB962C8B-B14F-4D97-AF65-F5344CB8AC3E}">
        <p14:creationId xmlns:p14="http://schemas.microsoft.com/office/powerpoint/2010/main" val="211026868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A9BA1-D418-46F7-B646-16F2E4E1F9F7}" type="datetimeFigureOut">
              <a:rPr lang="en-IN" smtClean="0"/>
              <a:t>05-08-2026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Rajalakshmi Engineering College,Department of Cyber Security</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92CE00-EA5F-4FB0-8537-EFD9EFC07CA8}" type="slidenum">
              <a:rPr lang="en-IN" smtClean="0"/>
              <a:t>‹#›</a:t>
            </a:fld>
            <a:endParaRPr lang="en-IN"/>
          </a:p>
        </p:txBody>
      </p:sp>
    </p:spTree>
    <p:extLst>
      <p:ext uri="{BB962C8B-B14F-4D97-AF65-F5344CB8AC3E}">
        <p14:creationId xmlns:p14="http://schemas.microsoft.com/office/powerpoint/2010/main" val="3475557550"/>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91DA59A-BCBE-48E2-A350-FB035DDECB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C5FF6DBD-B524-460B-AA44-E186583A49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F14A3FC-54A1-489A-8276-92648A22A5D9}"/>
              </a:ext>
            </a:extLst>
          </p:cNvPr>
          <p:cNvSpPr>
            <a:spLocks noGrp="1"/>
          </p:cNvSpPr>
          <p:nvPr>
            <p:ph type="dt" sz="half" idx="10"/>
          </p:nvPr>
        </p:nvSpPr>
        <p:spPr/>
        <p:txBody>
          <a:bodyPr/>
          <a:lstStyle/>
          <a:p>
            <a:fld id="{AF51A6A6-A7F2-4933-9075-6FF54A45A246}" type="datetime1">
              <a:rPr lang="en-IN" smtClean="0"/>
              <a:t>05-08-2026</a:t>
            </a:fld>
            <a:endParaRPr lang="en-IN"/>
          </a:p>
        </p:txBody>
      </p:sp>
      <p:sp>
        <p:nvSpPr>
          <p:cNvPr id="5" name="Footer Placeholder 4">
            <a:extLst>
              <a:ext uri="{FF2B5EF4-FFF2-40B4-BE49-F238E27FC236}">
                <a16:creationId xmlns="" xmlns:a16="http://schemas.microsoft.com/office/drawing/2014/main" id="{94F8D5EB-B231-46BD-AC05-9475512F664D}"/>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 xmlns:a16="http://schemas.microsoft.com/office/drawing/2014/main" id="{795ACC44-0FA3-41D7-8827-56818F396F7A}"/>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087453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962A280-D3AA-4359-82E8-23CF7F95F95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7B80452E-B981-494B-AF11-EEEB6CB1BC6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EF6FC46-05C5-491A-98F5-67DFE9F1BD84}"/>
              </a:ext>
            </a:extLst>
          </p:cNvPr>
          <p:cNvSpPr>
            <a:spLocks noGrp="1"/>
          </p:cNvSpPr>
          <p:nvPr>
            <p:ph type="dt" sz="half" idx="10"/>
          </p:nvPr>
        </p:nvSpPr>
        <p:spPr/>
        <p:txBody>
          <a:bodyPr/>
          <a:lstStyle/>
          <a:p>
            <a:fld id="{8E93293B-E7C6-4EBD-97F1-D064646A23FC}" type="datetime1">
              <a:rPr lang="en-IN" smtClean="0"/>
              <a:t>05-08-2026</a:t>
            </a:fld>
            <a:endParaRPr lang="en-IN"/>
          </a:p>
        </p:txBody>
      </p:sp>
      <p:sp>
        <p:nvSpPr>
          <p:cNvPr id="5" name="Footer Placeholder 4">
            <a:extLst>
              <a:ext uri="{FF2B5EF4-FFF2-40B4-BE49-F238E27FC236}">
                <a16:creationId xmlns="" xmlns:a16="http://schemas.microsoft.com/office/drawing/2014/main" id="{25EC7F8E-CF1F-4BF8-9AB5-1D86268D62CB}"/>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 xmlns:a16="http://schemas.microsoft.com/office/drawing/2014/main" id="{609DCA77-D61D-46CC-A34B-A12DBAB35CA6}"/>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784564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DE4260-F786-41D5-AA19-25971DA5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9254B45-ABB3-43F6-A69A-330D3EEE3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 xmlns:a16="http://schemas.microsoft.com/office/drawing/2014/main" id="{F6BFBA7F-C03D-42BA-860F-C0084E058366}"/>
              </a:ext>
            </a:extLst>
          </p:cNvPr>
          <p:cNvSpPr>
            <a:spLocks noGrp="1"/>
          </p:cNvSpPr>
          <p:nvPr>
            <p:ph type="dt" sz="half" idx="10"/>
          </p:nvPr>
        </p:nvSpPr>
        <p:spPr/>
        <p:txBody>
          <a:bodyPr/>
          <a:lstStyle/>
          <a:p>
            <a:fld id="{A9C731AF-597A-4011-A47A-590DF41FF4CE}" type="datetime1">
              <a:rPr lang="en-IN" smtClean="0"/>
              <a:t>05-08-2026</a:t>
            </a:fld>
            <a:endParaRPr lang="en-IN"/>
          </a:p>
        </p:txBody>
      </p:sp>
      <p:sp>
        <p:nvSpPr>
          <p:cNvPr id="5" name="Footer Placeholder 4">
            <a:extLst>
              <a:ext uri="{FF2B5EF4-FFF2-40B4-BE49-F238E27FC236}">
                <a16:creationId xmlns="" xmlns:a16="http://schemas.microsoft.com/office/drawing/2014/main" id="{743C5C7F-0F76-4539-A47B-34FE706B30B2}"/>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 xmlns:a16="http://schemas.microsoft.com/office/drawing/2014/main" id="{30338696-8488-4503-B740-D2352312EA0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108305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01B93C4-F8EF-4CB4-90F1-A6F2C25334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F6A15783-F42E-4766-9BD6-9281265A44E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98CDE48A-A630-45BF-BFE4-7FAE6E8FE5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92F3FBA5-DF65-41CC-BAA5-E9D93CAD490F}"/>
              </a:ext>
            </a:extLst>
          </p:cNvPr>
          <p:cNvSpPr>
            <a:spLocks noGrp="1"/>
          </p:cNvSpPr>
          <p:nvPr>
            <p:ph type="dt" sz="half" idx="10"/>
          </p:nvPr>
        </p:nvSpPr>
        <p:spPr/>
        <p:txBody>
          <a:bodyPr/>
          <a:lstStyle/>
          <a:p>
            <a:fld id="{9BE8AE2A-4198-4CFC-8A3D-99793047056B}" type="datetime1">
              <a:rPr lang="en-IN" smtClean="0"/>
              <a:t>05-08-2026</a:t>
            </a:fld>
            <a:endParaRPr lang="en-IN"/>
          </a:p>
        </p:txBody>
      </p:sp>
      <p:sp>
        <p:nvSpPr>
          <p:cNvPr id="6" name="Footer Placeholder 5">
            <a:extLst>
              <a:ext uri="{FF2B5EF4-FFF2-40B4-BE49-F238E27FC236}">
                <a16:creationId xmlns="" xmlns:a16="http://schemas.microsoft.com/office/drawing/2014/main" id="{BD748E5F-5552-416B-BC90-C62417A3A89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 xmlns:a16="http://schemas.microsoft.com/office/drawing/2014/main" id="{3D6DDB7E-587A-4AA5-8A58-352BC20C792F}"/>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61870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8507CEE-8F3F-40F1-B22D-D53F1637F0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7BAEE05-D573-4122-8E24-00B78F74B0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 xmlns:a16="http://schemas.microsoft.com/office/drawing/2014/main" id="{5AF22DC4-F974-49BF-B147-72208B764FB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FAE9CDB9-0076-4DF6-9690-182E5157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 xmlns:a16="http://schemas.microsoft.com/office/drawing/2014/main" id="{3593C982-67D7-427B-8C3D-1FF7CC53EF8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6AC65A0D-D7E5-4F76-A5DC-B3A473496CA6}"/>
              </a:ext>
            </a:extLst>
          </p:cNvPr>
          <p:cNvSpPr>
            <a:spLocks noGrp="1"/>
          </p:cNvSpPr>
          <p:nvPr>
            <p:ph type="dt" sz="half" idx="10"/>
          </p:nvPr>
        </p:nvSpPr>
        <p:spPr/>
        <p:txBody>
          <a:bodyPr/>
          <a:lstStyle/>
          <a:p>
            <a:fld id="{5979E98C-4750-4DE8-AE7D-913096F33BA4}" type="datetime1">
              <a:rPr lang="en-IN" smtClean="0"/>
              <a:t>05-08-2026</a:t>
            </a:fld>
            <a:endParaRPr lang="en-IN"/>
          </a:p>
        </p:txBody>
      </p:sp>
      <p:sp>
        <p:nvSpPr>
          <p:cNvPr id="8" name="Footer Placeholder 7">
            <a:extLst>
              <a:ext uri="{FF2B5EF4-FFF2-40B4-BE49-F238E27FC236}">
                <a16:creationId xmlns="" xmlns:a16="http://schemas.microsoft.com/office/drawing/2014/main" id="{5224A474-160B-4E5B-B8C1-9A764A898991}"/>
              </a:ext>
            </a:extLst>
          </p:cNvPr>
          <p:cNvSpPr>
            <a:spLocks noGrp="1"/>
          </p:cNvSpPr>
          <p:nvPr>
            <p:ph type="ftr" sz="quarter" idx="11"/>
          </p:nvPr>
        </p:nvSpPr>
        <p:spPr/>
        <p:txBody>
          <a:bodyPr/>
          <a:lstStyle/>
          <a:p>
            <a:r>
              <a:rPr lang="en-US"/>
              <a:t>Rajalakshmi Engineering College,Department of Cyber Security</a:t>
            </a:r>
            <a:endParaRPr lang="en-IN"/>
          </a:p>
        </p:txBody>
      </p:sp>
      <p:sp>
        <p:nvSpPr>
          <p:cNvPr id="9" name="Slide Number Placeholder 8">
            <a:extLst>
              <a:ext uri="{FF2B5EF4-FFF2-40B4-BE49-F238E27FC236}">
                <a16:creationId xmlns="" xmlns:a16="http://schemas.microsoft.com/office/drawing/2014/main" id="{66B52139-45CD-4883-962C-8B58CD26A6C3}"/>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24750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E330830-F074-417B-B120-745038C2D8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2EEC52E2-6C9D-4F48-9885-60AA29DED4E7}"/>
              </a:ext>
            </a:extLst>
          </p:cNvPr>
          <p:cNvSpPr>
            <a:spLocks noGrp="1"/>
          </p:cNvSpPr>
          <p:nvPr>
            <p:ph type="dt" sz="half" idx="10"/>
          </p:nvPr>
        </p:nvSpPr>
        <p:spPr/>
        <p:txBody>
          <a:bodyPr/>
          <a:lstStyle/>
          <a:p>
            <a:fld id="{76A4900D-B9D7-4B48-B03E-93C6BFA38FDB}" type="datetime1">
              <a:rPr lang="en-IN" smtClean="0"/>
              <a:t>05-08-2026</a:t>
            </a:fld>
            <a:endParaRPr lang="en-IN"/>
          </a:p>
        </p:txBody>
      </p:sp>
      <p:sp>
        <p:nvSpPr>
          <p:cNvPr id="4" name="Footer Placeholder 3">
            <a:extLst>
              <a:ext uri="{FF2B5EF4-FFF2-40B4-BE49-F238E27FC236}">
                <a16:creationId xmlns="" xmlns:a16="http://schemas.microsoft.com/office/drawing/2014/main" id="{136F0182-AF02-46DC-A005-32A72DB49D74}"/>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Slide Number Placeholder 4">
            <a:extLst>
              <a:ext uri="{FF2B5EF4-FFF2-40B4-BE49-F238E27FC236}">
                <a16:creationId xmlns="" xmlns:a16="http://schemas.microsoft.com/office/drawing/2014/main" id="{BF89F1EB-8B71-439F-B1E9-6EA720C1B448}"/>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31062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5452A6E2-8CED-468E-B9C8-63EEF92A1ACC}"/>
              </a:ext>
            </a:extLst>
          </p:cNvPr>
          <p:cNvSpPr>
            <a:spLocks noGrp="1"/>
          </p:cNvSpPr>
          <p:nvPr>
            <p:ph type="dt" sz="half" idx="10"/>
          </p:nvPr>
        </p:nvSpPr>
        <p:spPr/>
        <p:txBody>
          <a:bodyPr/>
          <a:lstStyle/>
          <a:p>
            <a:fld id="{999DD085-2496-430D-A475-FB3919DB8C97}" type="datetime1">
              <a:rPr lang="en-IN" smtClean="0"/>
              <a:t>05-08-2026</a:t>
            </a:fld>
            <a:endParaRPr lang="en-IN"/>
          </a:p>
        </p:txBody>
      </p:sp>
      <p:sp>
        <p:nvSpPr>
          <p:cNvPr id="3" name="Footer Placeholder 2">
            <a:extLst>
              <a:ext uri="{FF2B5EF4-FFF2-40B4-BE49-F238E27FC236}">
                <a16:creationId xmlns="" xmlns:a16="http://schemas.microsoft.com/office/drawing/2014/main" id="{BADDDBB6-47BF-4BE7-97E4-AB044897F59E}"/>
              </a:ext>
            </a:extLst>
          </p:cNvPr>
          <p:cNvSpPr>
            <a:spLocks noGrp="1"/>
          </p:cNvSpPr>
          <p:nvPr>
            <p:ph type="ftr" sz="quarter" idx="11"/>
          </p:nvPr>
        </p:nvSpPr>
        <p:spPr/>
        <p:txBody>
          <a:bodyPr/>
          <a:lstStyle/>
          <a:p>
            <a:r>
              <a:rPr lang="en-US"/>
              <a:t>Rajalakshmi Engineering College,Department of Cyber Security</a:t>
            </a:r>
            <a:endParaRPr lang="en-IN"/>
          </a:p>
        </p:txBody>
      </p:sp>
      <p:sp>
        <p:nvSpPr>
          <p:cNvPr id="4" name="Slide Number Placeholder 3">
            <a:extLst>
              <a:ext uri="{FF2B5EF4-FFF2-40B4-BE49-F238E27FC236}">
                <a16:creationId xmlns="" xmlns:a16="http://schemas.microsoft.com/office/drawing/2014/main" id="{7C40F90C-24D0-4C65-99B4-EADB86BE3DC0}"/>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167103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3465C33-D77F-42B7-969F-DE257926CF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D0398D13-72C5-42CB-BDE1-8AA6B32DD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8435EF6E-114D-425F-BB1A-C351641173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04418FDF-36DE-48DA-886F-421C220369FE}"/>
              </a:ext>
            </a:extLst>
          </p:cNvPr>
          <p:cNvSpPr>
            <a:spLocks noGrp="1"/>
          </p:cNvSpPr>
          <p:nvPr>
            <p:ph type="dt" sz="half" idx="10"/>
          </p:nvPr>
        </p:nvSpPr>
        <p:spPr/>
        <p:txBody>
          <a:bodyPr/>
          <a:lstStyle/>
          <a:p>
            <a:fld id="{76D46D8D-D6A6-4D95-BF85-9EF8F0710FA7}" type="datetime1">
              <a:rPr lang="en-IN" smtClean="0"/>
              <a:t>05-08-2026</a:t>
            </a:fld>
            <a:endParaRPr lang="en-IN"/>
          </a:p>
        </p:txBody>
      </p:sp>
      <p:sp>
        <p:nvSpPr>
          <p:cNvPr id="6" name="Footer Placeholder 5">
            <a:extLst>
              <a:ext uri="{FF2B5EF4-FFF2-40B4-BE49-F238E27FC236}">
                <a16:creationId xmlns="" xmlns:a16="http://schemas.microsoft.com/office/drawing/2014/main" id="{D8F1A6E3-D660-40AD-AC51-1F8805A5344F}"/>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 xmlns:a16="http://schemas.microsoft.com/office/drawing/2014/main" id="{2F190E82-A75D-48B1-B3E6-FF48ADF8056C}"/>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046704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94577C-5B3A-48AD-9B45-4A9C9A23ED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0830F3EF-BF57-46A6-9EB6-2DA43D25D7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3645DFA0-E5C8-4DDF-B283-4A2DD170A3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 xmlns:a16="http://schemas.microsoft.com/office/drawing/2014/main" id="{4BEA8042-4719-4615-8878-7A26662FBAB6}"/>
              </a:ext>
            </a:extLst>
          </p:cNvPr>
          <p:cNvSpPr>
            <a:spLocks noGrp="1"/>
          </p:cNvSpPr>
          <p:nvPr>
            <p:ph type="dt" sz="half" idx="10"/>
          </p:nvPr>
        </p:nvSpPr>
        <p:spPr/>
        <p:txBody>
          <a:bodyPr/>
          <a:lstStyle/>
          <a:p>
            <a:fld id="{08C03A52-04AE-48F7-9FCF-E17B2D2BA4E4}" type="datetime1">
              <a:rPr lang="en-IN" smtClean="0"/>
              <a:t>05-08-2026</a:t>
            </a:fld>
            <a:endParaRPr lang="en-IN"/>
          </a:p>
        </p:txBody>
      </p:sp>
      <p:sp>
        <p:nvSpPr>
          <p:cNvPr id="6" name="Footer Placeholder 5">
            <a:extLst>
              <a:ext uri="{FF2B5EF4-FFF2-40B4-BE49-F238E27FC236}">
                <a16:creationId xmlns="" xmlns:a16="http://schemas.microsoft.com/office/drawing/2014/main" id="{379B10D6-FDCC-4E80-9116-42BC543C5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Slide Number Placeholder 6">
            <a:extLst>
              <a:ext uri="{FF2B5EF4-FFF2-40B4-BE49-F238E27FC236}">
                <a16:creationId xmlns="" xmlns:a16="http://schemas.microsoft.com/office/drawing/2014/main" id="{7ECE45E7-2218-4691-9448-44DD3A1AACD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1422287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C66F59C-24A2-4159-9380-F6AAEA13E3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12AC032-FA02-45A1-B799-75A08E88843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77449FC9-D5D3-4E4A-9286-9E96B8147DBC}"/>
              </a:ext>
            </a:extLst>
          </p:cNvPr>
          <p:cNvSpPr>
            <a:spLocks noGrp="1"/>
          </p:cNvSpPr>
          <p:nvPr>
            <p:ph type="dt" sz="half" idx="10"/>
          </p:nvPr>
        </p:nvSpPr>
        <p:spPr/>
        <p:txBody>
          <a:bodyPr/>
          <a:lstStyle/>
          <a:p>
            <a:fld id="{A40E1855-FF8B-4A8F-B974-476D0BEFE359}" type="datetime1">
              <a:rPr lang="en-IN" smtClean="0"/>
              <a:t>05-08-2026</a:t>
            </a:fld>
            <a:endParaRPr lang="en-IN"/>
          </a:p>
        </p:txBody>
      </p:sp>
      <p:sp>
        <p:nvSpPr>
          <p:cNvPr id="5" name="Footer Placeholder 4">
            <a:extLst>
              <a:ext uri="{FF2B5EF4-FFF2-40B4-BE49-F238E27FC236}">
                <a16:creationId xmlns="" xmlns:a16="http://schemas.microsoft.com/office/drawing/2014/main" id="{B189B5AB-659C-41B0-9073-34826E6298BA}"/>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 xmlns:a16="http://schemas.microsoft.com/office/drawing/2014/main" id="{028DCFD4-462A-4C50-9A15-A34E5BAD4101}"/>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2753087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7B6CEE7-4472-4220-ABE7-624EBBAB35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AFBCA2D1-1973-4733-9AC1-AA8B41575B8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7A8E509-CC9E-46C7-BCB4-B4C77706FE67}"/>
              </a:ext>
            </a:extLst>
          </p:cNvPr>
          <p:cNvSpPr>
            <a:spLocks noGrp="1"/>
          </p:cNvSpPr>
          <p:nvPr>
            <p:ph type="dt" sz="half" idx="10"/>
          </p:nvPr>
        </p:nvSpPr>
        <p:spPr/>
        <p:txBody>
          <a:bodyPr/>
          <a:lstStyle/>
          <a:p>
            <a:fld id="{29F94AA9-A825-4631-9385-0F96794CA13F}" type="datetime1">
              <a:rPr lang="en-IN" smtClean="0"/>
              <a:t>05-08-2026</a:t>
            </a:fld>
            <a:endParaRPr lang="en-IN"/>
          </a:p>
        </p:txBody>
      </p:sp>
      <p:sp>
        <p:nvSpPr>
          <p:cNvPr id="5" name="Footer Placeholder 4">
            <a:extLst>
              <a:ext uri="{FF2B5EF4-FFF2-40B4-BE49-F238E27FC236}">
                <a16:creationId xmlns="" xmlns:a16="http://schemas.microsoft.com/office/drawing/2014/main" id="{366ADC3E-64E9-4052-AAAA-0A77E649D2E6}"/>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Slide Number Placeholder 5">
            <a:extLst>
              <a:ext uri="{FF2B5EF4-FFF2-40B4-BE49-F238E27FC236}">
                <a16:creationId xmlns="" xmlns:a16="http://schemas.microsoft.com/office/drawing/2014/main" id="{37B93A4B-8F28-4558-9932-5AEBAE565672}"/>
              </a:ext>
            </a:extLst>
          </p:cNvPr>
          <p:cNvSpPr>
            <a:spLocks noGrp="1"/>
          </p:cNvSpPr>
          <p:nvPr>
            <p:ph type="sldNum" sz="quarter" idx="12"/>
          </p:nvPr>
        </p:nvSpPr>
        <p:spPr/>
        <p:txBody>
          <a:bodyPr/>
          <a:lstStyle/>
          <a:p>
            <a:fld id="{FEACF31F-072A-420B-BD3B-3E62C5546025}" type="slidenum">
              <a:rPr lang="en-IN" smtClean="0"/>
              <a:t>‹#›</a:t>
            </a:fld>
            <a:endParaRPr lang="en-IN"/>
          </a:p>
        </p:txBody>
      </p:sp>
    </p:spTree>
    <p:extLst>
      <p:ext uri="{BB962C8B-B14F-4D97-AF65-F5344CB8AC3E}">
        <p14:creationId xmlns:p14="http://schemas.microsoft.com/office/powerpoint/2010/main" val="3924892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DB161322-C13F-4F32-A9C2-A66C573C5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4044B022-D55F-4115-A03E-92A7A8351C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5B1FBDE-AF6F-4F87-97D2-A1D19B658A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DD9C9-F760-491D-BEB2-C9719B2DAA72}" type="datetime1">
              <a:rPr lang="en-IN" smtClean="0"/>
              <a:t>05-08-2026</a:t>
            </a:fld>
            <a:endParaRPr lang="en-IN"/>
          </a:p>
        </p:txBody>
      </p:sp>
      <p:sp>
        <p:nvSpPr>
          <p:cNvPr id="5" name="Footer Placeholder 4">
            <a:extLst>
              <a:ext uri="{FF2B5EF4-FFF2-40B4-BE49-F238E27FC236}">
                <a16:creationId xmlns="" xmlns:a16="http://schemas.microsoft.com/office/drawing/2014/main" id="{3105F895-F6B3-49E8-AE71-CA9D6A533B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Rajalakshmi Engineering College,Department of Cyber Security</a:t>
            </a:r>
            <a:endParaRPr lang="en-IN"/>
          </a:p>
        </p:txBody>
      </p:sp>
      <p:sp>
        <p:nvSpPr>
          <p:cNvPr id="6" name="Slide Number Placeholder 5">
            <a:extLst>
              <a:ext uri="{FF2B5EF4-FFF2-40B4-BE49-F238E27FC236}">
                <a16:creationId xmlns="" xmlns:a16="http://schemas.microsoft.com/office/drawing/2014/main" id="{EE01C5C0-3DE6-438F-852E-4102D3E141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CF31F-072A-420B-BD3B-3E62C5546025}" type="slidenum">
              <a:rPr lang="en-IN" smtClean="0"/>
              <a:t>‹#›</a:t>
            </a:fld>
            <a:endParaRPr lang="en-IN"/>
          </a:p>
        </p:txBody>
      </p:sp>
    </p:spTree>
    <p:extLst>
      <p:ext uri="{BB962C8B-B14F-4D97-AF65-F5344CB8AC3E}">
        <p14:creationId xmlns:p14="http://schemas.microsoft.com/office/powerpoint/2010/main" val="37350613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owasp.org/" TargetMode="External"/><Relationship Id="rId2" Type="http://schemas.openxmlformats.org/officeDocument/2006/relationships/hyperlink" Target="https://www.nist.gov/"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 xmlns:a16="http://schemas.microsoft.com/office/drawing/2014/main" id="{B5C75A04-8A80-4B12-82DD-FB4D79DA72B3}"/>
              </a:ext>
            </a:extLst>
          </p:cNvPr>
          <p:cNvPicPr/>
          <p:nvPr/>
        </p:nvPicPr>
        <p:blipFill>
          <a:blip r:embed="rId2"/>
          <a:stretch/>
        </p:blipFill>
        <p:spPr>
          <a:xfrm>
            <a:off x="4305720" y="497541"/>
            <a:ext cx="3580560" cy="1155960"/>
          </a:xfrm>
          <a:prstGeom prst="rect">
            <a:avLst/>
          </a:prstGeom>
          <a:ln w="0">
            <a:noFill/>
          </a:ln>
        </p:spPr>
      </p:pic>
      <p:sp>
        <p:nvSpPr>
          <p:cNvPr id="13" name="PlaceHolder 1">
            <a:extLst>
              <a:ext uri="{FF2B5EF4-FFF2-40B4-BE49-F238E27FC236}">
                <a16:creationId xmlns="" xmlns:a16="http://schemas.microsoft.com/office/drawing/2014/main" id="{06BEF5B7-F160-4818-BC4E-3751DDE221D5}"/>
              </a:ext>
            </a:extLst>
          </p:cNvPr>
          <p:cNvSpPr txBox="1">
            <a:spLocks/>
          </p:cNvSpPr>
          <p:nvPr/>
        </p:nvSpPr>
        <p:spPr>
          <a:xfrm>
            <a:off x="1488141" y="1653501"/>
            <a:ext cx="9601199" cy="39315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lang="en-US" sz="3200" spc="-1" dirty="0">
                <a:solidFill>
                  <a:schemeClr val="dk1"/>
                </a:solidFill>
                <a:latin typeface="Calibri"/>
              </a:rPr>
              <a:t>              </a:t>
            </a:r>
            <a:r>
              <a:rPr lang="en-US" sz="4000" spc="-1" dirty="0">
                <a:solidFill>
                  <a:schemeClr val="dk1"/>
                </a:solidFill>
                <a:latin typeface="Times New Roman"/>
              </a:rPr>
              <a:t>Department of Cyber Security</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2026-2027- Odd Semester</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III Year </a:t>
            </a:r>
          </a:p>
          <a:p>
            <a:pPr indent="0">
              <a:lnSpc>
                <a:spcPct val="100000"/>
              </a:lnSpc>
              <a:spcBef>
                <a:spcPts val="641"/>
              </a:spcBef>
              <a:buNone/>
              <a:tabLst>
                <a:tab pos="0" algn="l"/>
              </a:tabLst>
            </a:pPr>
            <a:r>
              <a:rPr lang="en-US" b="1" dirty="0"/>
              <a:t>          CS23533-FOUNDATIONS OF ARTIFICIAL INTELLIGENCE</a:t>
            </a:r>
            <a:endParaRPr lang="en-IN" sz="4000" spc="-1" dirty="0">
              <a:solidFill>
                <a:srgbClr val="000000"/>
              </a:solidFill>
              <a:latin typeface="Arial"/>
            </a:endParaRPr>
          </a:p>
          <a:p>
            <a:pPr indent="0">
              <a:lnSpc>
                <a:spcPct val="100000"/>
              </a:lnSpc>
              <a:spcBef>
                <a:spcPts val="641"/>
              </a:spcBef>
              <a:buFont typeface="Arial" panose="020B0604020202020204" pitchFamily="34" charset="0"/>
              <a:buNone/>
              <a:tabLst>
                <a:tab pos="0" algn="l"/>
              </a:tabLst>
            </a:pPr>
            <a:r>
              <a:rPr lang="en-US" sz="4000" spc="-1" dirty="0">
                <a:solidFill>
                  <a:schemeClr val="dk1"/>
                </a:solidFill>
                <a:latin typeface="Times New Roman"/>
              </a:rPr>
              <a:t>              Zeroth Review – </a:t>
            </a:r>
            <a:r>
              <a:rPr lang="en-US" sz="4000" spc="-1" dirty="0" smtClean="0">
                <a:solidFill>
                  <a:schemeClr val="dk1"/>
                </a:solidFill>
                <a:latin typeface="Times New Roman"/>
              </a:rPr>
              <a:t>29.07.2026</a:t>
            </a:r>
            <a:endParaRPr lang="en-IN" sz="4000" spc="-1" dirty="0">
              <a:solidFill>
                <a:srgbClr val="000000"/>
              </a:solidFill>
              <a:latin typeface="Arial"/>
            </a:endParaRPr>
          </a:p>
        </p:txBody>
      </p:sp>
      <p:sp>
        <p:nvSpPr>
          <p:cNvPr id="14" name="Footer Placeholder 13">
            <a:extLst>
              <a:ext uri="{FF2B5EF4-FFF2-40B4-BE49-F238E27FC236}">
                <a16:creationId xmlns="" xmlns:a16="http://schemas.microsoft.com/office/drawing/2014/main" id="{9D81229B-0330-4B71-AFEC-B3C206A7C81E}"/>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22594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Home | Rajalakshmi Engineering College (REC)">
            <a:extLst>
              <a:ext uri="{FF2B5EF4-FFF2-40B4-BE49-F238E27FC236}">
                <a16:creationId xmlns="" xmlns:a16="http://schemas.microsoft.com/office/drawing/2014/main" id="{B5C75A04-8A80-4B12-82DD-FB4D79DA72B3}"/>
              </a:ext>
            </a:extLst>
          </p:cNvPr>
          <p:cNvPicPr/>
          <p:nvPr/>
        </p:nvPicPr>
        <p:blipFill>
          <a:blip r:embed="rId2"/>
          <a:stretch/>
        </p:blipFill>
        <p:spPr>
          <a:xfrm>
            <a:off x="3030071" y="497541"/>
            <a:ext cx="4856209" cy="1155960"/>
          </a:xfrm>
          <a:prstGeom prst="rect">
            <a:avLst/>
          </a:prstGeom>
          <a:ln w="0">
            <a:noFill/>
          </a:ln>
        </p:spPr>
      </p:pic>
      <p:sp>
        <p:nvSpPr>
          <p:cNvPr id="13" name="PlaceHolder 1">
            <a:extLst>
              <a:ext uri="{FF2B5EF4-FFF2-40B4-BE49-F238E27FC236}">
                <a16:creationId xmlns="" xmlns:a16="http://schemas.microsoft.com/office/drawing/2014/main" id="{06BEF5B7-F160-4818-BC4E-3751DDE221D5}"/>
              </a:ext>
            </a:extLst>
          </p:cNvPr>
          <p:cNvSpPr txBox="1">
            <a:spLocks/>
          </p:cNvSpPr>
          <p:nvPr/>
        </p:nvSpPr>
        <p:spPr>
          <a:xfrm>
            <a:off x="1295400" y="1653501"/>
            <a:ext cx="9601199" cy="177549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641"/>
              </a:spcBef>
              <a:buFont typeface="Arial" panose="020B0604020202020204" pitchFamily="34" charset="0"/>
              <a:buNone/>
              <a:tabLst>
                <a:tab pos="0" algn="l"/>
              </a:tabLst>
            </a:pPr>
            <a:r>
              <a:rPr lang="en-US" sz="3200" spc="-1" dirty="0">
                <a:solidFill>
                  <a:schemeClr val="dk1"/>
                </a:solidFill>
                <a:latin typeface="Calibri"/>
              </a:rPr>
              <a:t>                                 </a:t>
            </a:r>
          </a:p>
          <a:p>
            <a:pPr indent="0">
              <a:lnSpc>
                <a:spcPct val="100000"/>
              </a:lnSpc>
              <a:spcBef>
                <a:spcPts val="641"/>
              </a:spcBef>
              <a:buFont typeface="Arial" panose="020B0604020202020204" pitchFamily="34" charset="0"/>
              <a:buNone/>
              <a:tabLst>
                <a:tab pos="0" algn="l"/>
              </a:tabLst>
            </a:pPr>
            <a:r>
              <a:rPr lang="en-US" sz="3200" b="1" spc="-1" dirty="0">
                <a:solidFill>
                  <a:schemeClr val="dk1"/>
                </a:solidFill>
                <a:latin typeface="Calibri"/>
              </a:rPr>
              <a:t>			         PROJECT TITLE</a:t>
            </a:r>
            <a:endParaRPr lang="en-IN" sz="4000" b="1" spc="-1" dirty="0">
              <a:solidFill>
                <a:srgbClr val="000000"/>
              </a:solidFill>
              <a:latin typeface="Arial"/>
            </a:endParaRPr>
          </a:p>
        </p:txBody>
      </p:sp>
      <p:sp>
        <p:nvSpPr>
          <p:cNvPr id="4" name="PlaceHolder 2">
            <a:extLst>
              <a:ext uri="{FF2B5EF4-FFF2-40B4-BE49-F238E27FC236}">
                <a16:creationId xmlns="" xmlns:a16="http://schemas.microsoft.com/office/drawing/2014/main" id="{C32D6708-F773-46E7-9E94-72075E88B5CC}"/>
              </a:ext>
            </a:extLst>
          </p:cNvPr>
          <p:cNvSpPr txBox="1">
            <a:spLocks/>
          </p:cNvSpPr>
          <p:nvPr/>
        </p:nvSpPr>
        <p:spPr>
          <a:xfrm>
            <a:off x="1595718" y="3278879"/>
            <a:ext cx="4611118" cy="1925619"/>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00000"/>
              </a:lnSpc>
              <a:spcBef>
                <a:spcPts val="400"/>
              </a:spcBef>
              <a:buFont typeface="Arial" panose="020B0604020202020204" pitchFamily="34" charset="0"/>
              <a:buNone/>
              <a:tabLst>
                <a:tab pos="0" algn="l"/>
              </a:tabLst>
            </a:pPr>
            <a:r>
              <a:rPr lang="en-US" sz="2000" b="1" spc="-1" dirty="0">
                <a:solidFill>
                  <a:schemeClr val="dk1"/>
                </a:solidFill>
                <a:latin typeface="Times New Roman"/>
              </a:rPr>
              <a:t>Batch Members :</a:t>
            </a:r>
          </a:p>
          <a:p>
            <a:pPr indent="0">
              <a:lnSpc>
                <a:spcPct val="100000"/>
              </a:lnSpc>
              <a:spcBef>
                <a:spcPts val="400"/>
              </a:spcBef>
              <a:buFont typeface="Arial" panose="020B0604020202020204" pitchFamily="34" charset="0"/>
              <a:buNone/>
              <a:tabLst>
                <a:tab pos="0" algn="l"/>
              </a:tabLst>
            </a:pPr>
            <a:r>
              <a:rPr lang="en-US" sz="2000" spc="-1" dirty="0" smtClean="0">
                <a:solidFill>
                  <a:schemeClr val="dk1"/>
                </a:solidFill>
                <a:latin typeface="Times New Roman"/>
              </a:rPr>
              <a:t>1.Mohamed Salman </a:t>
            </a:r>
            <a:r>
              <a:rPr lang="en-US" sz="2000" spc="-1" dirty="0" err="1" smtClean="0">
                <a:solidFill>
                  <a:schemeClr val="dk1"/>
                </a:solidFill>
                <a:latin typeface="Times New Roman"/>
              </a:rPr>
              <a:t>Faris</a:t>
            </a:r>
            <a:r>
              <a:rPr lang="en-US" sz="2000" spc="-1" dirty="0" smtClean="0">
                <a:solidFill>
                  <a:schemeClr val="dk1"/>
                </a:solidFill>
                <a:latin typeface="Times New Roman"/>
              </a:rPr>
              <a:t>: 241901055</a:t>
            </a:r>
            <a:endParaRPr lang="en-US" sz="2000" spc="-1" dirty="0">
              <a:solidFill>
                <a:schemeClr val="dk1"/>
              </a:solidFill>
              <a:latin typeface="Times New Roman"/>
            </a:endParaRPr>
          </a:p>
          <a:p>
            <a:pPr indent="0">
              <a:lnSpc>
                <a:spcPct val="100000"/>
              </a:lnSpc>
              <a:spcBef>
                <a:spcPts val="400"/>
              </a:spcBef>
              <a:buFont typeface="Arial" panose="020B0604020202020204" pitchFamily="34" charset="0"/>
              <a:buNone/>
              <a:tabLst>
                <a:tab pos="0" algn="l"/>
              </a:tabLst>
            </a:pPr>
            <a:r>
              <a:rPr lang="en-US" sz="2000" spc="-1" dirty="0" smtClean="0">
                <a:solidFill>
                  <a:schemeClr val="dk1"/>
                </a:solidFill>
                <a:latin typeface="Times New Roman"/>
              </a:rPr>
              <a:t>2.Kavya </a:t>
            </a:r>
            <a:r>
              <a:rPr lang="en-US" sz="2000" spc="-1" dirty="0" err="1" smtClean="0">
                <a:solidFill>
                  <a:schemeClr val="dk1"/>
                </a:solidFill>
                <a:latin typeface="Times New Roman"/>
              </a:rPr>
              <a:t>Sriram</a:t>
            </a:r>
            <a:r>
              <a:rPr lang="en-US" sz="2000" spc="-1" dirty="0" smtClean="0">
                <a:solidFill>
                  <a:schemeClr val="dk1"/>
                </a:solidFill>
                <a:latin typeface="Times New Roman"/>
              </a:rPr>
              <a:t>                 : 241901045</a:t>
            </a:r>
            <a:endParaRPr lang="en-IN" sz="2000" spc="-1" dirty="0">
              <a:solidFill>
                <a:srgbClr val="000000"/>
              </a:solidFill>
              <a:latin typeface="Arial"/>
            </a:endParaRPr>
          </a:p>
          <a:p>
            <a:pPr indent="0">
              <a:lnSpc>
                <a:spcPct val="100000"/>
              </a:lnSpc>
              <a:spcBef>
                <a:spcPts val="400"/>
              </a:spcBef>
              <a:buFont typeface="Arial" panose="020B0604020202020204" pitchFamily="34" charset="0"/>
              <a:buNone/>
              <a:tabLst>
                <a:tab pos="0" algn="l"/>
              </a:tabLst>
            </a:pPr>
            <a:endParaRPr lang="en-IN" sz="2000"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5" name="PlaceHolder 2">
            <a:extLst>
              <a:ext uri="{FF2B5EF4-FFF2-40B4-BE49-F238E27FC236}">
                <a16:creationId xmlns="" xmlns:a16="http://schemas.microsoft.com/office/drawing/2014/main" id="{34960059-C4DC-4A0F-82B7-476907EEDA90}"/>
              </a:ext>
            </a:extLst>
          </p:cNvPr>
          <p:cNvSpPr txBox="1">
            <a:spLocks/>
          </p:cNvSpPr>
          <p:nvPr/>
        </p:nvSpPr>
        <p:spPr>
          <a:xfrm>
            <a:off x="6329082" y="3278879"/>
            <a:ext cx="4086554" cy="1610711"/>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000" b="1" strike="noStrike" spc="-1" dirty="0">
                <a:solidFill>
                  <a:schemeClr val="dk1"/>
                </a:solidFill>
                <a:latin typeface="Times New Roman"/>
              </a:rPr>
              <a:t>Supervisor:</a:t>
            </a:r>
            <a:endParaRPr lang="en-IN" sz="2000" b="0" strike="noStrike" spc="-1" dirty="0">
              <a:solidFill>
                <a:srgbClr val="000000"/>
              </a:solidFill>
              <a:latin typeface="Arial"/>
            </a:endParaRPr>
          </a:p>
          <a:p>
            <a:pPr marL="0" indent="0">
              <a:lnSpc>
                <a:spcPct val="100000"/>
              </a:lnSpc>
              <a:buNone/>
            </a:pPr>
            <a:r>
              <a:rPr lang="en-US" sz="2000" strike="noStrike" spc="-1" dirty="0">
                <a:solidFill>
                  <a:schemeClr val="dk1"/>
                </a:solidFill>
                <a:latin typeface="Times New Roman"/>
              </a:rPr>
              <a:t>Dr</a:t>
            </a:r>
            <a:r>
              <a:rPr lang="en-US" sz="2000" strike="noStrike" spc="-1" dirty="0" smtClean="0">
                <a:solidFill>
                  <a:schemeClr val="dk1"/>
                </a:solidFill>
                <a:latin typeface="Times New Roman"/>
              </a:rPr>
              <a:t>. </a:t>
            </a:r>
            <a:r>
              <a:rPr lang="en-US" sz="2000" strike="noStrike" spc="-1" dirty="0" err="1" smtClean="0">
                <a:solidFill>
                  <a:schemeClr val="dk1"/>
                </a:solidFill>
                <a:latin typeface="Times New Roman"/>
              </a:rPr>
              <a:t>S.Bhuvana</a:t>
            </a:r>
            <a:endParaRPr lang="en-IN" sz="2000" strike="noStrike" spc="-1" dirty="0">
              <a:solidFill>
                <a:srgbClr val="000000"/>
              </a:solidFill>
              <a:latin typeface="Arial"/>
            </a:endParaRPr>
          </a:p>
          <a:p>
            <a:pPr marL="0" indent="0">
              <a:lnSpc>
                <a:spcPct val="100000"/>
              </a:lnSpc>
              <a:buNone/>
            </a:pPr>
            <a:r>
              <a:rPr lang="en-US" spc="-1" baseline="33000" dirty="0">
                <a:solidFill>
                  <a:schemeClr val="dk1"/>
                </a:solidFill>
                <a:latin typeface="Times New Roman"/>
              </a:rPr>
              <a:t>Assistant Professor[SG]</a:t>
            </a:r>
            <a:endParaRPr lang="en-IN" strike="noStrike" spc="-1" dirty="0">
              <a:solidFill>
                <a:srgbClr val="000000"/>
              </a:solidFill>
              <a:latin typeface="Arial"/>
            </a:endParaRPr>
          </a:p>
          <a:p>
            <a:pPr indent="0">
              <a:lnSpc>
                <a:spcPct val="100000"/>
              </a:lnSpc>
              <a:spcBef>
                <a:spcPts val="360"/>
              </a:spcBef>
              <a:buFont typeface="Arial" panose="020B0604020202020204" pitchFamily="34" charset="0"/>
              <a:buNone/>
              <a:tabLst>
                <a:tab pos="0" algn="l"/>
              </a:tabLst>
            </a:pPr>
            <a:endParaRPr lang="en-IN" sz="1800" spc="-1" dirty="0">
              <a:solidFill>
                <a:srgbClr val="000000"/>
              </a:solidFill>
              <a:latin typeface="Arial"/>
            </a:endParaRPr>
          </a:p>
        </p:txBody>
      </p:sp>
      <p:sp>
        <p:nvSpPr>
          <p:cNvPr id="2" name="Footer Placeholder 1">
            <a:extLst>
              <a:ext uri="{FF2B5EF4-FFF2-40B4-BE49-F238E27FC236}">
                <a16:creationId xmlns="" xmlns:a16="http://schemas.microsoft.com/office/drawing/2014/main" id="{B9EA50C1-7D90-44B1-A258-E5A0DCD6BCCE}"/>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898480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669FF9B-84EC-4676-8D8A-BE77AD168FCD}"/>
              </a:ext>
            </a:extLst>
          </p:cNvPr>
          <p:cNvSpPr>
            <a:spLocks noGrp="1"/>
          </p:cNvSpPr>
          <p:nvPr>
            <p:ph type="title"/>
          </p:nvPr>
        </p:nvSpPr>
        <p:spPr/>
        <p:txBody>
          <a:bodyPr/>
          <a:lstStyle/>
          <a:p>
            <a:pPr algn="ctr"/>
            <a:r>
              <a:rPr lang="en-US" b="1" spc="-1" dirty="0">
                <a:solidFill>
                  <a:schemeClr val="accent1">
                    <a:lumMod val="50000"/>
                  </a:schemeClr>
                </a:solidFill>
                <a:latin typeface="Times New Roman"/>
              </a:rPr>
              <a:t>OUTLINE</a:t>
            </a:r>
            <a:endParaRPr lang="en-IN" b="1" dirty="0">
              <a:solidFill>
                <a:schemeClr val="accent1">
                  <a:lumMod val="50000"/>
                </a:schemeClr>
              </a:solidFill>
            </a:endParaRPr>
          </a:p>
        </p:txBody>
      </p:sp>
      <p:sp>
        <p:nvSpPr>
          <p:cNvPr id="3" name="Content Placeholder 2">
            <a:extLst>
              <a:ext uri="{FF2B5EF4-FFF2-40B4-BE49-F238E27FC236}">
                <a16:creationId xmlns="" xmlns:a16="http://schemas.microsoft.com/office/drawing/2014/main" id="{DACBC5E5-D6BC-4856-A612-FD6448275CA9}"/>
              </a:ext>
            </a:extLst>
          </p:cNvPr>
          <p:cNvSpPr>
            <a:spLocks noGrp="1"/>
          </p:cNvSpPr>
          <p:nvPr>
            <p:ph idx="1"/>
          </p:nvPr>
        </p:nvSpPr>
        <p:spPr>
          <a:xfrm>
            <a:off x="918882" y="1771837"/>
            <a:ext cx="10515600" cy="4351338"/>
          </a:xfrm>
        </p:spPr>
        <p:txBody>
          <a:bodyPr>
            <a:normAutofit fontScale="77500" lnSpcReduction="20000"/>
          </a:bodyPr>
          <a:lstStyle/>
          <a:p>
            <a:pPr marL="343080" indent="-343080">
              <a:lnSpc>
                <a:spcPct val="150000"/>
              </a:lnSpc>
              <a:spcBef>
                <a:spcPts val="819"/>
              </a:spcBef>
              <a:buClr>
                <a:srgbClr val="000000"/>
              </a:buClr>
              <a:buFont typeface="Arial"/>
              <a:buChar char="•"/>
            </a:pPr>
            <a:r>
              <a:rPr lang="en-IN" spc="-1" dirty="0">
                <a:solidFill>
                  <a:schemeClr val="dk1"/>
                </a:solidFill>
                <a:latin typeface="Times New Roman"/>
              </a:rPr>
              <a:t>Abstract</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Objective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Literature Survey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Summary of Literature</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Proposed System &amp; Novelty</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Block Diagram</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US" spc="-1" dirty="0">
                <a:solidFill>
                  <a:schemeClr val="dk1"/>
                </a:solidFill>
                <a:latin typeface="Times New Roman"/>
              </a:rPr>
              <a:t>Hardware/Software requirements</a:t>
            </a:r>
            <a:endParaRPr lang="en-IN" spc="-1" dirty="0">
              <a:solidFill>
                <a:srgbClr val="000000"/>
              </a:solidFill>
              <a:latin typeface="Arial"/>
            </a:endParaRPr>
          </a:p>
          <a:p>
            <a:pPr marL="343080" indent="-343080">
              <a:lnSpc>
                <a:spcPct val="150000"/>
              </a:lnSpc>
              <a:spcBef>
                <a:spcPts val="819"/>
              </a:spcBef>
              <a:buClr>
                <a:srgbClr val="000000"/>
              </a:buClr>
              <a:buFont typeface="Arial"/>
              <a:buChar char="•"/>
            </a:pPr>
            <a:r>
              <a:rPr lang="en-IN" spc="-1" dirty="0">
                <a:solidFill>
                  <a:schemeClr val="dk1"/>
                </a:solidFill>
                <a:latin typeface="Times New Roman"/>
              </a:rPr>
              <a:t>References</a:t>
            </a:r>
            <a:endParaRPr lang="en-IN" spc="-1" dirty="0">
              <a:solidFill>
                <a:srgbClr val="000000"/>
              </a:solidFill>
              <a:latin typeface="Arial"/>
            </a:endParaRPr>
          </a:p>
          <a:p>
            <a:endParaRPr lang="en-IN" dirty="0"/>
          </a:p>
        </p:txBody>
      </p:sp>
      <p:sp>
        <p:nvSpPr>
          <p:cNvPr id="5" name="Footer Placeholder 4">
            <a:extLst>
              <a:ext uri="{FF2B5EF4-FFF2-40B4-BE49-F238E27FC236}">
                <a16:creationId xmlns="" xmlns:a16="http://schemas.microsoft.com/office/drawing/2014/main" id="{92766A6D-AFEB-431C-8C27-3D289E1F416E}"/>
              </a:ext>
            </a:extLst>
          </p:cNvPr>
          <p:cNvSpPr>
            <a:spLocks noGrp="1"/>
          </p:cNvSpPr>
          <p:nvPr>
            <p:ph type="ftr" sz="quarter" idx="11"/>
          </p:nvPr>
        </p:nvSpPr>
        <p:spPr>
          <a:xfrm>
            <a:off x="4038600" y="6356350"/>
            <a:ext cx="4114800" cy="365125"/>
          </a:xfrm>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25222237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140574-4D6E-453A-A5B1-E1B1A0126EB9}"/>
              </a:ext>
            </a:extLst>
          </p:cNvPr>
          <p:cNvSpPr>
            <a:spLocks noGrp="1"/>
          </p:cNvSpPr>
          <p:nvPr>
            <p:ph type="title"/>
          </p:nvPr>
        </p:nvSpPr>
        <p:spPr/>
        <p:txBody>
          <a:bodyPr/>
          <a:lstStyle/>
          <a:p>
            <a:pPr algn="ctr"/>
            <a:r>
              <a:rPr lang="en-US" b="1" dirty="0">
                <a:solidFill>
                  <a:schemeClr val="accent1">
                    <a:lumMod val="50000"/>
                  </a:schemeClr>
                </a:solidFill>
              </a:rPr>
              <a:t>ABSTRACT</a:t>
            </a:r>
            <a:endParaRPr lang="en-IN" b="1" dirty="0">
              <a:solidFill>
                <a:schemeClr val="accent1">
                  <a:lumMod val="50000"/>
                </a:schemeClr>
              </a:solidFill>
            </a:endParaRPr>
          </a:p>
        </p:txBody>
      </p:sp>
      <p:sp>
        <p:nvSpPr>
          <p:cNvPr id="3" name="Content Placeholder 2">
            <a:extLst>
              <a:ext uri="{FF2B5EF4-FFF2-40B4-BE49-F238E27FC236}">
                <a16:creationId xmlns="" xmlns:a16="http://schemas.microsoft.com/office/drawing/2014/main" id="{A2770EE2-8C3E-4EFA-8326-85AEA10ABEB2}"/>
              </a:ext>
            </a:extLst>
          </p:cNvPr>
          <p:cNvSpPr>
            <a:spLocks noGrp="1"/>
          </p:cNvSpPr>
          <p:nvPr>
            <p:ph idx="1"/>
          </p:nvPr>
        </p:nvSpPr>
        <p:spPr/>
        <p:txBody>
          <a:bodyPr>
            <a:noAutofit/>
          </a:bodyPr>
          <a:lstStyle/>
          <a:p>
            <a:pPr marL="0" indent="0" algn="just">
              <a:buNone/>
            </a:pPr>
            <a:r>
              <a:rPr lang="en-US" sz="2000" dirty="0">
                <a:cs typeface="Times New Roman" panose="02020603050405020304" pitchFamily="18" charset="0"/>
              </a:rPr>
              <a:t>The increasing volume of digital evidence in </a:t>
            </a:r>
            <a:r>
              <a:rPr lang="en-US" sz="2000" dirty="0" err="1">
                <a:cs typeface="Times New Roman" panose="02020603050405020304" pitchFamily="18" charset="0"/>
              </a:rPr>
              <a:t>cybersecurity</a:t>
            </a:r>
            <a:r>
              <a:rPr lang="en-US" sz="2000" dirty="0">
                <a:cs typeface="Times New Roman" panose="02020603050405020304" pitchFamily="18" charset="0"/>
              </a:rPr>
              <a:t> incidents makes manual forensic analysis time-consuming and challenging. This project proposes an </a:t>
            </a:r>
            <a:r>
              <a:rPr lang="en-US" sz="2000" b="1" dirty="0">
                <a:cs typeface="Times New Roman" panose="02020603050405020304" pitchFamily="18" charset="0"/>
              </a:rPr>
              <a:t>AI-based desktop application</a:t>
            </a:r>
            <a:r>
              <a:rPr lang="en-US" sz="2000" dirty="0">
                <a:cs typeface="Times New Roman" panose="02020603050405020304" pitchFamily="18" charset="0"/>
              </a:rPr>
              <a:t> that assists investigators in </a:t>
            </a:r>
            <a:r>
              <a:rPr lang="en-US" sz="2000" dirty="0" err="1">
                <a:cs typeface="Times New Roman" panose="02020603050405020304" pitchFamily="18" charset="0"/>
              </a:rPr>
              <a:t>analysing</a:t>
            </a:r>
            <a:r>
              <a:rPr lang="en-US" sz="2000" dirty="0">
                <a:cs typeface="Times New Roman" panose="02020603050405020304" pitchFamily="18" charset="0"/>
              </a:rPr>
              <a:t> digital evidence such as files, metadata, and archives. The system identifies suspicious characteristics such as hidden files, double extensions, recent modifications, and extension mismatches, while explaining why these findings may be significant. The core of the system is based on </a:t>
            </a:r>
            <a:r>
              <a:rPr lang="en-US" sz="2000" b="1" dirty="0">
                <a:cs typeface="Times New Roman" panose="02020603050405020304" pitchFamily="18" charset="0"/>
              </a:rPr>
              <a:t>Logical Reasoning</a:t>
            </a:r>
            <a:r>
              <a:rPr lang="en-US" sz="2000" dirty="0">
                <a:cs typeface="Times New Roman" panose="02020603050405020304" pitchFamily="18" charset="0"/>
              </a:rPr>
              <a:t>, using knowledge representation, forensic rules, and </a:t>
            </a:r>
            <a:r>
              <a:rPr lang="en-US" sz="2000" b="1" dirty="0">
                <a:cs typeface="Times New Roman" panose="02020603050405020304" pitchFamily="18" charset="0"/>
              </a:rPr>
              <a:t>forward-chaining inference</a:t>
            </a:r>
            <a:r>
              <a:rPr lang="en-US" sz="2000" dirty="0">
                <a:cs typeface="Times New Roman" panose="02020603050405020304" pitchFamily="18" charset="0"/>
              </a:rPr>
              <a:t> to derive conclusions from observed evidence. A heuristic-based </a:t>
            </a:r>
            <a:r>
              <a:rPr lang="en-US" sz="2000" b="1" dirty="0">
                <a:cs typeface="Times New Roman" panose="02020603050405020304" pitchFamily="18" charset="0"/>
              </a:rPr>
              <a:t>AI Risk Score (%)</a:t>
            </a:r>
            <a:r>
              <a:rPr lang="en-US" sz="2000" dirty="0">
                <a:cs typeface="Times New Roman" panose="02020603050405020304" pitchFamily="18" charset="0"/>
              </a:rPr>
              <a:t> is also generated to help </a:t>
            </a:r>
            <a:r>
              <a:rPr lang="en-US" sz="2000" dirty="0" err="1">
                <a:cs typeface="Times New Roman" panose="02020603050405020304" pitchFamily="18" charset="0"/>
              </a:rPr>
              <a:t>prioritise</a:t>
            </a:r>
            <a:r>
              <a:rPr lang="en-US" sz="2000" dirty="0">
                <a:cs typeface="Times New Roman" panose="02020603050405020304" pitchFamily="18" charset="0"/>
              </a:rPr>
              <a:t> evidence for further investigation. By combining automated evidence analysis with explainable logical reasoning, the proposed system aims to help investigators understand digital evidence more efficiently and make informed decisions during preliminary forensic investigations.</a:t>
            </a:r>
          </a:p>
          <a:p>
            <a:pPr marL="0" indent="0" algn="just">
              <a:buNone/>
            </a:pPr>
            <a:r>
              <a:rPr lang="en-US" sz="2000" b="1" dirty="0">
                <a:cs typeface="Times New Roman" panose="02020603050405020304" pitchFamily="18" charset="0"/>
              </a:rPr>
              <a:t>Keywords:</a:t>
            </a:r>
            <a:r>
              <a:rPr lang="en-US" sz="2000" dirty="0">
                <a:cs typeface="Times New Roman" panose="02020603050405020304" pitchFamily="18" charset="0"/>
              </a:rPr>
              <a:t> Digital Forensics, Explainable AI, Logical Reasoning, Knowledge Representation, Forward Chaining, Risk Scoring</a:t>
            </a:r>
          </a:p>
        </p:txBody>
      </p:sp>
      <p:sp>
        <p:nvSpPr>
          <p:cNvPr id="4" name="Footer Placeholder 3">
            <a:extLst>
              <a:ext uri="{FF2B5EF4-FFF2-40B4-BE49-F238E27FC236}">
                <a16:creationId xmlns="" xmlns:a16="http://schemas.microsoft.com/office/drawing/2014/main" id="{8C253352-E09F-4AB3-90E5-A8680AC6D6F3}"/>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4111137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45A73F-58BE-494C-9E37-463BBF53F79A}"/>
              </a:ext>
            </a:extLst>
          </p:cNvPr>
          <p:cNvSpPr>
            <a:spLocks noGrp="1"/>
          </p:cNvSpPr>
          <p:nvPr>
            <p:ph type="title"/>
          </p:nvPr>
        </p:nvSpPr>
        <p:spPr/>
        <p:txBody>
          <a:bodyPr/>
          <a:lstStyle/>
          <a:p>
            <a:pPr algn="ctr"/>
            <a:r>
              <a:rPr lang="en-US" b="1" dirty="0">
                <a:solidFill>
                  <a:schemeClr val="accent1">
                    <a:lumMod val="50000"/>
                  </a:schemeClr>
                </a:solidFill>
              </a:rPr>
              <a:t>OBJECTIVE</a:t>
            </a:r>
            <a:endParaRPr lang="en-IN" b="1" dirty="0">
              <a:solidFill>
                <a:schemeClr val="accent1">
                  <a:lumMod val="50000"/>
                </a:schemeClr>
              </a:solidFill>
            </a:endParaRPr>
          </a:p>
        </p:txBody>
      </p:sp>
      <p:sp>
        <p:nvSpPr>
          <p:cNvPr id="3" name="Content Placeholder 2">
            <a:extLst>
              <a:ext uri="{FF2B5EF4-FFF2-40B4-BE49-F238E27FC236}">
                <a16:creationId xmlns="" xmlns:a16="http://schemas.microsoft.com/office/drawing/2014/main" id="{CAFE6CE6-DDFD-4A02-805E-98888285608C}"/>
              </a:ext>
            </a:extLst>
          </p:cNvPr>
          <p:cNvSpPr>
            <a:spLocks noGrp="1"/>
          </p:cNvSpPr>
          <p:nvPr>
            <p:ph idx="1"/>
          </p:nvPr>
        </p:nvSpPr>
        <p:spPr/>
        <p:txBody>
          <a:bodyPr>
            <a:normAutofit/>
          </a:bodyPr>
          <a:lstStyle/>
          <a:p>
            <a:pPr marL="0" indent="0">
              <a:buNone/>
            </a:pPr>
            <a:r>
              <a:rPr lang="en-US" sz="2000" dirty="0"/>
              <a:t>The primary objective of this project is to design and develop an </a:t>
            </a:r>
            <a:r>
              <a:rPr lang="en-US" sz="2000" b="1" dirty="0"/>
              <a:t>AI-Powered Digital Forensics Investigation System</a:t>
            </a:r>
            <a:r>
              <a:rPr lang="en-US" sz="2000" dirty="0"/>
              <a:t> that assists in the analysis of digital evidence by automating the identification of suspicious files and activities. The system aims to apply Artificial Intelligence techniques such as heuristic analysis and rule-based reasoning to evaluate potential security threats, generate risk assessments, and provide intelligent recommendations. It also seeks to simplify the forensic investigation process through evidence classification, timeline analysis, and automated report generation, enabling efficient and reliable digital investigations.</a:t>
            </a:r>
            <a:endParaRPr lang="en-IN" sz="2000" dirty="0"/>
          </a:p>
        </p:txBody>
      </p:sp>
      <p:sp>
        <p:nvSpPr>
          <p:cNvPr id="4" name="Footer Placeholder 3">
            <a:extLst>
              <a:ext uri="{FF2B5EF4-FFF2-40B4-BE49-F238E27FC236}">
                <a16:creationId xmlns="" xmlns:a16="http://schemas.microsoft.com/office/drawing/2014/main" id="{18E4B311-0D66-420D-91AF-1DC9BBF4EC96}"/>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408131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4021B0-8A61-4C94-955E-EB6F2E038627}"/>
              </a:ext>
            </a:extLst>
          </p:cNvPr>
          <p:cNvSpPr>
            <a:spLocks noGrp="1"/>
          </p:cNvSpPr>
          <p:nvPr>
            <p:ph type="title"/>
          </p:nvPr>
        </p:nvSpPr>
        <p:spPr/>
        <p:txBody>
          <a:bodyPr/>
          <a:lstStyle/>
          <a:p>
            <a:pPr algn="ctr"/>
            <a:r>
              <a:rPr lang="en-IN" spc="-1" dirty="0">
                <a:solidFill>
                  <a:schemeClr val="accent1">
                    <a:lumMod val="50000"/>
                  </a:schemeClr>
                </a:solidFill>
                <a:latin typeface="Times New Roman"/>
              </a:rPr>
              <a:t>Literature Survey</a:t>
            </a:r>
            <a:endParaRPr lang="en-IN" dirty="0">
              <a:solidFill>
                <a:schemeClr val="accent1">
                  <a:lumMod val="50000"/>
                </a:schemeClr>
              </a:solidFill>
            </a:endParaRPr>
          </a:p>
        </p:txBody>
      </p:sp>
      <p:graphicFrame>
        <p:nvGraphicFramePr>
          <p:cNvPr id="4" name="Content Placeholder 3">
            <a:extLst>
              <a:ext uri="{FF2B5EF4-FFF2-40B4-BE49-F238E27FC236}">
                <a16:creationId xmlns="" xmlns:a16="http://schemas.microsoft.com/office/drawing/2014/main" id="{94AD0D87-7379-47F8-8088-D1CC07223467}"/>
              </a:ext>
            </a:extLst>
          </p:cNvPr>
          <p:cNvGraphicFramePr>
            <a:graphicFrameLocks noGrp="1"/>
          </p:cNvGraphicFramePr>
          <p:nvPr>
            <p:ph idx="1"/>
            <p:extLst>
              <p:ext uri="{D42A27DB-BD31-4B8C-83A1-F6EECF244321}">
                <p14:modId xmlns:p14="http://schemas.microsoft.com/office/powerpoint/2010/main" val="2332746719"/>
              </p:ext>
            </p:extLst>
          </p:nvPr>
        </p:nvGraphicFramePr>
        <p:xfrm>
          <a:off x="838200" y="1825625"/>
          <a:ext cx="10367684" cy="3317786"/>
        </p:xfrm>
        <a:graphic>
          <a:graphicData uri="http://schemas.openxmlformats.org/drawingml/2006/table">
            <a:tbl>
              <a:tblPr firstRow="1" bandRow="1">
                <a:tableStyleId>{5C22544A-7EE6-4342-B048-85BDC9FD1C3A}</a:tableStyleId>
              </a:tblPr>
              <a:tblGrid>
                <a:gridCol w="2591921">
                  <a:extLst>
                    <a:ext uri="{9D8B030D-6E8A-4147-A177-3AD203B41FA5}">
                      <a16:colId xmlns="" xmlns:a16="http://schemas.microsoft.com/office/drawing/2014/main" val="211445039"/>
                    </a:ext>
                  </a:extLst>
                </a:gridCol>
                <a:gridCol w="2591921">
                  <a:extLst>
                    <a:ext uri="{9D8B030D-6E8A-4147-A177-3AD203B41FA5}">
                      <a16:colId xmlns="" xmlns:a16="http://schemas.microsoft.com/office/drawing/2014/main" val="2379671661"/>
                    </a:ext>
                  </a:extLst>
                </a:gridCol>
                <a:gridCol w="2591921">
                  <a:extLst>
                    <a:ext uri="{9D8B030D-6E8A-4147-A177-3AD203B41FA5}">
                      <a16:colId xmlns="" xmlns:a16="http://schemas.microsoft.com/office/drawing/2014/main" val="1466785847"/>
                    </a:ext>
                  </a:extLst>
                </a:gridCol>
                <a:gridCol w="2591921">
                  <a:extLst>
                    <a:ext uri="{9D8B030D-6E8A-4147-A177-3AD203B41FA5}">
                      <a16:colId xmlns="" xmlns:a16="http://schemas.microsoft.com/office/drawing/2014/main" val="1579054086"/>
                    </a:ext>
                  </a:extLst>
                </a:gridCol>
              </a:tblGrid>
              <a:tr h="830029">
                <a:tc>
                  <a:txBody>
                    <a:bodyPr/>
                    <a:lstStyle/>
                    <a:p>
                      <a:pPr algn="ctr"/>
                      <a:r>
                        <a:rPr lang="en-US" sz="2800" dirty="0"/>
                        <a:t>TITLE</a:t>
                      </a:r>
                      <a:endParaRPr lang="en-IN" sz="2800" dirty="0"/>
                    </a:p>
                  </a:txBody>
                  <a:tcPr/>
                </a:tc>
                <a:tc>
                  <a:txBody>
                    <a:bodyPr/>
                    <a:lstStyle/>
                    <a:p>
                      <a:pPr algn="ctr"/>
                      <a:r>
                        <a:rPr lang="en-US" sz="2800" dirty="0"/>
                        <a:t>YEAR</a:t>
                      </a:r>
                      <a:endParaRPr lang="en-IN" sz="2800" dirty="0"/>
                    </a:p>
                  </a:txBody>
                  <a:tcPr/>
                </a:tc>
                <a:tc>
                  <a:txBody>
                    <a:bodyPr/>
                    <a:lstStyle/>
                    <a:p>
                      <a:pPr algn="ctr"/>
                      <a:r>
                        <a:rPr lang="en-US" sz="2800" dirty="0"/>
                        <a:t>AUTHOR</a:t>
                      </a:r>
                      <a:endParaRPr lang="en-IN" sz="2800" dirty="0"/>
                    </a:p>
                  </a:txBody>
                  <a:tcPr/>
                </a:tc>
                <a:tc>
                  <a:txBody>
                    <a:bodyPr/>
                    <a:lstStyle/>
                    <a:p>
                      <a:pPr algn="ctr"/>
                      <a:r>
                        <a:rPr lang="en-US" sz="2800" dirty="0"/>
                        <a:t>TECHNIQUE</a:t>
                      </a:r>
                      <a:endParaRPr lang="en-IN" sz="2800" dirty="0"/>
                    </a:p>
                  </a:txBody>
                  <a:tcPr/>
                </a:tc>
                <a:extLst>
                  <a:ext uri="{0D108BD9-81ED-4DB2-BD59-A6C34878D82A}">
                    <a16:rowId xmlns="" xmlns:a16="http://schemas.microsoft.com/office/drawing/2014/main" val="2693069419"/>
                  </a:ext>
                </a:extLst>
              </a:tr>
              <a:tr h="830029">
                <a:tc>
                  <a:txBody>
                    <a:bodyPr/>
                    <a:lstStyle/>
                    <a:p>
                      <a:r>
                        <a:rPr lang="en-IN" dirty="0" smtClean="0"/>
                        <a:t>Rule-Based Digital Forensics</a:t>
                      </a:r>
                      <a:endParaRPr lang="en-IN" dirty="0"/>
                    </a:p>
                  </a:txBody>
                  <a:tcPr/>
                </a:tc>
                <a:tc>
                  <a:txBody>
                    <a:bodyPr/>
                    <a:lstStyle/>
                    <a:p>
                      <a:pPr algn="ctr"/>
                      <a:r>
                        <a:rPr lang="en-IN" dirty="0" smtClean="0"/>
                        <a:t>2023</a:t>
                      </a:r>
                      <a:endParaRPr lang="en-IN" dirty="0"/>
                    </a:p>
                  </a:txBody>
                  <a:tcPr/>
                </a:tc>
                <a:tc>
                  <a:txBody>
                    <a:bodyPr/>
                    <a:lstStyle/>
                    <a:p>
                      <a:r>
                        <a:rPr lang="en-IN" dirty="0" smtClean="0"/>
                        <a:t>D. </a:t>
                      </a:r>
                      <a:r>
                        <a:rPr lang="en-IN" dirty="0" err="1" smtClean="0"/>
                        <a:t>Dunsin</a:t>
                      </a:r>
                      <a:r>
                        <a:rPr lang="en-IN" dirty="0" smtClean="0"/>
                        <a:t> et al.</a:t>
                      </a:r>
                      <a:endParaRPr lang="en-IN" dirty="0"/>
                    </a:p>
                  </a:txBody>
                  <a:tcPr/>
                </a:tc>
                <a:tc>
                  <a:txBody>
                    <a:bodyPr/>
                    <a:lstStyle/>
                    <a:p>
                      <a:r>
                        <a:rPr lang="en-IN" dirty="0" smtClean="0"/>
                        <a:t>Rule-Based System</a:t>
                      </a:r>
                      <a:endParaRPr lang="en-IN" dirty="0"/>
                    </a:p>
                  </a:txBody>
                  <a:tcPr/>
                </a:tc>
                <a:extLst>
                  <a:ext uri="{0D108BD9-81ED-4DB2-BD59-A6C34878D82A}">
                    <a16:rowId xmlns="" xmlns:a16="http://schemas.microsoft.com/office/drawing/2014/main" val="2101231002"/>
                  </a:ext>
                </a:extLst>
              </a:tr>
              <a:tr h="827699">
                <a:tc>
                  <a:txBody>
                    <a:bodyPr/>
                    <a:lstStyle/>
                    <a:p>
                      <a:r>
                        <a:rPr lang="en-US" dirty="0" smtClean="0"/>
                        <a:t>SIFT: Explainable AI in Cyber Forensics</a:t>
                      </a:r>
                      <a:endParaRPr lang="en-IN" dirty="0"/>
                    </a:p>
                  </a:txBody>
                  <a:tcPr/>
                </a:tc>
                <a:tc>
                  <a:txBody>
                    <a:bodyPr/>
                    <a:lstStyle/>
                    <a:p>
                      <a:pPr algn="ctr"/>
                      <a:r>
                        <a:rPr lang="en-IN" dirty="0" smtClean="0"/>
                        <a:t>2024</a:t>
                      </a:r>
                      <a:endParaRPr lang="en-IN" dirty="0"/>
                    </a:p>
                  </a:txBody>
                  <a:tcPr/>
                </a:tc>
                <a:tc>
                  <a:txBody>
                    <a:bodyPr/>
                    <a:lstStyle/>
                    <a:p>
                      <a:r>
                        <a:rPr lang="pt-BR" dirty="0" smtClean="0"/>
                        <a:t>S. Alam, A. K. Demir</a:t>
                      </a:r>
                      <a:endParaRPr lang="en-IN" dirty="0"/>
                    </a:p>
                  </a:txBody>
                  <a:tcPr/>
                </a:tc>
                <a:tc>
                  <a:txBody>
                    <a:bodyPr/>
                    <a:lstStyle/>
                    <a:p>
                      <a:r>
                        <a:rPr lang="en-US" dirty="0" smtClean="0"/>
                        <a:t>Explainable AI (XAI), Forensic Analysis</a:t>
                      </a:r>
                      <a:endParaRPr lang="en-IN" dirty="0"/>
                    </a:p>
                  </a:txBody>
                  <a:tcPr/>
                </a:tc>
                <a:extLst>
                  <a:ext uri="{0D108BD9-81ED-4DB2-BD59-A6C34878D82A}">
                    <a16:rowId xmlns="" xmlns:a16="http://schemas.microsoft.com/office/drawing/2014/main" val="3550106974"/>
                  </a:ext>
                </a:extLst>
              </a:tr>
              <a:tr h="830029">
                <a:tc>
                  <a:txBody>
                    <a:bodyPr/>
                    <a:lstStyle/>
                    <a:p>
                      <a:r>
                        <a:rPr lang="en-IN" dirty="0" smtClean="0"/>
                        <a:t>AI </a:t>
                      </a:r>
                      <a:r>
                        <a:rPr lang="en-IN" dirty="0" smtClean="0"/>
                        <a:t>in Digital Forensic Investigation</a:t>
                      </a:r>
                      <a:endParaRPr lang="en-IN" dirty="0"/>
                    </a:p>
                  </a:txBody>
                  <a:tcPr/>
                </a:tc>
                <a:tc>
                  <a:txBody>
                    <a:bodyPr/>
                    <a:lstStyle/>
                    <a:p>
                      <a:pPr algn="ctr"/>
                      <a:r>
                        <a:rPr lang="en-IN" dirty="0" smtClean="0"/>
                        <a:t>2024</a:t>
                      </a:r>
                      <a:endParaRPr lang="en-IN" dirty="0"/>
                    </a:p>
                  </a:txBody>
                  <a:tcPr/>
                </a:tc>
                <a:tc>
                  <a:txBody>
                    <a:bodyPr/>
                    <a:lstStyle/>
                    <a:p>
                      <a:r>
                        <a:rPr lang="en-IN" dirty="0" smtClean="0"/>
                        <a:t>D. D. et al.</a:t>
                      </a:r>
                      <a:endParaRPr lang="en-IN" dirty="0"/>
                    </a:p>
                  </a:txBody>
                  <a:tcPr/>
                </a:tc>
                <a:tc>
                  <a:txBody>
                    <a:bodyPr/>
                    <a:lstStyle/>
                    <a:p>
                      <a:r>
                        <a:rPr lang="en-IN" dirty="0" smtClean="0"/>
                        <a:t>Logical Reasoning, Forward Chaining</a:t>
                      </a:r>
                      <a:endParaRPr lang="en-IN" dirty="0"/>
                    </a:p>
                  </a:txBody>
                  <a:tcPr/>
                </a:tc>
                <a:extLst>
                  <a:ext uri="{0D108BD9-81ED-4DB2-BD59-A6C34878D82A}">
                    <a16:rowId xmlns="" xmlns:a16="http://schemas.microsoft.com/office/drawing/2014/main" val="2759713615"/>
                  </a:ext>
                </a:extLst>
              </a:tr>
            </a:tbl>
          </a:graphicData>
        </a:graphic>
      </p:graphicFrame>
      <p:sp>
        <p:nvSpPr>
          <p:cNvPr id="5" name="Footer Placeholder 4">
            <a:extLst>
              <a:ext uri="{FF2B5EF4-FFF2-40B4-BE49-F238E27FC236}">
                <a16:creationId xmlns="" xmlns:a16="http://schemas.microsoft.com/office/drawing/2014/main" id="{1B883424-B635-4198-810C-92D50E39AF1D}"/>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8084326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104C7A-54D8-44AC-8481-E79F9A0AB8BB}"/>
              </a:ext>
            </a:extLst>
          </p:cNvPr>
          <p:cNvSpPr>
            <a:spLocks noGrp="1"/>
          </p:cNvSpPr>
          <p:nvPr>
            <p:ph type="title"/>
          </p:nvPr>
        </p:nvSpPr>
        <p:spPr/>
        <p:txBody>
          <a:bodyPr/>
          <a:lstStyle/>
          <a:p>
            <a:pPr algn="ctr"/>
            <a:r>
              <a:rPr lang="en-US" b="1" dirty="0">
                <a:solidFill>
                  <a:schemeClr val="accent1">
                    <a:lumMod val="50000"/>
                  </a:schemeClr>
                </a:solidFill>
              </a:rPr>
              <a:t>EXISTING SYSTEM</a:t>
            </a:r>
            <a:endParaRPr lang="en-IN" b="1" dirty="0">
              <a:solidFill>
                <a:schemeClr val="accent1">
                  <a:lumMod val="50000"/>
                </a:schemeClr>
              </a:solidFill>
            </a:endParaRPr>
          </a:p>
        </p:txBody>
      </p:sp>
      <p:sp>
        <p:nvSpPr>
          <p:cNvPr id="4" name="Footer Placeholder 3">
            <a:extLst>
              <a:ext uri="{FF2B5EF4-FFF2-40B4-BE49-F238E27FC236}">
                <a16:creationId xmlns="" xmlns:a16="http://schemas.microsoft.com/office/drawing/2014/main" id="{9E2DA2FF-5972-46F4-AABC-25976B756840}"/>
              </a:ext>
            </a:extLst>
          </p:cNvPr>
          <p:cNvSpPr>
            <a:spLocks noGrp="1"/>
          </p:cNvSpPr>
          <p:nvPr>
            <p:ph type="ftr" sz="quarter" idx="11"/>
          </p:nvPr>
        </p:nvSpPr>
        <p:spPr/>
        <p:txBody>
          <a:bodyPr/>
          <a:lstStyle/>
          <a:p>
            <a:r>
              <a:rPr lang="en-US"/>
              <a:t>Rajalakshmi Engineering College,Department of Cyber Security</a:t>
            </a:r>
            <a:endParaRPr lang="en-IN"/>
          </a:p>
        </p:txBody>
      </p:sp>
      <p:sp>
        <p:nvSpPr>
          <p:cNvPr id="6" name="Rectangle 2"/>
          <p:cNvSpPr>
            <a:spLocks noGrp="1" noChangeArrowheads="1"/>
          </p:cNvSpPr>
          <p:nvPr>
            <p:ph idx="1"/>
          </p:nvPr>
        </p:nvSpPr>
        <p:spPr bwMode="auto">
          <a:xfrm>
            <a:off x="838200" y="1551565"/>
            <a:ext cx="9894055" cy="362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Manual analysis of digital evidence is time-consuming.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Most tools only detect suspicious files without explaining the reason.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Investigators must manually correlate evidence from multiple sources.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Existing systems provide limited risk assessment for evidence.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Lack of logical reasoning in forensic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dirty="0" smtClean="0">
                <a:ln>
                  <a:noFill/>
                </a:ln>
                <a:solidFill>
                  <a:schemeClr val="tx1"/>
                </a:solidFill>
                <a:effectLst/>
                <a:latin typeface="Arial" panose="020B0604020202020204" pitchFamily="34" charset="0"/>
              </a:rPr>
              <a:t>Requires experienced investigators for accurate interpretation. </a:t>
            </a:r>
          </a:p>
        </p:txBody>
      </p:sp>
    </p:spTree>
    <p:extLst>
      <p:ext uri="{BB962C8B-B14F-4D97-AF65-F5344CB8AC3E}">
        <p14:creationId xmlns:p14="http://schemas.microsoft.com/office/powerpoint/2010/main" val="226205830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B2F28B-DC07-4D8C-925B-B394652D503D}"/>
              </a:ext>
            </a:extLst>
          </p:cNvPr>
          <p:cNvSpPr>
            <a:spLocks noGrp="1"/>
          </p:cNvSpPr>
          <p:nvPr>
            <p:ph type="title"/>
          </p:nvPr>
        </p:nvSpPr>
        <p:spPr/>
        <p:txBody>
          <a:bodyPr/>
          <a:lstStyle/>
          <a:p>
            <a:pPr algn="ctr"/>
            <a:r>
              <a:rPr lang="en-US" b="1" dirty="0">
                <a:solidFill>
                  <a:schemeClr val="accent1">
                    <a:lumMod val="50000"/>
                  </a:schemeClr>
                </a:solidFill>
              </a:rPr>
              <a:t>PROPOSED SYSTEM</a:t>
            </a:r>
            <a:endParaRPr lang="en-IN" b="1" dirty="0">
              <a:solidFill>
                <a:schemeClr val="accent1">
                  <a:lumMod val="50000"/>
                </a:schemeClr>
              </a:solidFill>
            </a:endParaRPr>
          </a:p>
        </p:txBody>
      </p:sp>
      <p:sp>
        <p:nvSpPr>
          <p:cNvPr id="4" name="Footer Placeholder 3">
            <a:extLst>
              <a:ext uri="{FF2B5EF4-FFF2-40B4-BE49-F238E27FC236}">
                <a16:creationId xmlns="" xmlns:a16="http://schemas.microsoft.com/office/drawing/2014/main" id="{5255CFC0-E255-4A4E-B66F-160696CEF4E8}"/>
              </a:ext>
            </a:extLst>
          </p:cNvPr>
          <p:cNvSpPr>
            <a:spLocks noGrp="1"/>
          </p:cNvSpPr>
          <p:nvPr>
            <p:ph type="ftr" sz="quarter" idx="11"/>
          </p:nvPr>
        </p:nvSpPr>
        <p:spPr/>
        <p:txBody>
          <a:bodyPr/>
          <a:lstStyle/>
          <a:p>
            <a:r>
              <a:rPr lang="en-US"/>
              <a:t>Rajalakshmi Engineering College,Department of Cyber Security</a:t>
            </a:r>
            <a:endParaRPr lang="en-IN"/>
          </a:p>
        </p:txBody>
      </p:sp>
      <p:sp>
        <p:nvSpPr>
          <p:cNvPr id="5" name="Rectangle 1"/>
          <p:cNvSpPr>
            <a:spLocks noGrp="1" noChangeArrowheads="1"/>
          </p:cNvSpPr>
          <p:nvPr>
            <p:ph idx="1"/>
          </p:nvPr>
        </p:nvSpPr>
        <p:spPr bwMode="auto">
          <a:xfrm>
            <a:off x="838200" y="1459249"/>
            <a:ext cx="5963492" cy="390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smtClean="0">
                <a:ln>
                  <a:noFill/>
                </a:ln>
                <a:solidFill>
                  <a:schemeClr val="tx1"/>
                </a:solidFill>
                <a:effectLst/>
                <a:latin typeface="Arial" panose="020B0604020202020204" pitchFamily="34" charset="0"/>
              </a:rPr>
              <a:t>AI-based desktop application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smtClean="0">
                <a:ln>
                  <a:noFill/>
                </a:ln>
                <a:solidFill>
                  <a:schemeClr val="tx1"/>
                </a:solidFill>
                <a:effectLst/>
                <a:latin typeface="Arial" panose="020B0604020202020204" pitchFamily="34" charset="0"/>
              </a:rPr>
              <a:t>Explainable forensic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smtClean="0">
                <a:ln>
                  <a:noFill/>
                </a:ln>
                <a:solidFill>
                  <a:schemeClr val="tx1"/>
                </a:solidFill>
                <a:effectLst/>
                <a:latin typeface="Arial" panose="020B0604020202020204" pitchFamily="34" charset="0"/>
              </a:rPr>
              <a:t>Logical reasoning using forward chaining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smtClean="0">
                <a:ln>
                  <a:noFill/>
                </a:ln>
                <a:solidFill>
                  <a:schemeClr val="tx1"/>
                </a:solidFill>
                <a:effectLst/>
                <a:latin typeface="Arial" panose="020B0604020202020204" pitchFamily="34" charset="0"/>
              </a:rPr>
              <a:t>AI Risk Score (%)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smtClean="0">
                <a:ln>
                  <a:noFill/>
                </a:ln>
                <a:solidFill>
                  <a:schemeClr val="tx1"/>
                </a:solidFill>
                <a:effectLst/>
                <a:latin typeface="Arial" panose="020B0604020202020204" pitchFamily="34" charset="0"/>
              </a:rPr>
              <a:t>Evidence correlation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sz="2400" b="0" i="0" u="none" strike="noStrike" cap="none" normalizeH="0" baseline="0" smtClean="0">
                <a:ln>
                  <a:noFill/>
                </a:ln>
                <a:solidFill>
                  <a:schemeClr val="tx1"/>
                </a:solidFill>
                <a:effectLst/>
                <a:latin typeface="Arial" panose="020B0604020202020204" pitchFamily="34" charset="0"/>
              </a:rPr>
              <a:t>Automated investigation report </a:t>
            </a:r>
          </a:p>
        </p:txBody>
      </p:sp>
    </p:spTree>
    <p:extLst>
      <p:ext uri="{BB962C8B-B14F-4D97-AF65-F5344CB8AC3E}">
        <p14:creationId xmlns:p14="http://schemas.microsoft.com/office/powerpoint/2010/main" val="854561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8D9B68-97AE-4226-8DFD-BC9913C5FEFB}"/>
              </a:ext>
            </a:extLst>
          </p:cNvPr>
          <p:cNvSpPr>
            <a:spLocks noGrp="1"/>
          </p:cNvSpPr>
          <p:nvPr>
            <p:ph type="title"/>
          </p:nvPr>
        </p:nvSpPr>
        <p:spPr/>
        <p:txBody>
          <a:bodyPr/>
          <a:lstStyle/>
          <a:p>
            <a:pPr algn="ctr"/>
            <a:r>
              <a:rPr lang="en-US" spc="-1" dirty="0">
                <a:solidFill>
                  <a:schemeClr val="accent1">
                    <a:lumMod val="50000"/>
                  </a:schemeClr>
                </a:solidFill>
                <a:latin typeface="Times New Roman"/>
              </a:rPr>
              <a:t>Novelty in Proposed System</a:t>
            </a:r>
            <a:endParaRPr lang="en-IN" dirty="0">
              <a:solidFill>
                <a:schemeClr val="accent1">
                  <a:lumMod val="50000"/>
                </a:schemeClr>
              </a:solidFill>
            </a:endParaRPr>
          </a:p>
        </p:txBody>
      </p:sp>
      <p:sp>
        <p:nvSpPr>
          <p:cNvPr id="3" name="Content Placeholder 2">
            <a:extLst>
              <a:ext uri="{FF2B5EF4-FFF2-40B4-BE49-F238E27FC236}">
                <a16:creationId xmlns="" xmlns:a16="http://schemas.microsoft.com/office/drawing/2014/main" id="{37167FFA-CAE8-419B-8A9F-2AE13407034A}"/>
              </a:ext>
            </a:extLst>
          </p:cNvPr>
          <p:cNvSpPr>
            <a:spLocks noGrp="1"/>
          </p:cNvSpPr>
          <p:nvPr>
            <p:ph idx="1"/>
          </p:nvPr>
        </p:nvSpPr>
        <p:spPr/>
        <p:txBody>
          <a:bodyPr>
            <a:normAutofit/>
          </a:bodyPr>
          <a:lstStyle/>
          <a:p>
            <a:pPr marL="0" indent="0" algn="just">
              <a:buNone/>
            </a:pPr>
            <a:r>
              <a:rPr lang="en-US" dirty="0"/>
              <a:t>Most existing digital forensic systems focus on detecting suspicious files or </a:t>
            </a:r>
            <a:r>
              <a:rPr lang="en-US" dirty="0" err="1"/>
              <a:t>analysing</a:t>
            </a:r>
            <a:r>
              <a:rPr lang="en-US" dirty="0"/>
              <a:t> digital evidence. However, they provide limited explanation of why the evidence is suspicious and how the conclusion is derived. The proposed system addresses this by using knowledge representation and forward chaining to provide explainable forensic analysis, generate a risk score, and assist investigators in understanding the reasoning behind each finding</a:t>
            </a:r>
            <a:r>
              <a:rPr lang="en-US" sz="2400" dirty="0"/>
              <a:t>.</a:t>
            </a:r>
            <a:endParaRPr lang="en-IN" sz="2400" dirty="0"/>
          </a:p>
        </p:txBody>
      </p:sp>
      <p:sp>
        <p:nvSpPr>
          <p:cNvPr id="4" name="Footer Placeholder 3">
            <a:extLst>
              <a:ext uri="{FF2B5EF4-FFF2-40B4-BE49-F238E27FC236}">
                <a16:creationId xmlns="" xmlns:a16="http://schemas.microsoft.com/office/drawing/2014/main" id="{269D1BA5-F138-46F4-BDD0-6FDDA78C082C}"/>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5032441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B8572CB-375E-42B3-BAD3-3348ABA4F8F5}"/>
              </a:ext>
            </a:extLst>
          </p:cNvPr>
          <p:cNvSpPr>
            <a:spLocks noGrp="1"/>
          </p:cNvSpPr>
          <p:nvPr>
            <p:ph type="title"/>
          </p:nvPr>
        </p:nvSpPr>
        <p:spPr/>
        <p:txBody>
          <a:bodyPr/>
          <a:lstStyle/>
          <a:p>
            <a:pPr algn="ctr"/>
            <a:r>
              <a:rPr lang="en-US" b="1" dirty="0">
                <a:solidFill>
                  <a:schemeClr val="accent1">
                    <a:lumMod val="50000"/>
                  </a:schemeClr>
                </a:solidFill>
              </a:rPr>
              <a:t>BLOCK DIAGRAM(PROPOSED SYSTEM)</a:t>
            </a:r>
            <a:endParaRPr lang="en-IN" b="1" dirty="0">
              <a:solidFill>
                <a:schemeClr val="accent1">
                  <a:lumMod val="50000"/>
                </a:schemeClr>
              </a:solidFill>
            </a:endParaRPr>
          </a:p>
        </p:txBody>
      </p:sp>
      <p:sp>
        <p:nvSpPr>
          <p:cNvPr id="4" name="Footer Placeholder 3">
            <a:extLst>
              <a:ext uri="{FF2B5EF4-FFF2-40B4-BE49-F238E27FC236}">
                <a16:creationId xmlns="" xmlns:a16="http://schemas.microsoft.com/office/drawing/2014/main" id="{93D343F2-D48F-4E59-8D97-DA60556C44C7}"/>
              </a:ext>
            </a:extLst>
          </p:cNvPr>
          <p:cNvSpPr>
            <a:spLocks noGrp="1"/>
          </p:cNvSpPr>
          <p:nvPr>
            <p:ph type="ftr" sz="quarter" idx="11"/>
          </p:nvPr>
        </p:nvSpPr>
        <p:spPr/>
        <p:txBody>
          <a:bodyPr/>
          <a:lstStyle/>
          <a:p>
            <a:r>
              <a:rPr lang="en-US"/>
              <a:t>Rajalakshmi Engineering College,Department of Cyber Security</a:t>
            </a:r>
            <a:endParaRPr lang="en-IN"/>
          </a:p>
        </p:txBody>
      </p:sp>
      <p:sp>
        <p:nvSpPr>
          <p:cNvPr id="7" name="Rounded Rectangle 6"/>
          <p:cNvSpPr/>
          <p:nvPr/>
        </p:nvSpPr>
        <p:spPr>
          <a:xfrm>
            <a:off x="864756" y="1812193"/>
            <a:ext cx="2514600" cy="5080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INPUT EVIDENCE</a:t>
            </a:r>
            <a:endParaRPr lang="en-IN" sz="2400" dirty="0"/>
          </a:p>
        </p:txBody>
      </p:sp>
      <p:sp>
        <p:nvSpPr>
          <p:cNvPr id="10" name="Rounded Rectangle 9"/>
          <p:cNvSpPr/>
          <p:nvPr/>
        </p:nvSpPr>
        <p:spPr>
          <a:xfrm>
            <a:off x="856674" y="2685287"/>
            <a:ext cx="2514600" cy="5080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200" dirty="0" smtClean="0"/>
              <a:t>EVIDENCE ANALYSIS</a:t>
            </a:r>
            <a:endParaRPr lang="en-IN" sz="2200" dirty="0"/>
          </a:p>
        </p:txBody>
      </p:sp>
      <p:sp>
        <p:nvSpPr>
          <p:cNvPr id="11" name="Rounded Rectangle 10"/>
          <p:cNvSpPr/>
          <p:nvPr/>
        </p:nvSpPr>
        <p:spPr>
          <a:xfrm>
            <a:off x="856674" y="3626717"/>
            <a:ext cx="2514600" cy="5080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FACT EXTRACTION</a:t>
            </a:r>
            <a:endParaRPr lang="en-IN" sz="2400" dirty="0"/>
          </a:p>
        </p:txBody>
      </p:sp>
      <p:sp>
        <p:nvSpPr>
          <p:cNvPr id="13" name="Rounded Rectangle 12"/>
          <p:cNvSpPr/>
          <p:nvPr/>
        </p:nvSpPr>
        <p:spPr>
          <a:xfrm>
            <a:off x="864756" y="4539672"/>
            <a:ext cx="2514600" cy="489528"/>
          </a:xfrm>
          <a:prstGeom prst="roundRect">
            <a:avLst/>
          </a:prstGeom>
          <a:solidFill>
            <a:schemeClr val="accent2">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LOGICAL REASONING + FORWARD CHAINING</a:t>
            </a:r>
            <a:endParaRPr lang="en-IN" dirty="0"/>
          </a:p>
        </p:txBody>
      </p:sp>
      <p:sp>
        <p:nvSpPr>
          <p:cNvPr id="14" name="Rounded Rectangle 13"/>
          <p:cNvSpPr/>
          <p:nvPr/>
        </p:nvSpPr>
        <p:spPr>
          <a:xfrm>
            <a:off x="4381500" y="3549435"/>
            <a:ext cx="2514600" cy="572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EXPLAINABLE FINDINGS</a:t>
            </a:r>
            <a:endParaRPr lang="en-IN" dirty="0"/>
          </a:p>
        </p:txBody>
      </p:sp>
      <p:sp>
        <p:nvSpPr>
          <p:cNvPr id="15" name="Rounded Rectangle 14"/>
          <p:cNvSpPr/>
          <p:nvPr/>
        </p:nvSpPr>
        <p:spPr>
          <a:xfrm>
            <a:off x="4428260" y="4456546"/>
            <a:ext cx="2467840" cy="572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AI RISK SCORE (%)</a:t>
            </a:r>
            <a:endParaRPr lang="en-IN" dirty="0"/>
          </a:p>
        </p:txBody>
      </p:sp>
      <p:sp>
        <p:nvSpPr>
          <p:cNvPr id="16" name="Rounded Rectangle 15"/>
          <p:cNvSpPr/>
          <p:nvPr/>
        </p:nvSpPr>
        <p:spPr>
          <a:xfrm>
            <a:off x="4428261" y="5290700"/>
            <a:ext cx="2467840" cy="572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EVIDENCE CORRELATION</a:t>
            </a:r>
            <a:endParaRPr lang="en-IN" dirty="0"/>
          </a:p>
        </p:txBody>
      </p:sp>
      <p:sp>
        <p:nvSpPr>
          <p:cNvPr id="18" name="Rounded Rectangle 17"/>
          <p:cNvSpPr/>
          <p:nvPr/>
        </p:nvSpPr>
        <p:spPr>
          <a:xfrm>
            <a:off x="7935481" y="4545658"/>
            <a:ext cx="2938318" cy="489528"/>
          </a:xfrm>
          <a:prstGeom prst="roundRect">
            <a:avLst/>
          </a:prstGeom>
          <a:solidFill>
            <a:schemeClr val="accent2">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INVESTIGATION REPORT AND FINAL ASSESSMENT</a:t>
            </a:r>
            <a:endParaRPr lang="en-IN" dirty="0"/>
          </a:p>
        </p:txBody>
      </p:sp>
      <p:cxnSp>
        <p:nvCxnSpPr>
          <p:cNvPr id="20" name="Straight Arrow Connector 19"/>
          <p:cNvCxnSpPr/>
          <p:nvPr/>
        </p:nvCxnSpPr>
        <p:spPr>
          <a:xfrm flipH="1">
            <a:off x="2122056" y="2218473"/>
            <a:ext cx="3464" cy="4798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2122056" y="3083142"/>
            <a:ext cx="0" cy="543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2122056" y="5072603"/>
            <a:ext cx="0" cy="504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122056" y="4067171"/>
            <a:ext cx="0" cy="4725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ounded Rectangle 30"/>
          <p:cNvSpPr/>
          <p:nvPr/>
        </p:nvSpPr>
        <p:spPr>
          <a:xfrm>
            <a:off x="856674" y="5459416"/>
            <a:ext cx="2514600" cy="57265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solidFill>
              </a:rPr>
              <a:t>KNOWLEDGE BASE + FORENSIC RULES</a:t>
            </a:r>
            <a:endParaRPr lang="en-IN" dirty="0">
              <a:solidFill>
                <a:schemeClr val="bg1"/>
              </a:solidFill>
            </a:endParaRPr>
          </a:p>
        </p:txBody>
      </p:sp>
      <p:cxnSp>
        <p:nvCxnSpPr>
          <p:cNvPr id="45" name="Straight Arrow Connector 44"/>
          <p:cNvCxnSpPr/>
          <p:nvPr/>
        </p:nvCxnSpPr>
        <p:spPr>
          <a:xfrm flipV="1">
            <a:off x="3387439" y="3880718"/>
            <a:ext cx="925943" cy="693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V="1">
            <a:off x="3405912" y="4784436"/>
            <a:ext cx="10223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3387439" y="5029200"/>
            <a:ext cx="994061" cy="623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6896100" y="3814618"/>
            <a:ext cx="1010227" cy="7595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flipV="1">
            <a:off x="6890040" y="4784435"/>
            <a:ext cx="102234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V="1">
            <a:off x="6890040" y="4994703"/>
            <a:ext cx="1016287" cy="6481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34342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8CEDF5-B9F7-4B91-858D-BB211B1C5149}"/>
              </a:ext>
            </a:extLst>
          </p:cNvPr>
          <p:cNvSpPr>
            <a:spLocks noGrp="1"/>
          </p:cNvSpPr>
          <p:nvPr>
            <p:ph type="title"/>
          </p:nvPr>
        </p:nvSpPr>
        <p:spPr>
          <a:xfrm>
            <a:off x="838200" y="83128"/>
            <a:ext cx="10515600" cy="1117600"/>
          </a:xfrm>
        </p:spPr>
        <p:txBody>
          <a:bodyPr/>
          <a:lstStyle/>
          <a:p>
            <a:pPr algn="ctr"/>
            <a:r>
              <a:rPr lang="en-US" b="1" dirty="0">
                <a:solidFill>
                  <a:schemeClr val="accent1">
                    <a:lumMod val="50000"/>
                  </a:schemeClr>
                </a:solidFill>
              </a:rPr>
              <a:t>Hardware/Software Requirements</a:t>
            </a:r>
            <a:endParaRPr lang="en-IN" b="1" dirty="0">
              <a:solidFill>
                <a:schemeClr val="accent1">
                  <a:lumMod val="50000"/>
                </a:schemeClr>
              </a:solidFill>
            </a:endParaRPr>
          </a:p>
        </p:txBody>
      </p:sp>
      <p:sp>
        <p:nvSpPr>
          <p:cNvPr id="3" name="Content Placeholder 2">
            <a:extLst>
              <a:ext uri="{FF2B5EF4-FFF2-40B4-BE49-F238E27FC236}">
                <a16:creationId xmlns="" xmlns:a16="http://schemas.microsoft.com/office/drawing/2014/main" id="{51030061-1822-407B-A876-DADB7600B190}"/>
              </a:ext>
            </a:extLst>
          </p:cNvPr>
          <p:cNvSpPr>
            <a:spLocks noGrp="1"/>
          </p:cNvSpPr>
          <p:nvPr>
            <p:ph idx="1"/>
          </p:nvPr>
        </p:nvSpPr>
        <p:spPr>
          <a:xfrm>
            <a:off x="838200" y="1311564"/>
            <a:ext cx="10515600" cy="5044786"/>
          </a:xfrm>
        </p:spPr>
        <p:txBody>
          <a:bodyPr>
            <a:normAutofit lnSpcReduction="10000"/>
          </a:bodyPr>
          <a:lstStyle/>
          <a:p>
            <a:pPr marL="0" indent="0">
              <a:buNone/>
            </a:pPr>
            <a:r>
              <a:rPr lang="en-US" dirty="0"/>
              <a:t>Hardware </a:t>
            </a:r>
            <a:r>
              <a:rPr lang="en-US" dirty="0" smtClean="0"/>
              <a:t>Requirement:</a:t>
            </a:r>
          </a:p>
          <a:p>
            <a:r>
              <a:rPr lang="en-IN" sz="1800" b="1" dirty="0" smtClean="0"/>
              <a:t>Processor</a:t>
            </a:r>
            <a:r>
              <a:rPr lang="en-IN" sz="1800" b="1" dirty="0"/>
              <a:t>:</a:t>
            </a:r>
            <a:r>
              <a:rPr lang="en-IN" sz="1800" dirty="0"/>
              <a:t> Intel Core i5 / AMD </a:t>
            </a:r>
            <a:r>
              <a:rPr lang="en-IN" sz="1800" dirty="0" err="1"/>
              <a:t>Ryzen</a:t>
            </a:r>
            <a:r>
              <a:rPr lang="en-IN" sz="1800" dirty="0"/>
              <a:t> 5 or higher </a:t>
            </a:r>
          </a:p>
          <a:p>
            <a:r>
              <a:rPr lang="en-IN" sz="1800" b="1" dirty="0"/>
              <a:t>RAM:</a:t>
            </a:r>
            <a:r>
              <a:rPr lang="en-IN" sz="1800" dirty="0"/>
              <a:t> 8 GB (Minimum) </a:t>
            </a:r>
          </a:p>
          <a:p>
            <a:r>
              <a:rPr lang="en-IN" sz="1800" b="1" dirty="0"/>
              <a:t>Storage:</a:t>
            </a:r>
            <a:r>
              <a:rPr lang="en-IN" sz="1800" dirty="0"/>
              <a:t> 256 GB SSD / 500 GB HDD </a:t>
            </a:r>
          </a:p>
          <a:p>
            <a:r>
              <a:rPr lang="en-IN" sz="1800" b="1" dirty="0"/>
              <a:t>Operating System:</a:t>
            </a:r>
            <a:r>
              <a:rPr lang="en-IN" sz="1800" dirty="0"/>
              <a:t> Windows 10/11 (64-bit) </a:t>
            </a:r>
            <a:endParaRPr lang="en-IN" sz="1800" dirty="0" smtClean="0"/>
          </a:p>
          <a:p>
            <a:pPr marL="0" indent="0">
              <a:buNone/>
            </a:pPr>
            <a:endParaRPr lang="en-IN" sz="1800" dirty="0"/>
          </a:p>
          <a:p>
            <a:pPr marL="0" indent="0">
              <a:buNone/>
            </a:pPr>
            <a:r>
              <a:rPr lang="en-US" dirty="0" smtClean="0"/>
              <a:t>Software Requirement:</a:t>
            </a:r>
            <a:endParaRPr lang="en-US" sz="1800" dirty="0" smtClean="0"/>
          </a:p>
          <a:p>
            <a:r>
              <a:rPr lang="en-IN" sz="1800" b="1" dirty="0"/>
              <a:t>Programming Language:</a:t>
            </a:r>
            <a:r>
              <a:rPr lang="en-IN" sz="1800" dirty="0"/>
              <a:t> Python 3.x </a:t>
            </a:r>
          </a:p>
          <a:p>
            <a:r>
              <a:rPr lang="en-IN" sz="1800" b="1" dirty="0"/>
              <a:t>IDE:</a:t>
            </a:r>
            <a:r>
              <a:rPr lang="en-IN" sz="1800" dirty="0"/>
              <a:t> Anaconda </a:t>
            </a:r>
            <a:r>
              <a:rPr lang="en-IN" sz="1800" dirty="0" err="1"/>
              <a:t>Spyder</a:t>
            </a:r>
            <a:r>
              <a:rPr lang="en-IN" sz="1800" dirty="0"/>
              <a:t> </a:t>
            </a:r>
          </a:p>
          <a:p>
            <a:r>
              <a:rPr lang="en-IN" sz="1800" b="1" dirty="0"/>
              <a:t>Libraries:</a:t>
            </a:r>
            <a:r>
              <a:rPr lang="en-IN" sz="1800" dirty="0"/>
              <a:t> Pandas, </a:t>
            </a:r>
            <a:r>
              <a:rPr lang="en-IN" sz="1800" dirty="0" err="1"/>
              <a:t>NumPy</a:t>
            </a:r>
            <a:r>
              <a:rPr lang="en-IN" sz="1800" dirty="0"/>
              <a:t>, </a:t>
            </a:r>
            <a:r>
              <a:rPr lang="en-IN" sz="1800" dirty="0" err="1"/>
              <a:t>Tkinter</a:t>
            </a:r>
            <a:r>
              <a:rPr lang="en-IN" sz="1800" dirty="0"/>
              <a:t>, </a:t>
            </a:r>
            <a:r>
              <a:rPr lang="en-IN" sz="1800" dirty="0" err="1"/>
              <a:t>hashlib</a:t>
            </a:r>
            <a:r>
              <a:rPr lang="en-IN" sz="1800" dirty="0"/>
              <a:t>, </a:t>
            </a:r>
            <a:r>
              <a:rPr lang="en-IN" sz="1800" dirty="0" err="1"/>
              <a:t>os</a:t>
            </a:r>
            <a:r>
              <a:rPr lang="en-IN" sz="1800" dirty="0"/>
              <a:t>, </a:t>
            </a:r>
            <a:r>
              <a:rPr lang="en-IN" sz="1800" dirty="0" err="1"/>
              <a:t>pathlib</a:t>
            </a:r>
            <a:r>
              <a:rPr lang="en-IN" sz="1800" dirty="0"/>
              <a:t> </a:t>
            </a:r>
          </a:p>
          <a:p>
            <a:r>
              <a:rPr lang="en-IN" sz="1800" b="1" dirty="0"/>
              <a:t>Database:</a:t>
            </a:r>
            <a:r>
              <a:rPr lang="en-IN" sz="1800" dirty="0"/>
              <a:t> SQLite </a:t>
            </a:r>
          </a:p>
          <a:p>
            <a:r>
              <a:rPr lang="en-IN" sz="1800" b="1" dirty="0"/>
              <a:t>Version Control:</a:t>
            </a:r>
            <a:r>
              <a:rPr lang="en-IN" sz="1800" dirty="0"/>
              <a:t> Git &amp; </a:t>
            </a:r>
            <a:r>
              <a:rPr lang="en-IN" sz="1800" dirty="0" err="1"/>
              <a:t>GitHub</a:t>
            </a:r>
            <a:r>
              <a:rPr lang="en-IN" sz="1800"/>
              <a:t> </a:t>
            </a:r>
            <a:r>
              <a:rPr lang="en-IN" sz="1800" smtClean="0"/>
              <a:t> </a:t>
            </a:r>
            <a:endParaRPr lang="en-IN" sz="1800" dirty="0"/>
          </a:p>
          <a:p>
            <a:r>
              <a:rPr lang="en-IN" sz="1800" b="1" dirty="0"/>
              <a:t>Platform:</a:t>
            </a:r>
            <a:r>
              <a:rPr lang="en-IN" sz="1800" dirty="0"/>
              <a:t> Desktop Application </a:t>
            </a:r>
          </a:p>
          <a:p>
            <a:pPr marL="0" indent="0">
              <a:buNone/>
            </a:pPr>
            <a:endParaRPr lang="en-US" sz="1800" dirty="0"/>
          </a:p>
        </p:txBody>
      </p:sp>
      <p:sp>
        <p:nvSpPr>
          <p:cNvPr id="4" name="Footer Placeholder 3">
            <a:extLst>
              <a:ext uri="{FF2B5EF4-FFF2-40B4-BE49-F238E27FC236}">
                <a16:creationId xmlns="" xmlns:a16="http://schemas.microsoft.com/office/drawing/2014/main" id="{9EDB36B0-5247-44F3-9298-2B524976B6D3}"/>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30812868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B6E855B-EB5E-4D53-95D3-8E1DF5D65A1F}"/>
              </a:ext>
            </a:extLst>
          </p:cNvPr>
          <p:cNvSpPr>
            <a:spLocks noGrp="1"/>
          </p:cNvSpPr>
          <p:nvPr>
            <p:ph type="title"/>
          </p:nvPr>
        </p:nvSpPr>
        <p:spPr/>
        <p:txBody>
          <a:bodyPr/>
          <a:lstStyle/>
          <a:p>
            <a:pPr algn="ctr"/>
            <a:r>
              <a:rPr lang="en-US" spc="-1" dirty="0">
                <a:solidFill>
                  <a:schemeClr val="accent1">
                    <a:lumMod val="50000"/>
                  </a:schemeClr>
                </a:solidFill>
                <a:latin typeface="Times New Roman"/>
              </a:rPr>
              <a:t>References</a:t>
            </a:r>
            <a:endParaRPr lang="en-IN" dirty="0">
              <a:solidFill>
                <a:schemeClr val="accent1">
                  <a:lumMod val="50000"/>
                </a:schemeClr>
              </a:solidFill>
            </a:endParaRPr>
          </a:p>
        </p:txBody>
      </p:sp>
      <p:sp>
        <p:nvSpPr>
          <p:cNvPr id="3" name="Content Placeholder 2">
            <a:extLst>
              <a:ext uri="{FF2B5EF4-FFF2-40B4-BE49-F238E27FC236}">
                <a16:creationId xmlns="" xmlns:a16="http://schemas.microsoft.com/office/drawing/2014/main" id="{C549F23D-2C1E-4B8F-BC11-10828DB19119}"/>
              </a:ext>
            </a:extLst>
          </p:cNvPr>
          <p:cNvSpPr>
            <a:spLocks noGrp="1"/>
          </p:cNvSpPr>
          <p:nvPr>
            <p:ph idx="1"/>
          </p:nvPr>
        </p:nvSpPr>
        <p:spPr/>
        <p:txBody>
          <a:bodyPr>
            <a:normAutofit/>
          </a:bodyPr>
          <a:lstStyle/>
          <a:p>
            <a:pPr marL="0" indent="0">
              <a:buNone/>
            </a:pPr>
            <a:r>
              <a:rPr lang="en-IN" b="1" dirty="0" smtClean="0"/>
              <a:t>JOURNALS</a:t>
            </a:r>
            <a:endParaRPr lang="en-IN" dirty="0" smtClean="0"/>
          </a:p>
          <a:p>
            <a:r>
              <a:rPr lang="en-IN" dirty="0"/>
              <a:t>Rule-Based Digital </a:t>
            </a:r>
            <a:r>
              <a:rPr lang="en-IN" dirty="0" smtClean="0"/>
              <a:t>Forensics,</a:t>
            </a:r>
            <a:r>
              <a:rPr lang="en-IN" dirty="0"/>
              <a:t> D. </a:t>
            </a:r>
            <a:r>
              <a:rPr lang="en-IN" dirty="0" err="1"/>
              <a:t>Dunsin</a:t>
            </a:r>
            <a:r>
              <a:rPr lang="en-IN" dirty="0"/>
              <a:t> et </a:t>
            </a:r>
            <a:r>
              <a:rPr lang="en-IN" dirty="0" smtClean="0"/>
              <a:t>al, 2023. </a:t>
            </a:r>
            <a:endParaRPr lang="en-IN" dirty="0"/>
          </a:p>
          <a:p>
            <a:r>
              <a:rPr lang="en-IN" dirty="0" err="1"/>
              <a:t>Alam</a:t>
            </a:r>
            <a:r>
              <a:rPr lang="en-IN" dirty="0"/>
              <a:t> &amp; </a:t>
            </a:r>
            <a:r>
              <a:rPr lang="en-IN" dirty="0" err="1"/>
              <a:t>Demir</a:t>
            </a:r>
            <a:r>
              <a:rPr lang="en-IN" dirty="0"/>
              <a:t>, </a:t>
            </a:r>
            <a:r>
              <a:rPr lang="en-IN" i="1" dirty="0"/>
              <a:t>SIFT: Explainable AI in Cyber Forensics</a:t>
            </a:r>
            <a:r>
              <a:rPr lang="en-IN" dirty="0"/>
              <a:t>, 2024</a:t>
            </a:r>
            <a:r>
              <a:rPr lang="en-IN" dirty="0" smtClean="0"/>
              <a:t>.</a:t>
            </a:r>
          </a:p>
          <a:p>
            <a:r>
              <a:rPr lang="en-IN" dirty="0"/>
              <a:t>AI in Digital Forensic </a:t>
            </a:r>
            <a:r>
              <a:rPr lang="en-IN" dirty="0" smtClean="0"/>
              <a:t>Investigation, </a:t>
            </a:r>
            <a:r>
              <a:rPr lang="en-IN" dirty="0"/>
              <a:t>D. </a:t>
            </a:r>
            <a:r>
              <a:rPr lang="en-IN" dirty="0" err="1"/>
              <a:t>Dunsin</a:t>
            </a:r>
            <a:r>
              <a:rPr lang="en-IN" dirty="0"/>
              <a:t> et </a:t>
            </a:r>
            <a:r>
              <a:rPr lang="en-IN" dirty="0" smtClean="0"/>
              <a:t>al, 2024.</a:t>
            </a:r>
          </a:p>
          <a:p>
            <a:pPr marL="0" indent="0">
              <a:buNone/>
            </a:pPr>
            <a:endParaRPr lang="en-IN" dirty="0"/>
          </a:p>
          <a:p>
            <a:pPr marL="0" indent="0">
              <a:buNone/>
            </a:pPr>
            <a:r>
              <a:rPr lang="en-IN" b="1" dirty="0" smtClean="0"/>
              <a:t>WEBSITES</a:t>
            </a:r>
            <a:endParaRPr lang="en-IN" dirty="0" smtClean="0"/>
          </a:p>
          <a:p>
            <a:r>
              <a:rPr lang="en-IN" dirty="0" smtClean="0"/>
              <a:t>NIST </a:t>
            </a:r>
            <a:r>
              <a:rPr lang="en-IN" dirty="0"/>
              <a:t>– </a:t>
            </a:r>
            <a:r>
              <a:rPr lang="en-IN" dirty="0">
                <a:hlinkClick r:id="rId2"/>
              </a:rPr>
              <a:t>https://www.nist.gov</a:t>
            </a:r>
            <a:r>
              <a:rPr lang="en-IN" dirty="0"/>
              <a:t> </a:t>
            </a:r>
          </a:p>
          <a:p>
            <a:r>
              <a:rPr lang="en-IN" dirty="0"/>
              <a:t>OWASP – </a:t>
            </a:r>
            <a:r>
              <a:rPr lang="en-IN" dirty="0">
                <a:hlinkClick r:id="rId3"/>
              </a:rPr>
              <a:t>https://owasp.org</a:t>
            </a:r>
            <a:endParaRPr lang="en-IN" dirty="0"/>
          </a:p>
          <a:p>
            <a:pPr marL="0" indent="0">
              <a:buNone/>
            </a:pPr>
            <a:endParaRPr lang="en-IN" dirty="0"/>
          </a:p>
        </p:txBody>
      </p:sp>
      <p:sp>
        <p:nvSpPr>
          <p:cNvPr id="4" name="Footer Placeholder 3">
            <a:extLst>
              <a:ext uri="{FF2B5EF4-FFF2-40B4-BE49-F238E27FC236}">
                <a16:creationId xmlns="" xmlns:a16="http://schemas.microsoft.com/office/drawing/2014/main" id="{D2376813-C5D5-412F-BEE4-270486186E54}"/>
              </a:ext>
            </a:extLst>
          </p:cNvPr>
          <p:cNvSpPr>
            <a:spLocks noGrp="1"/>
          </p:cNvSpPr>
          <p:nvPr>
            <p:ph type="ftr" sz="quarter" idx="11"/>
          </p:nvPr>
        </p:nvSpPr>
        <p:spPr/>
        <p:txBody>
          <a:bodyPr/>
          <a:lstStyle/>
          <a:p>
            <a:r>
              <a:rPr lang="en-US"/>
              <a:t>Rajalakshmi Engineering College,Department of Cyber Security</a:t>
            </a:r>
            <a:endParaRPr lang="en-IN"/>
          </a:p>
        </p:txBody>
      </p:sp>
    </p:spTree>
    <p:extLst>
      <p:ext uri="{BB962C8B-B14F-4D97-AF65-F5344CB8AC3E}">
        <p14:creationId xmlns:p14="http://schemas.microsoft.com/office/powerpoint/2010/main" val="1091574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3096</TotalTime>
  <Words>763</Words>
  <Application>Microsoft Office PowerPoint</Application>
  <PresentationFormat>Widescreen</PresentationFormat>
  <Paragraphs>107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OUTLINE</vt:lpstr>
      <vt:lpstr>ABSTRACT</vt:lpstr>
      <vt:lpstr>OBJECTIVE</vt:lpstr>
      <vt:lpstr>Literature Survey</vt:lpstr>
      <vt:lpstr>EXISTING SYSTEM</vt:lpstr>
      <vt:lpstr>PROPOSED SYSTEM</vt:lpstr>
      <vt:lpstr>Novelty in Proposed System</vt:lpstr>
      <vt:lpstr>BLOCK DIAGRAM(PROPOSED SYSTEM)</vt:lpstr>
      <vt:lpstr>Hardware/Software Requirements</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32</cp:revision>
  <dcterms:created xsi:type="dcterms:W3CDTF">2026-07-28T13:30:13Z</dcterms:created>
  <dcterms:modified xsi:type="dcterms:W3CDTF">2026-08-05T15:18:16Z</dcterms:modified>
</cp:coreProperties>
</file>