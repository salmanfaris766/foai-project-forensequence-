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Times New Roman" charset="1" panose="02020603050405020304"/>
      <p:regular r:id="rId24"/>
    </p:embeddedFont>
    <p:embeddedFont>
      <p:font typeface="Calibri (MS) Bold" charset="1" panose="020F0702030404030204"/>
      <p:regular r:id="rId25"/>
    </p:embeddedFont>
    <p:embeddedFont>
      <p:font typeface="Calibri (MS)" charset="1" panose="020F0502020204030204"/>
      <p:regular r:id="rId26"/>
    </p:embeddedFont>
    <p:embeddedFont>
      <p:font typeface="Canva Sans Bold" charset="1" panose="020B0803030501040103"/>
      <p:regular r:id="rId27"/>
    </p:embeddedFont>
    <p:embeddedFont>
      <p:font typeface="Arimo Bold" charset="1" panose="020B0704020202020204"/>
      <p:regular r:id="rId28"/>
    </p:embeddedFont>
    <p:embeddedFont>
      <p:font typeface="Arimo" charset="1" panose="020B0604020202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58579" y="746312"/>
            <a:ext cx="5370843" cy="1733941"/>
            <a:chOff x="0" y="0"/>
            <a:chExt cx="7161124" cy="2311921"/>
          </a:xfrm>
        </p:grpSpPr>
        <p:sp>
          <p:nvSpPr>
            <p:cNvPr name="Freeform 3" id="3" descr="Home | Rajalakshmi Engineering College (REC)"/>
            <p:cNvSpPr/>
            <p:nvPr/>
          </p:nvSpPr>
          <p:spPr>
            <a:xfrm flipH="false" flipV="false" rot="0">
              <a:off x="0" y="0"/>
              <a:ext cx="7161149" cy="2311908"/>
            </a:xfrm>
            <a:custGeom>
              <a:avLst/>
              <a:gdLst/>
              <a:ahLst/>
              <a:cxnLst/>
              <a:rect r="r" b="b" t="t" l="l"/>
              <a:pathLst>
                <a:path h="2311908" w="7161149">
                  <a:moveTo>
                    <a:pt x="0" y="0"/>
                  </a:moveTo>
                  <a:lnTo>
                    <a:pt x="7161149" y="0"/>
                  </a:lnTo>
                  <a:lnTo>
                    <a:pt x="7161149" y="2311908"/>
                  </a:lnTo>
                  <a:lnTo>
                    <a:pt x="0" y="2311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1" r="0" b="-2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323652" y="2487873"/>
            <a:ext cx="14218920" cy="433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Department of Cyber Security</a:t>
            </a:r>
          </a:p>
          <a:p>
            <a:pPr algn="l">
              <a:lnSpc>
                <a:spcPts val="7200"/>
              </a:lnSpc>
            </a:pPr>
            <a:r>
              <a:rPr lang="en-US" sz="6000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2026-2027- Odd Semester</a:t>
            </a:r>
          </a:p>
          <a:p>
            <a:pPr algn="l">
              <a:lnSpc>
                <a:spcPts val="7200"/>
              </a:lnSpc>
            </a:pPr>
            <a:r>
              <a:rPr lang="en-US" sz="6000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III Year /V Sem</a:t>
            </a:r>
          </a:p>
          <a:p>
            <a:pPr algn="l">
              <a:lnSpc>
                <a:spcPts val="5040"/>
              </a:lnSpc>
            </a:pPr>
            <a:r>
              <a:rPr lang="en-US" b="true" sz="4200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     CS23533-FOUNDATIONS OF ARTIFICIAL INTELLIGENCE</a:t>
            </a:r>
          </a:p>
          <a:p>
            <a:pPr algn="l">
              <a:lnSpc>
                <a:spcPts val="7200"/>
              </a:lnSpc>
            </a:pPr>
            <a:r>
              <a:rPr lang="en-US" sz="6000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Review 1– 09.09.2026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057900" y="9534525"/>
            <a:ext cx="6172200" cy="547688"/>
            <a:chOff x="0" y="0"/>
            <a:chExt cx="822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22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Rajalakshmi Engineering College,Department of Cyber Security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87552"/>
            <a:chOff x="0" y="0"/>
            <a:chExt cx="24383390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1F375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45820" y="147828"/>
            <a:ext cx="15864840" cy="56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Introduction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030700" y="194310"/>
            <a:ext cx="502920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0"/>
              </a:lnSpc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5820" y="9728073"/>
            <a:ext cx="16550640" cy="23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F6973"/>
                </a:solidFill>
                <a:latin typeface="Calibri (MS)"/>
                <a:ea typeface="Calibri (MS)"/>
                <a:cs typeface="Calibri (MS)"/>
                <a:sym typeface="Calibri (MS)"/>
              </a:rPr>
              <a:t>[Department]  |  Project Review – 1  |  [Academic Year]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35641" y="1483179"/>
            <a:ext cx="12085198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75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FORENSEQUENCE : AI-Powered Digital Forensics</a:t>
            </a:r>
          </a:p>
          <a:p>
            <a:pPr algn="ctr">
              <a:lnSpc>
                <a:spcPts val="4500"/>
              </a:lnSpc>
              <a:spcBef>
                <a:spcPct val="0"/>
              </a:spcBef>
            </a:pPr>
            <a:r>
              <a:rPr lang="en-US" b="true" sz="375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Investigation System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3273879"/>
            <a:ext cx="7283768" cy="5226368"/>
            <a:chOff x="0" y="0"/>
            <a:chExt cx="9711690" cy="69684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11690" cy="6968490"/>
            </a:xfrm>
            <a:custGeom>
              <a:avLst/>
              <a:gdLst/>
              <a:ahLst/>
              <a:cxnLst/>
              <a:rect r="r" b="b" t="t" l="l"/>
              <a:pathLst>
                <a:path h="6968490" w="9711690">
                  <a:moveTo>
                    <a:pt x="0" y="1161415"/>
                  </a:moveTo>
                  <a:cubicBezTo>
                    <a:pt x="0" y="519938"/>
                    <a:pt x="519938" y="0"/>
                    <a:pt x="1161415" y="0"/>
                  </a:cubicBezTo>
                  <a:lnTo>
                    <a:pt x="8550275" y="0"/>
                  </a:lnTo>
                  <a:cubicBezTo>
                    <a:pt x="9191752" y="0"/>
                    <a:pt x="9711690" y="519938"/>
                    <a:pt x="9711690" y="1161415"/>
                  </a:cubicBezTo>
                  <a:lnTo>
                    <a:pt x="9711690" y="5807075"/>
                  </a:lnTo>
                  <a:cubicBezTo>
                    <a:pt x="9711690" y="6448552"/>
                    <a:pt x="9191752" y="6968490"/>
                    <a:pt x="8550275" y="6968490"/>
                  </a:cubicBezTo>
                  <a:lnTo>
                    <a:pt x="1161415" y="6968490"/>
                  </a:lnTo>
                  <a:cubicBezTo>
                    <a:pt x="519938" y="6968490"/>
                    <a:pt x="0" y="6448552"/>
                    <a:pt x="0" y="5807075"/>
                  </a:cubicBezTo>
                  <a:close/>
                </a:path>
              </a:pathLst>
            </a:custGeom>
            <a:solidFill>
              <a:srgbClr val="F2F6FA"/>
            </a:solidFill>
            <a:ln w="14288" cap="sq">
              <a:solidFill>
                <a:srgbClr val="3465A4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9711690" cy="7035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661228" y="3524862"/>
            <a:ext cx="6018711" cy="464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0"/>
              </a:lnSpc>
              <a:spcBef>
                <a:spcPct val="0"/>
              </a:spcBef>
            </a:pPr>
            <a:r>
              <a:rPr lang="en-US" b="true" sz="375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FORENSEQUENCE is a desktop-based AI-assisted digital forensic investigation system that helps investigators analyze digital evidence and derive forensic findings using a Rule-Based Expert System.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14163" y="3207204"/>
            <a:ext cx="8719457" cy="50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6493" indent="-353247" lvl="1">
              <a:lnSpc>
                <a:spcPts val="392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7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Domain:</a:t>
            </a:r>
            <a:r>
              <a:rPr lang="en-US" sz="327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Digital Forensics and Artificial Intelligence</a:t>
            </a:r>
          </a:p>
          <a:p>
            <a:pPr algn="l" marL="706493" indent="-353247" lvl="1">
              <a:lnSpc>
                <a:spcPts val="3926"/>
              </a:lnSpc>
              <a:spcBef>
                <a:spcPct val="0"/>
              </a:spcBef>
              <a:buFont typeface="Arial"/>
              <a:buChar char="•"/>
            </a:pPr>
            <a:r>
              <a:rPr lang="en-US" sz="327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Analyzes evidence from</a:t>
            </a:r>
            <a:r>
              <a:rPr lang="en-US" b="true" sz="327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logs, files/folders, browser history, and emails</a:t>
            </a:r>
          </a:p>
          <a:p>
            <a:pPr algn="l" marL="706493" indent="-353247" lvl="1">
              <a:lnSpc>
                <a:spcPts val="3926"/>
              </a:lnSpc>
              <a:spcBef>
                <a:spcPct val="0"/>
              </a:spcBef>
              <a:buFont typeface="Arial"/>
              <a:buChar char="•"/>
            </a:pPr>
            <a:r>
              <a:rPr lang="en-US" sz="327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Uses </a:t>
            </a:r>
            <a:r>
              <a:rPr lang="en-US" b="true" sz="327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Forward Chaining</a:t>
            </a:r>
            <a:r>
              <a:rPr lang="en-US" sz="327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to reason over extracted facts and identify suspicious activities</a:t>
            </a:r>
          </a:p>
          <a:p>
            <a:pPr algn="l" marL="706493" indent="-353247" lvl="1">
              <a:lnSpc>
                <a:spcPts val="3926"/>
              </a:lnSpc>
              <a:spcBef>
                <a:spcPct val="0"/>
              </a:spcBef>
              <a:buFont typeface="Arial"/>
              <a:buChar char="•"/>
            </a:pPr>
            <a:r>
              <a:rPr lang="en-US" sz="327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Provides </a:t>
            </a:r>
            <a:r>
              <a:rPr lang="en-US" b="true" sz="327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risk scoring, event timeline reconstruction, and explainable findings</a:t>
            </a:r>
          </a:p>
          <a:p>
            <a:pPr algn="l" marL="706493" indent="-353247" lvl="1">
              <a:lnSpc>
                <a:spcPts val="3926"/>
              </a:lnSpc>
              <a:spcBef>
                <a:spcPct val="0"/>
              </a:spcBef>
              <a:buFont typeface="Arial"/>
              <a:buChar char="•"/>
            </a:pPr>
            <a:r>
              <a:rPr lang="en-US" sz="327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Supports </a:t>
            </a:r>
            <a:r>
              <a:rPr lang="en-US" b="true" sz="327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real-time evidence monitoring</a:t>
            </a:r>
            <a:r>
              <a:rPr lang="en-US" sz="327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and automatically </a:t>
            </a:r>
            <a:r>
              <a:rPr lang="en-US" b="true" sz="327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re-analyzes new activity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87552"/>
            <a:chOff x="0" y="0"/>
            <a:chExt cx="24383390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1F3756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5400000">
            <a:off x="2408568" y="1349850"/>
            <a:ext cx="6345703" cy="9471198"/>
          </a:xfrm>
          <a:custGeom>
            <a:avLst/>
            <a:gdLst/>
            <a:ahLst/>
            <a:cxnLst/>
            <a:rect r="r" b="b" t="t" l="l"/>
            <a:pathLst>
              <a:path h="9471198" w="6345703">
                <a:moveTo>
                  <a:pt x="0" y="0"/>
                </a:moveTo>
                <a:lnTo>
                  <a:pt x="6345702" y="0"/>
                </a:lnTo>
                <a:lnTo>
                  <a:pt x="6345702" y="9471198"/>
                </a:lnTo>
                <a:lnTo>
                  <a:pt x="0" y="9471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3225335" y="3782221"/>
            <a:ext cx="1228671" cy="344028"/>
          </a:xfrm>
          <a:custGeom>
            <a:avLst/>
            <a:gdLst/>
            <a:ahLst/>
            <a:cxnLst/>
            <a:rect r="r" b="b" t="t" l="l"/>
            <a:pathLst>
              <a:path h="344028" w="1228671">
                <a:moveTo>
                  <a:pt x="0" y="0"/>
                </a:moveTo>
                <a:lnTo>
                  <a:pt x="1228671" y="0"/>
                </a:lnTo>
                <a:lnTo>
                  <a:pt x="1228671" y="344028"/>
                </a:lnTo>
                <a:lnTo>
                  <a:pt x="0" y="3440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45820" y="147828"/>
            <a:ext cx="15864840" cy="56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030700" y="194310"/>
            <a:ext cx="502920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0"/>
              </a:lnSpc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5820" y="9728073"/>
            <a:ext cx="16550640" cy="23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F6973"/>
                </a:solidFill>
                <a:latin typeface="Calibri (MS)"/>
                <a:ea typeface="Calibri (MS)"/>
                <a:cs typeface="Calibri (MS)"/>
                <a:sym typeface="Calibri (MS)"/>
              </a:rPr>
              <a:t>[Department]  |  Project Review – 1  |  [Academic Year]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-4799382" y="2117070"/>
            <a:ext cx="19232913" cy="728853"/>
            <a:chOff x="0" y="0"/>
            <a:chExt cx="25643884" cy="97180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7184562" y="233426"/>
              <a:ext cx="12553368" cy="7383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72"/>
                </a:lnSpc>
                <a:spcBef>
                  <a:spcPct val="0"/>
                </a:spcBef>
              </a:pPr>
              <a:r>
                <a:rPr lang="en-US" b="true" sz="3600" spc="-11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CURRENT CHALLENGES AND PROBLEMS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9050"/>
              <a:ext cx="25643884" cy="7383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72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45820" y="3151749"/>
            <a:ext cx="8579198" cy="579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9625" indent="-404812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Forensic analysis involves large volumes of digital evidence</a:t>
            </a:r>
          </a:p>
          <a:p>
            <a:pPr algn="l" marL="809625" indent="-404812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Existing analysis is largely retrospective and manual</a:t>
            </a:r>
          </a:p>
          <a:p>
            <a:pPr algn="l" marL="809625" indent="-404812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Delays in identifying suspicious activities</a:t>
            </a:r>
          </a:p>
          <a:p>
            <a:pPr algn="l" marL="809625" indent="-404812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Evidence from multiple sources needs unified analysis</a:t>
            </a:r>
          </a:p>
          <a:p>
            <a:pPr algn="l" marL="809625" indent="-404812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Need for automated and explainable forensic reasoning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03851" y="4614873"/>
            <a:ext cx="5440841" cy="407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0"/>
              </a:lnSpc>
              <a:spcBef>
                <a:spcPct val="0"/>
              </a:spcBef>
            </a:pPr>
            <a:r>
              <a:rPr lang="en-US" b="true" sz="375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 unified forensic assistant that combines multi-source evidence analysis, rule-based reasoning, risk assessment, event sequencing, and real-time monitoring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54335" y="2531597"/>
            <a:ext cx="3626644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9"/>
              </a:lnSpc>
              <a:spcBef>
                <a:spcPct val="0"/>
              </a:spcBef>
            </a:pPr>
            <a:r>
              <a:rPr lang="en-US" b="true" sz="40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PROPOSED NEED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87552"/>
            <a:chOff x="0" y="0"/>
            <a:chExt cx="24383390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1F3756"/>
            </a:solid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569867" y="1517523"/>
          <a:ext cx="17148266" cy="8239125"/>
        </p:xfrm>
        <a:graphic>
          <a:graphicData uri="http://schemas.openxmlformats.org/drawingml/2006/table">
            <a:tbl>
              <a:tblPr/>
              <a:tblGrid>
                <a:gridCol w="8788513"/>
                <a:gridCol w="8359752"/>
              </a:tblGrid>
              <a:tr h="12440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669"/>
                        </a:lnSpc>
                        <a:defRPr/>
                      </a:pPr>
                      <a:r>
                        <a:rPr lang="en-US" sz="4049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WHAT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669"/>
                        </a:lnSpc>
                        <a:defRPr/>
                      </a:pPr>
                      <a:r>
                        <a:rPr lang="en-US" sz="4049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HOW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928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Reduce manual investigation effort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automating repetitive forensic evidence analysis.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391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Enable faster identification of suspicious activity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automated rule-based analysis.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928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Apply classical AI techniques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Knowledge-Based Agents and Forward Chaining to digital forensics.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928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Provide explainable forensic findings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by </a:t>
                      </a:r>
                      <a:r>
                        <a:rPr lang="en-US" sz="27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showing the rules and facts behind each conclusion.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928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Support real-time investigation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by automatically analyzing new evidence as it appears.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845820" y="147828"/>
            <a:ext cx="15864840" cy="56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Motivation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30700" y="194310"/>
            <a:ext cx="502920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0"/>
              </a:lnSpc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5820" y="9728073"/>
            <a:ext cx="16550640" cy="23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F6973"/>
                </a:solidFill>
                <a:latin typeface="Calibri (MS)"/>
                <a:ea typeface="Calibri (MS)"/>
                <a:cs typeface="Calibri (MS)"/>
                <a:sym typeface="Calibri (MS)"/>
              </a:rPr>
              <a:t>[Department]  |  Project Review – 1  |  [Academic Year]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87552"/>
            <a:chOff x="0" y="0"/>
            <a:chExt cx="24383390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1F375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45820" y="147828"/>
            <a:ext cx="15864840" cy="56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Objectives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030700" y="194310"/>
            <a:ext cx="502920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0"/>
              </a:lnSpc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5820" y="9728073"/>
            <a:ext cx="16550640" cy="23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F6973"/>
                </a:solidFill>
                <a:latin typeface="Calibri (MS)"/>
                <a:ea typeface="Calibri (MS)"/>
                <a:cs typeface="Calibri (MS)"/>
                <a:sym typeface="Calibri (MS)"/>
              </a:rPr>
              <a:t>[Department]  |  Project Review – 1  |  [Academic Year]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042092"/>
            <a:ext cx="12898835" cy="4462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7"/>
              </a:lnSpc>
              <a:spcBef>
                <a:spcPct val="0"/>
              </a:spcBef>
            </a:pPr>
            <a:r>
              <a:rPr lang="en-US" b="true" sz="375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 collect and analyze digital evidence from multiple sources</a:t>
            </a:r>
          </a:p>
          <a:p>
            <a:pPr algn="l">
              <a:lnSpc>
                <a:spcPts val="7087"/>
              </a:lnSpc>
              <a:spcBef>
                <a:spcPct val="0"/>
              </a:spcBef>
            </a:pPr>
            <a:r>
              <a:rPr lang="en-US" b="true" sz="375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 extract structured facts from forensic evidence</a:t>
            </a:r>
          </a:p>
          <a:p>
            <a:pPr algn="l">
              <a:lnSpc>
                <a:spcPts val="7087"/>
              </a:lnSpc>
              <a:spcBef>
                <a:spcPct val="0"/>
              </a:spcBef>
            </a:pPr>
            <a:r>
              <a:rPr lang="en-US" b="true" sz="375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 implement Forward Chaining for rule-based forensic reasoning</a:t>
            </a:r>
          </a:p>
          <a:p>
            <a:pPr algn="l">
              <a:lnSpc>
                <a:spcPts val="7087"/>
              </a:lnSpc>
              <a:spcBef>
                <a:spcPct val="0"/>
              </a:spcBef>
            </a:pPr>
            <a:r>
              <a:rPr lang="en-US" b="true" sz="375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 generate findings, risk scores, and event timelines</a:t>
            </a:r>
          </a:p>
          <a:p>
            <a:pPr algn="l">
              <a:lnSpc>
                <a:spcPts val="7087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50872" y="2356417"/>
            <a:ext cx="394948" cy="400962"/>
          </a:xfrm>
          <a:custGeom>
            <a:avLst/>
            <a:gdLst/>
            <a:ahLst/>
            <a:cxnLst/>
            <a:rect r="r" b="b" t="t" l="l"/>
            <a:pathLst>
              <a:path h="400962" w="394948">
                <a:moveTo>
                  <a:pt x="0" y="0"/>
                </a:moveTo>
                <a:lnTo>
                  <a:pt x="394948" y="0"/>
                </a:lnTo>
                <a:lnTo>
                  <a:pt x="394948" y="400962"/>
                </a:lnTo>
                <a:lnTo>
                  <a:pt x="0" y="400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7375412"/>
            <a:ext cx="17837128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  <a:spcBef>
                <a:spcPct val="0"/>
              </a:spcBef>
            </a:pPr>
            <a:r>
              <a:rPr lang="en-US" b="true" sz="375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 perform risk and event analysis by calculating a risk score and reconstructing the chronological sequence of events.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856854"/>
            <a:ext cx="1725930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  <a:spcBef>
                <a:spcPct val="0"/>
              </a:spcBef>
            </a:pPr>
            <a:r>
              <a:rPr lang="en-US" b="true" sz="375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 enable real-time forensic monitoring that automatically analyzes newly added evidence and generates alerts and updated reports.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50872" y="3325246"/>
            <a:ext cx="394948" cy="400962"/>
          </a:xfrm>
          <a:custGeom>
            <a:avLst/>
            <a:gdLst/>
            <a:ahLst/>
            <a:cxnLst/>
            <a:rect r="r" b="b" t="t" l="l"/>
            <a:pathLst>
              <a:path h="400962" w="394948">
                <a:moveTo>
                  <a:pt x="0" y="0"/>
                </a:moveTo>
                <a:lnTo>
                  <a:pt x="394948" y="0"/>
                </a:lnTo>
                <a:lnTo>
                  <a:pt x="394948" y="400962"/>
                </a:lnTo>
                <a:lnTo>
                  <a:pt x="0" y="400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50872" y="4219405"/>
            <a:ext cx="394948" cy="400962"/>
          </a:xfrm>
          <a:custGeom>
            <a:avLst/>
            <a:gdLst/>
            <a:ahLst/>
            <a:cxnLst/>
            <a:rect r="r" b="b" t="t" l="l"/>
            <a:pathLst>
              <a:path h="400962" w="394948">
                <a:moveTo>
                  <a:pt x="0" y="0"/>
                </a:moveTo>
                <a:lnTo>
                  <a:pt x="394948" y="0"/>
                </a:lnTo>
                <a:lnTo>
                  <a:pt x="394948" y="400962"/>
                </a:lnTo>
                <a:lnTo>
                  <a:pt x="0" y="400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50872" y="5113564"/>
            <a:ext cx="394948" cy="400962"/>
          </a:xfrm>
          <a:custGeom>
            <a:avLst/>
            <a:gdLst/>
            <a:ahLst/>
            <a:cxnLst/>
            <a:rect r="r" b="b" t="t" l="l"/>
            <a:pathLst>
              <a:path h="400962" w="394948">
                <a:moveTo>
                  <a:pt x="0" y="0"/>
                </a:moveTo>
                <a:lnTo>
                  <a:pt x="394948" y="0"/>
                </a:lnTo>
                <a:lnTo>
                  <a:pt x="394948" y="400962"/>
                </a:lnTo>
                <a:lnTo>
                  <a:pt x="0" y="400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50872" y="5933054"/>
            <a:ext cx="394948" cy="400962"/>
          </a:xfrm>
          <a:custGeom>
            <a:avLst/>
            <a:gdLst/>
            <a:ahLst/>
            <a:cxnLst/>
            <a:rect r="r" b="b" t="t" l="l"/>
            <a:pathLst>
              <a:path h="400962" w="394948">
                <a:moveTo>
                  <a:pt x="0" y="0"/>
                </a:moveTo>
                <a:lnTo>
                  <a:pt x="394948" y="0"/>
                </a:lnTo>
                <a:lnTo>
                  <a:pt x="394948" y="400963"/>
                </a:lnTo>
                <a:lnTo>
                  <a:pt x="0" y="4009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50872" y="7451612"/>
            <a:ext cx="394948" cy="400962"/>
          </a:xfrm>
          <a:custGeom>
            <a:avLst/>
            <a:gdLst/>
            <a:ahLst/>
            <a:cxnLst/>
            <a:rect r="r" b="b" t="t" l="l"/>
            <a:pathLst>
              <a:path h="400962" w="394948">
                <a:moveTo>
                  <a:pt x="0" y="0"/>
                </a:moveTo>
                <a:lnTo>
                  <a:pt x="394948" y="0"/>
                </a:lnTo>
                <a:lnTo>
                  <a:pt x="394948" y="400962"/>
                </a:lnTo>
                <a:lnTo>
                  <a:pt x="0" y="400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87552"/>
            <a:chOff x="0" y="0"/>
            <a:chExt cx="24383390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1F375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45820" y="147828"/>
            <a:ext cx="15864840" cy="56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Literature Survey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030700" y="194310"/>
            <a:ext cx="502920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0"/>
              </a:lnSpc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617220" y="1577340"/>
          <a:ext cx="16973550" cy="6553200"/>
        </p:xfrm>
        <a:graphic>
          <a:graphicData uri="http://schemas.openxmlformats.org/drawingml/2006/table">
            <a:tbl>
              <a:tblPr/>
              <a:tblGrid>
                <a:gridCol w="958184"/>
                <a:gridCol w="3285203"/>
                <a:gridCol w="3422087"/>
                <a:gridCol w="4380271"/>
                <a:gridCol w="4927805"/>
              </a:tblGrid>
              <a:tr h="1638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S.No.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Author &amp; Year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Method / Technique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Key Findings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Limitations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</a:tr>
              <a:tr h="1638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D. D</a:t>
                      </a:r>
                      <a:r>
                        <a:rPr lang="en-US" sz="180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unsin et al., 2023</a:t>
                      </a:r>
                      <a:endParaRPr lang="en-US" sz="1100"/>
                    </a:p>
                    <a:p>
                      <a:pPr algn="l">
                        <a:lnSpc>
                          <a:spcPts val="2160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Rule-Bas</a:t>
                      </a:r>
                      <a:r>
                        <a:rPr lang="en-US" sz="180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ed System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Appl</a:t>
                      </a:r>
                      <a:r>
                        <a:rPr lang="en-US" sz="180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ies rule-based reasoning to digital forensic investigation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Scope is l</a:t>
                      </a:r>
                      <a:r>
                        <a:rPr lang="en-US" sz="180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imited to rule-based analysis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1638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S. </a:t>
                      </a:r>
                      <a:r>
                        <a:rPr lang="en-US" sz="180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Alam, A. K. Demir, 2024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Explainabl</a:t>
                      </a:r>
                      <a:r>
                        <a:rPr lang="en-US" sz="180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 AI (XAI), Forensic Analysis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Focuses on explainable AI for cyber-forensic analysis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Focus is pr</a:t>
                      </a:r>
                      <a:r>
                        <a:rPr lang="en-US" sz="180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imarily on explainability in forensic analysis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38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D.</a:t>
                      </a:r>
                      <a:r>
                        <a:rPr lang="en-US" sz="180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D. et al., 2024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Logical R</a:t>
                      </a:r>
                      <a:r>
                        <a:rPr lang="en-US" sz="180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easoning, Forward Chaining</a:t>
                      </a:r>
                      <a:endParaRPr lang="en-US" sz="1100"/>
                    </a:p>
                    <a:p>
                      <a:pPr algn="l">
                        <a:lnSpc>
                          <a:spcPts val="2160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Uses logical reasoning and </a:t>
                      </a:r>
                      <a:r>
                        <a:rPr lang="en-US" sz="180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Forward Chaining for digital forensic investigation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Focuses on log</a:t>
                      </a:r>
                      <a:r>
                        <a:rPr lang="en-US" sz="180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ical/rule-based reasoning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845820" y="9728073"/>
            <a:ext cx="16550640" cy="23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F6973"/>
                </a:solidFill>
                <a:latin typeface="Calibri (MS)"/>
                <a:ea typeface="Calibri (MS)"/>
                <a:cs typeface="Calibri (MS)"/>
                <a:sym typeface="Calibri (MS)"/>
              </a:rPr>
              <a:t>[Department]  |  Project Review – 1  |  [Academic Year]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87552"/>
            <a:chOff x="0" y="0"/>
            <a:chExt cx="24383390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1F375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45820" y="147828"/>
            <a:ext cx="15864840" cy="56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Existing System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030700" y="194310"/>
            <a:ext cx="502920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0"/>
              </a:lnSpc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5820" y="9728073"/>
            <a:ext cx="16550640" cy="23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F6973"/>
                </a:solidFill>
                <a:latin typeface="Calibri (MS)"/>
                <a:ea typeface="Calibri (MS)"/>
                <a:cs typeface="Calibri (MS)"/>
                <a:sym typeface="Calibri (MS)"/>
              </a:rPr>
              <a:t>[Department]  |  Project Review – 1  |  [Academic Year]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5400000">
            <a:off x="12422034" y="5942386"/>
            <a:ext cx="1233730" cy="246746"/>
          </a:xfrm>
          <a:custGeom>
            <a:avLst/>
            <a:gdLst/>
            <a:ahLst/>
            <a:cxnLst/>
            <a:rect r="r" b="b" t="t" l="l"/>
            <a:pathLst>
              <a:path h="246746" w="1233730">
                <a:moveTo>
                  <a:pt x="0" y="0"/>
                </a:moveTo>
                <a:lnTo>
                  <a:pt x="1233730" y="0"/>
                </a:lnTo>
                <a:lnTo>
                  <a:pt x="1233730" y="246746"/>
                </a:lnTo>
                <a:lnTo>
                  <a:pt x="0" y="246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162272" y="2395531"/>
            <a:ext cx="3829918" cy="2029857"/>
          </a:xfrm>
          <a:custGeom>
            <a:avLst/>
            <a:gdLst/>
            <a:ahLst/>
            <a:cxnLst/>
            <a:rect r="r" b="b" t="t" l="l"/>
            <a:pathLst>
              <a:path h="2029857" w="3829918">
                <a:moveTo>
                  <a:pt x="0" y="0"/>
                </a:moveTo>
                <a:lnTo>
                  <a:pt x="3829918" y="0"/>
                </a:lnTo>
                <a:lnTo>
                  <a:pt x="3829918" y="2029857"/>
                </a:lnTo>
                <a:lnTo>
                  <a:pt x="0" y="20298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484109" y="3058011"/>
            <a:ext cx="318624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</a:t>
            </a:r>
            <a:r>
              <a:rPr lang="en-US" b="true" sz="3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igital Evidence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162272" y="4035902"/>
            <a:ext cx="3829918" cy="2029857"/>
          </a:xfrm>
          <a:custGeom>
            <a:avLst/>
            <a:gdLst/>
            <a:ahLst/>
            <a:cxnLst/>
            <a:rect r="r" b="b" t="t" l="l"/>
            <a:pathLst>
              <a:path h="2029857" w="3829918">
                <a:moveTo>
                  <a:pt x="0" y="0"/>
                </a:moveTo>
                <a:lnTo>
                  <a:pt x="3829918" y="0"/>
                </a:lnTo>
                <a:lnTo>
                  <a:pt x="3829918" y="2029857"/>
                </a:lnTo>
                <a:lnTo>
                  <a:pt x="0" y="20298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812447" y="4507898"/>
            <a:ext cx="2529569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  <a:r>
              <a:rPr lang="en-US" b="true" sz="3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anual Analysis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200782" y="5755673"/>
            <a:ext cx="3829918" cy="2029857"/>
          </a:xfrm>
          <a:custGeom>
            <a:avLst/>
            <a:gdLst/>
            <a:ahLst/>
            <a:cxnLst/>
            <a:rect r="r" b="b" t="t" l="l"/>
            <a:pathLst>
              <a:path h="2029857" w="3829918">
                <a:moveTo>
                  <a:pt x="0" y="0"/>
                </a:moveTo>
                <a:lnTo>
                  <a:pt x="3829918" y="0"/>
                </a:lnTo>
                <a:lnTo>
                  <a:pt x="3829918" y="2029857"/>
                </a:lnTo>
                <a:lnTo>
                  <a:pt x="0" y="20298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812447" y="6437883"/>
            <a:ext cx="252956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</a:t>
            </a:r>
            <a:r>
              <a:rPr lang="en-US" b="true" sz="3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indings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3200782" y="7506736"/>
            <a:ext cx="3829918" cy="2029857"/>
          </a:xfrm>
          <a:custGeom>
            <a:avLst/>
            <a:gdLst/>
            <a:ahLst/>
            <a:cxnLst/>
            <a:rect r="r" b="b" t="t" l="l"/>
            <a:pathLst>
              <a:path h="2029857" w="3829918">
                <a:moveTo>
                  <a:pt x="0" y="0"/>
                </a:moveTo>
                <a:lnTo>
                  <a:pt x="3829918" y="0"/>
                </a:lnTo>
                <a:lnTo>
                  <a:pt x="3829918" y="2029856"/>
                </a:lnTo>
                <a:lnTo>
                  <a:pt x="0" y="20298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812447" y="8271305"/>
            <a:ext cx="252956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Report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5400000">
            <a:off x="12422034" y="7662157"/>
            <a:ext cx="1233730" cy="246746"/>
          </a:xfrm>
          <a:custGeom>
            <a:avLst/>
            <a:gdLst/>
            <a:ahLst/>
            <a:cxnLst/>
            <a:rect r="r" b="b" t="t" l="l"/>
            <a:pathLst>
              <a:path h="246746" w="1233730">
                <a:moveTo>
                  <a:pt x="0" y="0"/>
                </a:moveTo>
                <a:lnTo>
                  <a:pt x="1233730" y="0"/>
                </a:lnTo>
                <a:lnTo>
                  <a:pt x="1233730" y="246746"/>
                </a:lnTo>
                <a:lnTo>
                  <a:pt x="0" y="246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235438" y="1264521"/>
            <a:ext cx="3683586" cy="988135"/>
          </a:xfrm>
          <a:custGeom>
            <a:avLst/>
            <a:gdLst/>
            <a:ahLst/>
            <a:cxnLst/>
            <a:rect r="r" b="b" t="t" l="l"/>
            <a:pathLst>
              <a:path h="988135" w="3683586">
                <a:moveTo>
                  <a:pt x="0" y="0"/>
                </a:moveTo>
                <a:lnTo>
                  <a:pt x="3683586" y="0"/>
                </a:lnTo>
                <a:lnTo>
                  <a:pt x="3683586" y="988135"/>
                </a:lnTo>
                <a:lnTo>
                  <a:pt x="0" y="9881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80" t="0" r="-120459" b="-65246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484109" y="1223956"/>
            <a:ext cx="309294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EBEBE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EXISTING SYSTEM FLOW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5400000">
            <a:off x="12422034" y="4121793"/>
            <a:ext cx="1233730" cy="246746"/>
          </a:xfrm>
          <a:custGeom>
            <a:avLst/>
            <a:gdLst/>
            <a:ahLst/>
            <a:cxnLst/>
            <a:rect r="r" b="b" t="t" l="l"/>
            <a:pathLst>
              <a:path h="246746" w="1233730">
                <a:moveTo>
                  <a:pt x="0" y="0"/>
                </a:moveTo>
                <a:lnTo>
                  <a:pt x="1233730" y="0"/>
                </a:lnTo>
                <a:lnTo>
                  <a:pt x="1233730" y="246746"/>
                </a:lnTo>
                <a:lnTo>
                  <a:pt x="0" y="246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400000">
            <a:off x="12460902" y="2374923"/>
            <a:ext cx="1233730" cy="246746"/>
          </a:xfrm>
          <a:custGeom>
            <a:avLst/>
            <a:gdLst/>
            <a:ahLst/>
            <a:cxnLst/>
            <a:rect r="r" b="b" t="t" l="l"/>
            <a:pathLst>
              <a:path h="246746" w="1233730">
                <a:moveTo>
                  <a:pt x="0" y="0"/>
                </a:moveTo>
                <a:lnTo>
                  <a:pt x="1233730" y="0"/>
                </a:lnTo>
                <a:lnTo>
                  <a:pt x="1233730" y="246746"/>
                </a:lnTo>
                <a:lnTo>
                  <a:pt x="0" y="246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7030700" y="2118576"/>
            <a:ext cx="283984" cy="6209879"/>
            <a:chOff x="0" y="0"/>
            <a:chExt cx="378645" cy="8279838"/>
          </a:xfrm>
        </p:grpSpPr>
        <p:sp>
          <p:nvSpPr>
            <p:cNvPr name="Freeform 22" id="22"/>
            <p:cNvSpPr/>
            <p:nvPr/>
          </p:nvSpPr>
          <p:spPr>
            <a:xfrm flipH="false" flipV="false" rot="5400000">
              <a:off x="-550593" y="5198776"/>
              <a:ext cx="1545197" cy="309039"/>
            </a:xfrm>
            <a:custGeom>
              <a:avLst/>
              <a:gdLst/>
              <a:ahLst/>
              <a:cxnLst/>
              <a:rect r="r" b="b" t="t" l="l"/>
              <a:pathLst>
                <a:path h="309039" w="1545197">
                  <a:moveTo>
                    <a:pt x="0" y="0"/>
                  </a:moveTo>
                  <a:lnTo>
                    <a:pt x="1545197" y="0"/>
                  </a:lnTo>
                  <a:lnTo>
                    <a:pt x="1545197" y="309040"/>
                  </a:lnTo>
                  <a:lnTo>
                    <a:pt x="0" y="309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5400000">
              <a:off x="-569847" y="2918557"/>
              <a:ext cx="1545197" cy="309039"/>
            </a:xfrm>
            <a:custGeom>
              <a:avLst/>
              <a:gdLst/>
              <a:ahLst/>
              <a:cxnLst/>
              <a:rect r="r" b="b" t="t" l="l"/>
              <a:pathLst>
                <a:path h="309039" w="1545197">
                  <a:moveTo>
                    <a:pt x="0" y="0"/>
                  </a:moveTo>
                  <a:lnTo>
                    <a:pt x="1545197" y="0"/>
                  </a:lnTo>
                  <a:lnTo>
                    <a:pt x="1545197" y="309039"/>
                  </a:lnTo>
                  <a:lnTo>
                    <a:pt x="0" y="309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5400000">
              <a:off x="-548473" y="7352720"/>
              <a:ext cx="1545197" cy="309039"/>
            </a:xfrm>
            <a:custGeom>
              <a:avLst/>
              <a:gdLst/>
              <a:ahLst/>
              <a:cxnLst/>
              <a:rect r="r" b="b" t="t" l="l"/>
              <a:pathLst>
                <a:path h="309039" w="1545197">
                  <a:moveTo>
                    <a:pt x="0" y="0"/>
                  </a:moveTo>
                  <a:lnTo>
                    <a:pt x="1545197" y="0"/>
                  </a:lnTo>
                  <a:lnTo>
                    <a:pt x="1545197" y="309039"/>
                  </a:lnTo>
                  <a:lnTo>
                    <a:pt x="0" y="309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5400000">
              <a:off x="-618079" y="618079"/>
              <a:ext cx="1545197" cy="309039"/>
            </a:xfrm>
            <a:custGeom>
              <a:avLst/>
              <a:gdLst/>
              <a:ahLst/>
              <a:cxnLst/>
              <a:rect r="r" b="b" t="t" l="l"/>
              <a:pathLst>
                <a:path h="309039" w="1545197">
                  <a:moveTo>
                    <a:pt x="0" y="0"/>
                  </a:moveTo>
                  <a:lnTo>
                    <a:pt x="1545197" y="0"/>
                  </a:lnTo>
                  <a:lnTo>
                    <a:pt x="1545197" y="309039"/>
                  </a:lnTo>
                  <a:lnTo>
                    <a:pt x="0" y="309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28700" y="1267419"/>
            <a:ext cx="10337808" cy="829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Existing Approach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Retrospective forensic analysis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Evidence reviewed after an incident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Technologies / Techniques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Digital forensic investigation tools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Log and artifact analysis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Timeline reconstruction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Advantages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Detailed evidence examination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Established forensic workflows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Limitations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and time-consuming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Analysis is mainly after-the-fact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Multiple evidence sources may require separate analysis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Limited real-time detection and automated reasoning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87552"/>
            <a:chOff x="0" y="0"/>
            <a:chExt cx="24383390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1F375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45820" y="147828"/>
            <a:ext cx="15864840" cy="56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Proposed System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030700" y="194310"/>
            <a:ext cx="502920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0"/>
              </a:lnSpc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5820" y="9728073"/>
            <a:ext cx="16550640" cy="23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F6973"/>
                </a:solidFill>
                <a:latin typeface="Calibri (MS)"/>
                <a:ea typeface="Calibri (MS)"/>
                <a:cs typeface="Calibri (MS)"/>
                <a:sym typeface="Calibri (MS)"/>
              </a:rPr>
              <a:t>[Department]  |  Project Review – 1  |  [Academic Year]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5400000">
            <a:off x="13940999" y="2292269"/>
            <a:ext cx="718126" cy="201075"/>
          </a:xfrm>
          <a:custGeom>
            <a:avLst/>
            <a:gdLst/>
            <a:ahLst/>
            <a:cxnLst/>
            <a:rect r="r" b="b" t="t" l="l"/>
            <a:pathLst>
              <a:path h="201075" w="718126">
                <a:moveTo>
                  <a:pt x="0" y="0"/>
                </a:moveTo>
                <a:lnTo>
                  <a:pt x="718126" y="0"/>
                </a:lnTo>
                <a:lnTo>
                  <a:pt x="718126" y="201075"/>
                </a:lnTo>
                <a:lnTo>
                  <a:pt x="0" y="20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212812" y="1524947"/>
            <a:ext cx="2375574" cy="748308"/>
            <a:chOff x="0" y="0"/>
            <a:chExt cx="5318228" cy="16752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18228" cy="1675247"/>
            </a:xfrm>
            <a:custGeom>
              <a:avLst/>
              <a:gdLst/>
              <a:ahLst/>
              <a:cxnLst/>
              <a:rect r="r" b="b" t="t" l="l"/>
              <a:pathLst>
                <a:path h="1675247" w="5318228">
                  <a:moveTo>
                    <a:pt x="0" y="279208"/>
                  </a:moveTo>
                  <a:cubicBezTo>
                    <a:pt x="0" y="124995"/>
                    <a:pt x="284724" y="0"/>
                    <a:pt x="636004" y="0"/>
                  </a:cubicBezTo>
                  <a:lnTo>
                    <a:pt x="4682224" y="0"/>
                  </a:lnTo>
                  <a:cubicBezTo>
                    <a:pt x="5033504" y="0"/>
                    <a:pt x="5318228" y="124995"/>
                    <a:pt x="5318228" y="279208"/>
                  </a:cubicBezTo>
                  <a:lnTo>
                    <a:pt x="5318228" y="1396039"/>
                  </a:lnTo>
                  <a:cubicBezTo>
                    <a:pt x="5318228" y="1550252"/>
                    <a:pt x="5033504" y="1675247"/>
                    <a:pt x="4682224" y="1675247"/>
                  </a:cubicBezTo>
                  <a:lnTo>
                    <a:pt x="636004" y="1675247"/>
                  </a:lnTo>
                  <a:cubicBezTo>
                    <a:pt x="284724" y="1675247"/>
                    <a:pt x="0" y="1550252"/>
                    <a:pt x="0" y="1396039"/>
                  </a:cubicBezTo>
                  <a:close/>
                </a:path>
              </a:pathLst>
            </a:custGeom>
            <a:solidFill>
              <a:srgbClr val="F2F6FA"/>
            </a:solidFill>
            <a:ln w="14288" cap="sq">
              <a:solidFill>
                <a:srgbClr val="3465A4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318228" cy="1732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3465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Evidence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5400000">
            <a:off x="13940999" y="3516826"/>
            <a:ext cx="718126" cy="201075"/>
          </a:xfrm>
          <a:custGeom>
            <a:avLst/>
            <a:gdLst/>
            <a:ahLst/>
            <a:cxnLst/>
            <a:rect r="r" b="b" t="t" l="l"/>
            <a:pathLst>
              <a:path h="201075" w="718126">
                <a:moveTo>
                  <a:pt x="0" y="0"/>
                </a:moveTo>
                <a:lnTo>
                  <a:pt x="718126" y="0"/>
                </a:lnTo>
                <a:lnTo>
                  <a:pt x="718126" y="201076"/>
                </a:lnTo>
                <a:lnTo>
                  <a:pt x="0" y="201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2335924" y="2751869"/>
            <a:ext cx="4129350" cy="748308"/>
            <a:chOff x="0" y="0"/>
            <a:chExt cx="9244428" cy="16752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244428" cy="1675247"/>
            </a:xfrm>
            <a:custGeom>
              <a:avLst/>
              <a:gdLst/>
              <a:ahLst/>
              <a:cxnLst/>
              <a:rect r="r" b="b" t="t" l="l"/>
              <a:pathLst>
                <a:path h="1675247" w="9244428">
                  <a:moveTo>
                    <a:pt x="0" y="279208"/>
                  </a:moveTo>
                  <a:cubicBezTo>
                    <a:pt x="0" y="124995"/>
                    <a:pt x="494922" y="0"/>
                    <a:pt x="1105535" y="0"/>
                  </a:cubicBezTo>
                  <a:lnTo>
                    <a:pt x="8138892" y="0"/>
                  </a:lnTo>
                  <a:cubicBezTo>
                    <a:pt x="8749506" y="0"/>
                    <a:pt x="9244428" y="124995"/>
                    <a:pt x="9244428" y="279208"/>
                  </a:cubicBezTo>
                  <a:lnTo>
                    <a:pt x="9244428" y="1396039"/>
                  </a:lnTo>
                  <a:cubicBezTo>
                    <a:pt x="9244428" y="1550252"/>
                    <a:pt x="8749506" y="1675247"/>
                    <a:pt x="8138892" y="1675247"/>
                  </a:cubicBezTo>
                  <a:lnTo>
                    <a:pt x="1105535" y="1675247"/>
                  </a:lnTo>
                  <a:cubicBezTo>
                    <a:pt x="494922" y="1675247"/>
                    <a:pt x="0" y="1550252"/>
                    <a:pt x="0" y="1396039"/>
                  </a:cubicBezTo>
                  <a:close/>
                </a:path>
              </a:pathLst>
            </a:custGeom>
            <a:solidFill>
              <a:srgbClr val="F2F6FA"/>
            </a:solidFill>
            <a:ln w="14288" cap="sq">
              <a:solidFill>
                <a:srgbClr val="3465A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9244428" cy="1732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3465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Fast Extraction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5400000">
            <a:off x="13940999" y="4741384"/>
            <a:ext cx="718126" cy="201075"/>
          </a:xfrm>
          <a:custGeom>
            <a:avLst/>
            <a:gdLst/>
            <a:ahLst/>
            <a:cxnLst/>
            <a:rect r="r" b="b" t="t" l="l"/>
            <a:pathLst>
              <a:path h="201075" w="718126">
                <a:moveTo>
                  <a:pt x="0" y="0"/>
                </a:moveTo>
                <a:lnTo>
                  <a:pt x="718126" y="0"/>
                </a:lnTo>
                <a:lnTo>
                  <a:pt x="718126" y="201076"/>
                </a:lnTo>
                <a:lnTo>
                  <a:pt x="0" y="201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2335924" y="3976427"/>
            <a:ext cx="4129350" cy="748308"/>
            <a:chOff x="0" y="0"/>
            <a:chExt cx="9244428" cy="167524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244428" cy="1675247"/>
            </a:xfrm>
            <a:custGeom>
              <a:avLst/>
              <a:gdLst/>
              <a:ahLst/>
              <a:cxnLst/>
              <a:rect r="r" b="b" t="t" l="l"/>
              <a:pathLst>
                <a:path h="1675247" w="9244428">
                  <a:moveTo>
                    <a:pt x="0" y="279208"/>
                  </a:moveTo>
                  <a:cubicBezTo>
                    <a:pt x="0" y="124995"/>
                    <a:pt x="494922" y="0"/>
                    <a:pt x="1105535" y="0"/>
                  </a:cubicBezTo>
                  <a:lnTo>
                    <a:pt x="8138892" y="0"/>
                  </a:lnTo>
                  <a:cubicBezTo>
                    <a:pt x="8749506" y="0"/>
                    <a:pt x="9244428" y="124995"/>
                    <a:pt x="9244428" y="279208"/>
                  </a:cubicBezTo>
                  <a:lnTo>
                    <a:pt x="9244428" y="1396039"/>
                  </a:lnTo>
                  <a:cubicBezTo>
                    <a:pt x="9244428" y="1550252"/>
                    <a:pt x="8749506" y="1675247"/>
                    <a:pt x="8138892" y="1675247"/>
                  </a:cubicBezTo>
                  <a:lnTo>
                    <a:pt x="1105535" y="1675247"/>
                  </a:lnTo>
                  <a:cubicBezTo>
                    <a:pt x="494922" y="1675247"/>
                    <a:pt x="0" y="1550252"/>
                    <a:pt x="0" y="1396039"/>
                  </a:cubicBezTo>
                  <a:close/>
                </a:path>
              </a:pathLst>
            </a:custGeom>
            <a:solidFill>
              <a:srgbClr val="F2F6FA"/>
            </a:solidFill>
            <a:ln w="14288" cap="sq">
              <a:solidFill>
                <a:srgbClr val="3465A4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9244428" cy="1732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3465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Knowledge Base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5400000">
            <a:off x="13940999" y="5965942"/>
            <a:ext cx="718126" cy="201075"/>
          </a:xfrm>
          <a:custGeom>
            <a:avLst/>
            <a:gdLst/>
            <a:ahLst/>
            <a:cxnLst/>
            <a:rect r="r" b="b" t="t" l="l"/>
            <a:pathLst>
              <a:path h="201075" w="718126">
                <a:moveTo>
                  <a:pt x="0" y="0"/>
                </a:moveTo>
                <a:lnTo>
                  <a:pt x="718126" y="0"/>
                </a:lnTo>
                <a:lnTo>
                  <a:pt x="718126" y="201076"/>
                </a:lnTo>
                <a:lnTo>
                  <a:pt x="0" y="201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2335924" y="5200170"/>
            <a:ext cx="4129350" cy="748308"/>
            <a:chOff x="0" y="0"/>
            <a:chExt cx="9244428" cy="167524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244428" cy="1675247"/>
            </a:xfrm>
            <a:custGeom>
              <a:avLst/>
              <a:gdLst/>
              <a:ahLst/>
              <a:cxnLst/>
              <a:rect r="r" b="b" t="t" l="l"/>
              <a:pathLst>
                <a:path h="1675247" w="9244428">
                  <a:moveTo>
                    <a:pt x="0" y="279208"/>
                  </a:moveTo>
                  <a:cubicBezTo>
                    <a:pt x="0" y="124995"/>
                    <a:pt x="494922" y="0"/>
                    <a:pt x="1105535" y="0"/>
                  </a:cubicBezTo>
                  <a:lnTo>
                    <a:pt x="8138892" y="0"/>
                  </a:lnTo>
                  <a:cubicBezTo>
                    <a:pt x="8749506" y="0"/>
                    <a:pt x="9244428" y="124995"/>
                    <a:pt x="9244428" y="279208"/>
                  </a:cubicBezTo>
                  <a:lnTo>
                    <a:pt x="9244428" y="1396039"/>
                  </a:lnTo>
                  <a:cubicBezTo>
                    <a:pt x="9244428" y="1550252"/>
                    <a:pt x="8749506" y="1675247"/>
                    <a:pt x="8138892" y="1675247"/>
                  </a:cubicBezTo>
                  <a:lnTo>
                    <a:pt x="1105535" y="1675247"/>
                  </a:lnTo>
                  <a:cubicBezTo>
                    <a:pt x="494922" y="1675247"/>
                    <a:pt x="0" y="1550252"/>
                    <a:pt x="0" y="1396039"/>
                  </a:cubicBezTo>
                  <a:close/>
                </a:path>
              </a:pathLst>
            </a:custGeom>
            <a:solidFill>
              <a:srgbClr val="F2F6FA"/>
            </a:solidFill>
            <a:ln w="14288" cap="sq">
              <a:solidFill>
                <a:srgbClr val="3465A4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9244428" cy="1732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3465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Forward Chaining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5400000">
            <a:off x="13940999" y="7190500"/>
            <a:ext cx="718126" cy="201075"/>
          </a:xfrm>
          <a:custGeom>
            <a:avLst/>
            <a:gdLst/>
            <a:ahLst/>
            <a:cxnLst/>
            <a:rect r="r" b="b" t="t" l="l"/>
            <a:pathLst>
              <a:path h="201075" w="718126">
                <a:moveTo>
                  <a:pt x="0" y="0"/>
                </a:moveTo>
                <a:lnTo>
                  <a:pt x="718126" y="0"/>
                </a:lnTo>
                <a:lnTo>
                  <a:pt x="718126" y="201076"/>
                </a:lnTo>
                <a:lnTo>
                  <a:pt x="0" y="201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3212812" y="6423913"/>
            <a:ext cx="2375574" cy="748308"/>
            <a:chOff x="0" y="0"/>
            <a:chExt cx="5318228" cy="167524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18228" cy="1675247"/>
            </a:xfrm>
            <a:custGeom>
              <a:avLst/>
              <a:gdLst/>
              <a:ahLst/>
              <a:cxnLst/>
              <a:rect r="r" b="b" t="t" l="l"/>
              <a:pathLst>
                <a:path h="1675247" w="5318228">
                  <a:moveTo>
                    <a:pt x="0" y="279208"/>
                  </a:moveTo>
                  <a:cubicBezTo>
                    <a:pt x="0" y="124995"/>
                    <a:pt x="284724" y="0"/>
                    <a:pt x="636004" y="0"/>
                  </a:cubicBezTo>
                  <a:lnTo>
                    <a:pt x="4682224" y="0"/>
                  </a:lnTo>
                  <a:cubicBezTo>
                    <a:pt x="5033504" y="0"/>
                    <a:pt x="5318228" y="124995"/>
                    <a:pt x="5318228" y="279208"/>
                  </a:cubicBezTo>
                  <a:lnTo>
                    <a:pt x="5318228" y="1396039"/>
                  </a:lnTo>
                  <a:cubicBezTo>
                    <a:pt x="5318228" y="1550252"/>
                    <a:pt x="5033504" y="1675247"/>
                    <a:pt x="4682224" y="1675247"/>
                  </a:cubicBezTo>
                  <a:lnTo>
                    <a:pt x="636004" y="1675247"/>
                  </a:lnTo>
                  <a:cubicBezTo>
                    <a:pt x="284724" y="1675247"/>
                    <a:pt x="0" y="1550252"/>
                    <a:pt x="0" y="1396039"/>
                  </a:cubicBezTo>
                  <a:close/>
                </a:path>
              </a:pathLst>
            </a:custGeom>
            <a:solidFill>
              <a:srgbClr val="F2F6FA"/>
            </a:solidFill>
            <a:ln w="14288" cap="sq">
              <a:solidFill>
                <a:srgbClr val="3465A4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5318228" cy="1732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3465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Findings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5400000">
            <a:off x="13940999" y="8415058"/>
            <a:ext cx="718126" cy="201075"/>
          </a:xfrm>
          <a:custGeom>
            <a:avLst/>
            <a:gdLst/>
            <a:ahLst/>
            <a:cxnLst/>
            <a:rect r="r" b="b" t="t" l="l"/>
            <a:pathLst>
              <a:path h="201075" w="718126">
                <a:moveTo>
                  <a:pt x="0" y="0"/>
                </a:moveTo>
                <a:lnTo>
                  <a:pt x="718126" y="0"/>
                </a:lnTo>
                <a:lnTo>
                  <a:pt x="718126" y="201075"/>
                </a:lnTo>
                <a:lnTo>
                  <a:pt x="0" y="20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2335924" y="7626277"/>
            <a:ext cx="4129350" cy="748308"/>
            <a:chOff x="0" y="0"/>
            <a:chExt cx="9244428" cy="167524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244428" cy="1675247"/>
            </a:xfrm>
            <a:custGeom>
              <a:avLst/>
              <a:gdLst/>
              <a:ahLst/>
              <a:cxnLst/>
              <a:rect r="r" b="b" t="t" l="l"/>
              <a:pathLst>
                <a:path h="1675247" w="9244428">
                  <a:moveTo>
                    <a:pt x="0" y="279208"/>
                  </a:moveTo>
                  <a:cubicBezTo>
                    <a:pt x="0" y="124995"/>
                    <a:pt x="494922" y="0"/>
                    <a:pt x="1105535" y="0"/>
                  </a:cubicBezTo>
                  <a:lnTo>
                    <a:pt x="8138892" y="0"/>
                  </a:lnTo>
                  <a:cubicBezTo>
                    <a:pt x="8749506" y="0"/>
                    <a:pt x="9244428" y="124995"/>
                    <a:pt x="9244428" y="279208"/>
                  </a:cubicBezTo>
                  <a:lnTo>
                    <a:pt x="9244428" y="1396039"/>
                  </a:lnTo>
                  <a:cubicBezTo>
                    <a:pt x="9244428" y="1550252"/>
                    <a:pt x="8749506" y="1675247"/>
                    <a:pt x="8138892" y="1675247"/>
                  </a:cubicBezTo>
                  <a:lnTo>
                    <a:pt x="1105535" y="1675247"/>
                  </a:lnTo>
                  <a:cubicBezTo>
                    <a:pt x="494922" y="1675247"/>
                    <a:pt x="0" y="1550252"/>
                    <a:pt x="0" y="1396039"/>
                  </a:cubicBezTo>
                  <a:close/>
                </a:path>
              </a:pathLst>
            </a:custGeom>
            <a:solidFill>
              <a:srgbClr val="F2F6FA"/>
            </a:solidFill>
            <a:ln w="14288" cap="sq">
              <a:solidFill>
                <a:srgbClr val="3465A4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9244428" cy="1732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3465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 + Timeline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212812" y="8828641"/>
            <a:ext cx="2375574" cy="748308"/>
            <a:chOff x="0" y="0"/>
            <a:chExt cx="5318228" cy="167524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318228" cy="1675247"/>
            </a:xfrm>
            <a:custGeom>
              <a:avLst/>
              <a:gdLst/>
              <a:ahLst/>
              <a:cxnLst/>
              <a:rect r="r" b="b" t="t" l="l"/>
              <a:pathLst>
                <a:path h="1675247" w="5318228">
                  <a:moveTo>
                    <a:pt x="0" y="279208"/>
                  </a:moveTo>
                  <a:cubicBezTo>
                    <a:pt x="0" y="124995"/>
                    <a:pt x="284724" y="0"/>
                    <a:pt x="636004" y="0"/>
                  </a:cubicBezTo>
                  <a:lnTo>
                    <a:pt x="4682224" y="0"/>
                  </a:lnTo>
                  <a:cubicBezTo>
                    <a:pt x="5033504" y="0"/>
                    <a:pt x="5318228" y="124995"/>
                    <a:pt x="5318228" y="279208"/>
                  </a:cubicBezTo>
                  <a:lnTo>
                    <a:pt x="5318228" y="1396039"/>
                  </a:lnTo>
                  <a:cubicBezTo>
                    <a:pt x="5318228" y="1550252"/>
                    <a:pt x="5033504" y="1675247"/>
                    <a:pt x="4682224" y="1675247"/>
                  </a:cubicBezTo>
                  <a:lnTo>
                    <a:pt x="636004" y="1675247"/>
                  </a:lnTo>
                  <a:cubicBezTo>
                    <a:pt x="284724" y="1675247"/>
                    <a:pt x="0" y="1550252"/>
                    <a:pt x="0" y="1396039"/>
                  </a:cubicBezTo>
                  <a:close/>
                </a:path>
              </a:pathLst>
            </a:custGeom>
            <a:solidFill>
              <a:srgbClr val="F2F6FA"/>
            </a:solidFill>
            <a:ln w="14288" cap="sq">
              <a:solidFill>
                <a:srgbClr val="3465A4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5318228" cy="1732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3465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Report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586541" y="1467797"/>
            <a:ext cx="12091045" cy="491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Proposed Approach</a:t>
            </a:r>
          </a:p>
          <a:p>
            <a:pPr algn="l" marL="690881" indent="-34544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AI-based digital forensic assistant</a:t>
            </a:r>
          </a:p>
          <a:p>
            <a:pPr algn="l" marL="690881" indent="-34544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Rule-Based Expert System using Forward Chaining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</a:p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Features</a:t>
            </a:r>
          </a:p>
          <a:p>
            <a:pPr algn="l" marL="690881" indent="-34544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Multi-source evidence analysis</a:t>
            </a:r>
          </a:p>
          <a:p>
            <a:pPr algn="l" marL="690881" indent="-34544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Explainable rule-based findings</a:t>
            </a:r>
          </a:p>
          <a:p>
            <a:pPr algn="l" marL="690881" indent="-34544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Risk scoring + event timeline</a:t>
            </a:r>
          </a:p>
          <a:p>
            <a:pPr algn="l" marL="690881" indent="-34544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evidence monitoring</a:t>
            </a:r>
          </a:p>
          <a:p>
            <a:pPr algn="l" marL="690881" indent="-34544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Automated forensic report generation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43889" y="6858947"/>
            <a:ext cx="6070898" cy="248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Expected Outcome</a:t>
            </a:r>
          </a:p>
          <a:p>
            <a:pPr algn="l" marL="690881" indent="-34544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Faster investigation</a:t>
            </a:r>
          </a:p>
          <a:p>
            <a:pPr algn="l" marL="690881" indent="-34544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Explainable findings</a:t>
            </a:r>
          </a:p>
          <a:p>
            <a:pPr algn="l" marL="690881" indent="-34544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Continuous evidence monitoring</a:t>
            </a:r>
          </a:p>
          <a:p>
            <a:pPr algn="l" marL="690881" indent="-34544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Structured forensic reports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87552"/>
            <a:chOff x="0" y="0"/>
            <a:chExt cx="24383390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1F375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45820" y="147828"/>
            <a:ext cx="15864840" cy="56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System Architecture / Block Diagram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030700" y="194310"/>
            <a:ext cx="502920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0"/>
              </a:lnSpc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5400000">
            <a:off x="8762077" y="2920919"/>
            <a:ext cx="718126" cy="201075"/>
          </a:xfrm>
          <a:custGeom>
            <a:avLst/>
            <a:gdLst/>
            <a:ahLst/>
            <a:cxnLst/>
            <a:rect r="r" b="b" t="t" l="l"/>
            <a:pathLst>
              <a:path h="201075" w="718126">
                <a:moveTo>
                  <a:pt x="0" y="0"/>
                </a:moveTo>
                <a:lnTo>
                  <a:pt x="718126" y="0"/>
                </a:lnTo>
                <a:lnTo>
                  <a:pt x="718126" y="201075"/>
                </a:lnTo>
                <a:lnTo>
                  <a:pt x="0" y="20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765256" y="1340799"/>
            <a:ext cx="2757488" cy="1385888"/>
            <a:chOff x="0" y="0"/>
            <a:chExt cx="3676650" cy="18478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76650" cy="1847850"/>
            </a:xfrm>
            <a:custGeom>
              <a:avLst/>
              <a:gdLst/>
              <a:ahLst/>
              <a:cxnLst/>
              <a:rect r="r" b="b" t="t" l="l"/>
              <a:pathLst>
                <a:path h="1847850" w="3676650">
                  <a:moveTo>
                    <a:pt x="0" y="307975"/>
                  </a:moveTo>
                  <a:cubicBezTo>
                    <a:pt x="0" y="137922"/>
                    <a:pt x="137922" y="0"/>
                    <a:pt x="307975" y="0"/>
                  </a:cubicBezTo>
                  <a:lnTo>
                    <a:pt x="3368675" y="0"/>
                  </a:lnTo>
                  <a:cubicBezTo>
                    <a:pt x="3538728" y="0"/>
                    <a:pt x="3676650" y="137922"/>
                    <a:pt x="3676650" y="307975"/>
                  </a:cubicBezTo>
                  <a:lnTo>
                    <a:pt x="3676650" y="1539875"/>
                  </a:lnTo>
                  <a:cubicBezTo>
                    <a:pt x="3676650" y="1709928"/>
                    <a:pt x="3538728" y="1847850"/>
                    <a:pt x="3368675" y="1847850"/>
                  </a:cubicBezTo>
                  <a:lnTo>
                    <a:pt x="307975" y="1847850"/>
                  </a:lnTo>
                  <a:cubicBezTo>
                    <a:pt x="137922" y="1847850"/>
                    <a:pt x="0" y="1709928"/>
                    <a:pt x="0" y="1539875"/>
                  </a:cubicBezTo>
                  <a:close/>
                </a:path>
              </a:pathLst>
            </a:custGeom>
            <a:solidFill>
              <a:srgbClr val="F2F6FA"/>
            </a:solidFill>
            <a:ln w="14288" cap="sq">
              <a:solidFill>
                <a:srgbClr val="3465A4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3676650" cy="1914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465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EVIDENCE SOURCES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3380519"/>
            <a:ext cx="16230600" cy="1762981"/>
            <a:chOff x="0" y="0"/>
            <a:chExt cx="4118747" cy="44738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18747" cy="447382"/>
            </a:xfrm>
            <a:custGeom>
              <a:avLst/>
              <a:gdLst/>
              <a:ahLst/>
              <a:cxnLst/>
              <a:rect r="r" b="b" t="t" l="l"/>
              <a:pathLst>
                <a:path h="447382" w="4118747">
                  <a:moveTo>
                    <a:pt x="9316" y="0"/>
                  </a:moveTo>
                  <a:lnTo>
                    <a:pt x="4109430" y="0"/>
                  </a:lnTo>
                  <a:cubicBezTo>
                    <a:pt x="4114576" y="0"/>
                    <a:pt x="4118747" y="4171"/>
                    <a:pt x="4118747" y="9316"/>
                  </a:cubicBezTo>
                  <a:lnTo>
                    <a:pt x="4118747" y="438065"/>
                  </a:lnTo>
                  <a:cubicBezTo>
                    <a:pt x="4118747" y="443211"/>
                    <a:pt x="4114576" y="447382"/>
                    <a:pt x="4109430" y="447382"/>
                  </a:cubicBezTo>
                  <a:lnTo>
                    <a:pt x="9316" y="447382"/>
                  </a:lnTo>
                  <a:cubicBezTo>
                    <a:pt x="4171" y="447382"/>
                    <a:pt x="0" y="443211"/>
                    <a:pt x="0" y="438065"/>
                  </a:cubicBezTo>
                  <a:lnTo>
                    <a:pt x="0" y="9316"/>
                  </a:lnTo>
                  <a:cubicBezTo>
                    <a:pt x="0" y="4171"/>
                    <a:pt x="4171" y="0"/>
                    <a:pt x="9316" y="0"/>
                  </a:cubicBezTo>
                  <a:close/>
                </a:path>
              </a:pathLst>
            </a:custGeom>
            <a:solidFill>
              <a:srgbClr val="1F3756">
                <a:alpha val="48627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118747" cy="466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43025" y="3559016"/>
            <a:ext cx="3031808" cy="1385888"/>
            <a:chOff x="0" y="0"/>
            <a:chExt cx="4042410" cy="18478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42410" cy="1847850"/>
            </a:xfrm>
            <a:custGeom>
              <a:avLst/>
              <a:gdLst/>
              <a:ahLst/>
              <a:cxnLst/>
              <a:rect r="r" b="b" t="t" l="l"/>
              <a:pathLst>
                <a:path h="1847850" w="4042410">
                  <a:moveTo>
                    <a:pt x="0" y="307975"/>
                  </a:moveTo>
                  <a:cubicBezTo>
                    <a:pt x="0" y="137922"/>
                    <a:pt x="137922" y="0"/>
                    <a:pt x="307975" y="0"/>
                  </a:cubicBezTo>
                  <a:lnTo>
                    <a:pt x="3734435" y="0"/>
                  </a:lnTo>
                  <a:cubicBezTo>
                    <a:pt x="3904488" y="0"/>
                    <a:pt x="4042410" y="137922"/>
                    <a:pt x="4042410" y="307975"/>
                  </a:cubicBezTo>
                  <a:lnTo>
                    <a:pt x="4042410" y="1539875"/>
                  </a:lnTo>
                  <a:cubicBezTo>
                    <a:pt x="4042410" y="1709928"/>
                    <a:pt x="3904488" y="1847850"/>
                    <a:pt x="3734435" y="1847850"/>
                  </a:cubicBezTo>
                  <a:lnTo>
                    <a:pt x="307975" y="1847850"/>
                  </a:lnTo>
                  <a:cubicBezTo>
                    <a:pt x="137922" y="1847850"/>
                    <a:pt x="0" y="1709928"/>
                    <a:pt x="0" y="1539875"/>
                  </a:cubicBezTo>
                  <a:close/>
                </a:path>
              </a:pathLst>
            </a:custGeom>
            <a:solidFill>
              <a:srgbClr val="F2F6FA"/>
            </a:solidFill>
            <a:ln w="14288" cap="sq">
              <a:solidFill>
                <a:srgbClr val="3465A4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4042410" cy="1914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465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EVIDENCE ANALYZERS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060632" y="3559016"/>
            <a:ext cx="3717608" cy="1385888"/>
            <a:chOff x="0" y="0"/>
            <a:chExt cx="4956810" cy="1847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56810" cy="1847850"/>
            </a:xfrm>
            <a:custGeom>
              <a:avLst/>
              <a:gdLst/>
              <a:ahLst/>
              <a:cxnLst/>
              <a:rect r="r" b="b" t="t" l="l"/>
              <a:pathLst>
                <a:path h="1847850" w="4956810">
                  <a:moveTo>
                    <a:pt x="0" y="307975"/>
                  </a:moveTo>
                  <a:cubicBezTo>
                    <a:pt x="0" y="137922"/>
                    <a:pt x="137922" y="0"/>
                    <a:pt x="307975" y="0"/>
                  </a:cubicBezTo>
                  <a:lnTo>
                    <a:pt x="4648835" y="0"/>
                  </a:lnTo>
                  <a:cubicBezTo>
                    <a:pt x="4818888" y="0"/>
                    <a:pt x="4956810" y="137922"/>
                    <a:pt x="4956810" y="307975"/>
                  </a:cubicBezTo>
                  <a:lnTo>
                    <a:pt x="4956810" y="1539875"/>
                  </a:lnTo>
                  <a:cubicBezTo>
                    <a:pt x="4956810" y="1709928"/>
                    <a:pt x="4818888" y="1847850"/>
                    <a:pt x="4648835" y="1847850"/>
                  </a:cubicBezTo>
                  <a:lnTo>
                    <a:pt x="307975" y="1847850"/>
                  </a:lnTo>
                  <a:cubicBezTo>
                    <a:pt x="137922" y="1847850"/>
                    <a:pt x="0" y="1709928"/>
                    <a:pt x="0" y="1539875"/>
                  </a:cubicBezTo>
                  <a:close/>
                </a:path>
              </a:pathLst>
            </a:custGeom>
            <a:solidFill>
              <a:srgbClr val="F2F6FA"/>
            </a:solidFill>
            <a:ln w="14288" cap="sq">
              <a:solidFill>
                <a:srgbClr val="3465A4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4956810" cy="1914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465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FAST EXTRACTION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464188" y="3556778"/>
            <a:ext cx="4195017" cy="1385888"/>
            <a:chOff x="0" y="0"/>
            <a:chExt cx="4857109" cy="16046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857109" cy="1604620"/>
            </a:xfrm>
            <a:custGeom>
              <a:avLst/>
              <a:gdLst/>
              <a:ahLst/>
              <a:cxnLst/>
              <a:rect r="r" b="b" t="t" l="l"/>
              <a:pathLst>
                <a:path h="1604620" w="4857109">
                  <a:moveTo>
                    <a:pt x="0" y="267437"/>
                  </a:moveTo>
                  <a:cubicBezTo>
                    <a:pt x="0" y="119767"/>
                    <a:pt x="191742" y="0"/>
                    <a:pt x="428153" y="0"/>
                  </a:cubicBezTo>
                  <a:lnTo>
                    <a:pt x="4428956" y="0"/>
                  </a:lnTo>
                  <a:cubicBezTo>
                    <a:pt x="4665368" y="0"/>
                    <a:pt x="4857109" y="119767"/>
                    <a:pt x="4857109" y="267437"/>
                  </a:cubicBezTo>
                  <a:lnTo>
                    <a:pt x="4857109" y="1337183"/>
                  </a:lnTo>
                  <a:cubicBezTo>
                    <a:pt x="4857109" y="1484852"/>
                    <a:pt x="4665368" y="1604620"/>
                    <a:pt x="4428956" y="1604620"/>
                  </a:cubicBezTo>
                  <a:lnTo>
                    <a:pt x="428153" y="1604620"/>
                  </a:lnTo>
                  <a:cubicBezTo>
                    <a:pt x="191742" y="1604620"/>
                    <a:pt x="0" y="1484852"/>
                    <a:pt x="0" y="1337183"/>
                  </a:cubicBezTo>
                  <a:close/>
                </a:path>
              </a:pathLst>
            </a:custGeom>
            <a:solidFill>
              <a:srgbClr val="F2F6FA"/>
            </a:solidFill>
            <a:ln w="14288" cap="sq">
              <a:solidFill>
                <a:srgbClr val="3465A4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4857109" cy="16712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b="true" sz="3000">
                  <a:solidFill>
                    <a:srgbClr val="3465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KNOWLEDGE BASE + FORWARD CHAINING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336847" y="8363806"/>
            <a:ext cx="3613849" cy="1385888"/>
            <a:chOff x="0" y="0"/>
            <a:chExt cx="4818465" cy="18478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18465" cy="1847850"/>
            </a:xfrm>
            <a:custGeom>
              <a:avLst/>
              <a:gdLst/>
              <a:ahLst/>
              <a:cxnLst/>
              <a:rect r="r" b="b" t="t" l="l"/>
              <a:pathLst>
                <a:path h="1847850" w="4818465">
                  <a:moveTo>
                    <a:pt x="0" y="307975"/>
                  </a:moveTo>
                  <a:cubicBezTo>
                    <a:pt x="0" y="137922"/>
                    <a:pt x="180755" y="0"/>
                    <a:pt x="403619" y="0"/>
                  </a:cubicBezTo>
                  <a:lnTo>
                    <a:pt x="4414846" y="0"/>
                  </a:lnTo>
                  <a:cubicBezTo>
                    <a:pt x="4637711" y="0"/>
                    <a:pt x="4818465" y="137922"/>
                    <a:pt x="4818465" y="307975"/>
                  </a:cubicBezTo>
                  <a:lnTo>
                    <a:pt x="4818465" y="1539875"/>
                  </a:lnTo>
                  <a:cubicBezTo>
                    <a:pt x="4818465" y="1709928"/>
                    <a:pt x="4637711" y="1847850"/>
                    <a:pt x="4414846" y="1847850"/>
                  </a:cubicBezTo>
                  <a:lnTo>
                    <a:pt x="403619" y="1847850"/>
                  </a:lnTo>
                  <a:cubicBezTo>
                    <a:pt x="180755" y="1847850"/>
                    <a:pt x="0" y="1709928"/>
                    <a:pt x="0" y="1539875"/>
                  </a:cubicBezTo>
                  <a:close/>
                </a:path>
              </a:pathLst>
            </a:custGeom>
            <a:solidFill>
              <a:srgbClr val="F2F6FA"/>
            </a:solidFill>
            <a:ln w="14288" cap="sq">
              <a:solidFill>
                <a:srgbClr val="3465A4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4818465" cy="1914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465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REPORTS/ALERTS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45820" y="9728073"/>
            <a:ext cx="16550640" cy="23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F6973"/>
                </a:solidFill>
                <a:latin typeface="Calibri (MS)"/>
                <a:ea typeface="Calibri (MS)"/>
                <a:cs typeface="Calibri (MS)"/>
                <a:sym typeface="Calibri (MS)"/>
              </a:rPr>
              <a:t>[Department]  |  Project Review – 1  |  [Academic Year]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4273212" y="3559016"/>
            <a:ext cx="2757488" cy="1385888"/>
            <a:chOff x="0" y="0"/>
            <a:chExt cx="3676650" cy="18478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76650" cy="1847850"/>
            </a:xfrm>
            <a:custGeom>
              <a:avLst/>
              <a:gdLst/>
              <a:ahLst/>
              <a:cxnLst/>
              <a:rect r="r" b="b" t="t" l="l"/>
              <a:pathLst>
                <a:path h="1847850" w="3676650">
                  <a:moveTo>
                    <a:pt x="0" y="307975"/>
                  </a:moveTo>
                  <a:cubicBezTo>
                    <a:pt x="0" y="137922"/>
                    <a:pt x="137922" y="0"/>
                    <a:pt x="307975" y="0"/>
                  </a:cubicBezTo>
                  <a:lnTo>
                    <a:pt x="3368675" y="0"/>
                  </a:lnTo>
                  <a:cubicBezTo>
                    <a:pt x="3538728" y="0"/>
                    <a:pt x="3676650" y="137922"/>
                    <a:pt x="3676650" y="307975"/>
                  </a:cubicBezTo>
                  <a:lnTo>
                    <a:pt x="3676650" y="1539875"/>
                  </a:lnTo>
                  <a:cubicBezTo>
                    <a:pt x="3676650" y="1709928"/>
                    <a:pt x="3538728" y="1847850"/>
                    <a:pt x="3368675" y="1847850"/>
                  </a:cubicBezTo>
                  <a:lnTo>
                    <a:pt x="307975" y="1847850"/>
                  </a:lnTo>
                  <a:cubicBezTo>
                    <a:pt x="137922" y="1847850"/>
                    <a:pt x="0" y="1709928"/>
                    <a:pt x="0" y="1539875"/>
                  </a:cubicBezTo>
                  <a:close/>
                </a:path>
              </a:pathLst>
            </a:custGeom>
            <a:solidFill>
              <a:srgbClr val="F2F6FA"/>
            </a:solidFill>
            <a:ln w="14288" cap="sq">
              <a:solidFill>
                <a:srgbClr val="3465A4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3676650" cy="1914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465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FINDINGS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454146" y="5972175"/>
            <a:ext cx="9379708" cy="1762981"/>
            <a:chOff x="0" y="0"/>
            <a:chExt cx="2380235" cy="44738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380235" cy="447382"/>
            </a:xfrm>
            <a:custGeom>
              <a:avLst/>
              <a:gdLst/>
              <a:ahLst/>
              <a:cxnLst/>
              <a:rect r="r" b="b" t="t" l="l"/>
              <a:pathLst>
                <a:path h="447382" w="2380235">
                  <a:moveTo>
                    <a:pt x="16121" y="0"/>
                  </a:moveTo>
                  <a:lnTo>
                    <a:pt x="2364114" y="0"/>
                  </a:lnTo>
                  <a:cubicBezTo>
                    <a:pt x="2373018" y="0"/>
                    <a:pt x="2380235" y="7218"/>
                    <a:pt x="2380235" y="16121"/>
                  </a:cubicBezTo>
                  <a:lnTo>
                    <a:pt x="2380235" y="431261"/>
                  </a:lnTo>
                  <a:cubicBezTo>
                    <a:pt x="2380235" y="440164"/>
                    <a:pt x="2373018" y="447382"/>
                    <a:pt x="2364114" y="447382"/>
                  </a:cubicBezTo>
                  <a:lnTo>
                    <a:pt x="16121" y="447382"/>
                  </a:lnTo>
                  <a:cubicBezTo>
                    <a:pt x="11845" y="447382"/>
                    <a:pt x="7745" y="445683"/>
                    <a:pt x="4722" y="442660"/>
                  </a:cubicBezTo>
                  <a:cubicBezTo>
                    <a:pt x="1698" y="439637"/>
                    <a:pt x="0" y="435536"/>
                    <a:pt x="0" y="431261"/>
                  </a:cubicBezTo>
                  <a:lnTo>
                    <a:pt x="0" y="16121"/>
                  </a:lnTo>
                  <a:cubicBezTo>
                    <a:pt x="0" y="7218"/>
                    <a:pt x="7218" y="0"/>
                    <a:pt x="16121" y="0"/>
                  </a:cubicBezTo>
                  <a:close/>
                </a:path>
              </a:pathLst>
            </a:custGeom>
            <a:solidFill>
              <a:srgbClr val="1F3756">
                <a:alpha val="48627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2380235" cy="466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063731" y="6160722"/>
            <a:ext cx="3717608" cy="1385888"/>
            <a:chOff x="0" y="0"/>
            <a:chExt cx="4956810" cy="18478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56810" cy="1847850"/>
            </a:xfrm>
            <a:custGeom>
              <a:avLst/>
              <a:gdLst/>
              <a:ahLst/>
              <a:cxnLst/>
              <a:rect r="r" b="b" t="t" l="l"/>
              <a:pathLst>
                <a:path h="1847850" w="4956810">
                  <a:moveTo>
                    <a:pt x="0" y="307975"/>
                  </a:moveTo>
                  <a:cubicBezTo>
                    <a:pt x="0" y="137922"/>
                    <a:pt x="137922" y="0"/>
                    <a:pt x="307975" y="0"/>
                  </a:cubicBezTo>
                  <a:lnTo>
                    <a:pt x="4648835" y="0"/>
                  </a:lnTo>
                  <a:cubicBezTo>
                    <a:pt x="4818888" y="0"/>
                    <a:pt x="4956810" y="137922"/>
                    <a:pt x="4956810" y="307975"/>
                  </a:cubicBezTo>
                  <a:lnTo>
                    <a:pt x="4956810" y="1539875"/>
                  </a:lnTo>
                  <a:cubicBezTo>
                    <a:pt x="4956810" y="1709928"/>
                    <a:pt x="4818888" y="1847850"/>
                    <a:pt x="4648835" y="1847850"/>
                  </a:cubicBezTo>
                  <a:lnTo>
                    <a:pt x="307975" y="1847850"/>
                  </a:lnTo>
                  <a:cubicBezTo>
                    <a:pt x="137922" y="1847850"/>
                    <a:pt x="0" y="1709928"/>
                    <a:pt x="0" y="1539875"/>
                  </a:cubicBezTo>
                  <a:close/>
                </a:path>
              </a:pathLst>
            </a:custGeom>
            <a:solidFill>
              <a:srgbClr val="F2F6FA"/>
            </a:solidFill>
            <a:ln w="14288" cap="sq">
              <a:solidFill>
                <a:srgbClr val="3465A4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4956810" cy="1914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465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 SCORE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495713" y="6160722"/>
            <a:ext cx="3717608" cy="1385888"/>
            <a:chOff x="0" y="0"/>
            <a:chExt cx="4956810" cy="18478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956810" cy="1847850"/>
            </a:xfrm>
            <a:custGeom>
              <a:avLst/>
              <a:gdLst/>
              <a:ahLst/>
              <a:cxnLst/>
              <a:rect r="r" b="b" t="t" l="l"/>
              <a:pathLst>
                <a:path h="1847850" w="4956810">
                  <a:moveTo>
                    <a:pt x="0" y="307975"/>
                  </a:moveTo>
                  <a:cubicBezTo>
                    <a:pt x="0" y="137922"/>
                    <a:pt x="137922" y="0"/>
                    <a:pt x="307975" y="0"/>
                  </a:cubicBezTo>
                  <a:lnTo>
                    <a:pt x="4648835" y="0"/>
                  </a:lnTo>
                  <a:cubicBezTo>
                    <a:pt x="4818888" y="0"/>
                    <a:pt x="4956810" y="137922"/>
                    <a:pt x="4956810" y="307975"/>
                  </a:cubicBezTo>
                  <a:lnTo>
                    <a:pt x="4956810" y="1539875"/>
                  </a:lnTo>
                  <a:cubicBezTo>
                    <a:pt x="4956810" y="1709928"/>
                    <a:pt x="4818888" y="1847850"/>
                    <a:pt x="4648835" y="1847850"/>
                  </a:cubicBezTo>
                  <a:lnTo>
                    <a:pt x="307975" y="1847850"/>
                  </a:lnTo>
                  <a:cubicBezTo>
                    <a:pt x="137922" y="1847850"/>
                    <a:pt x="0" y="1709928"/>
                    <a:pt x="0" y="1539875"/>
                  </a:cubicBezTo>
                  <a:close/>
                </a:path>
              </a:pathLst>
            </a:custGeom>
            <a:solidFill>
              <a:srgbClr val="F2F6FA"/>
            </a:solidFill>
            <a:ln w="14288" cap="sq">
              <a:solidFill>
                <a:srgbClr val="3465A4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4956810" cy="1914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465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TIMELINE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5400000">
            <a:off x="8762077" y="5398274"/>
            <a:ext cx="718126" cy="201075"/>
          </a:xfrm>
          <a:custGeom>
            <a:avLst/>
            <a:gdLst/>
            <a:ahLst/>
            <a:cxnLst/>
            <a:rect r="r" b="b" t="t" l="l"/>
            <a:pathLst>
              <a:path h="201075" w="718126">
                <a:moveTo>
                  <a:pt x="0" y="0"/>
                </a:moveTo>
                <a:lnTo>
                  <a:pt x="718126" y="0"/>
                </a:lnTo>
                <a:lnTo>
                  <a:pt x="718126" y="201076"/>
                </a:lnTo>
                <a:lnTo>
                  <a:pt x="0" y="201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5400000">
            <a:off x="8762077" y="7993681"/>
            <a:ext cx="718126" cy="201075"/>
          </a:xfrm>
          <a:custGeom>
            <a:avLst/>
            <a:gdLst/>
            <a:ahLst/>
            <a:cxnLst/>
            <a:rect r="r" b="b" t="t" l="l"/>
            <a:pathLst>
              <a:path h="201075" w="718126">
                <a:moveTo>
                  <a:pt x="0" y="0"/>
                </a:moveTo>
                <a:lnTo>
                  <a:pt x="718126" y="0"/>
                </a:lnTo>
                <a:lnTo>
                  <a:pt x="718126" y="201075"/>
                </a:lnTo>
                <a:lnTo>
                  <a:pt x="0" y="20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87552"/>
            <a:chOff x="0" y="0"/>
            <a:chExt cx="24383390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1F375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45820" y="147828"/>
            <a:ext cx="15864840" cy="56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Methodology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030700" y="194310"/>
            <a:ext cx="502920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0"/>
              </a:lnSpc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52976" y="1844516"/>
            <a:ext cx="5020628" cy="1865948"/>
            <a:chOff x="0" y="0"/>
            <a:chExt cx="6694170" cy="24879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94170" cy="2487930"/>
            </a:xfrm>
            <a:custGeom>
              <a:avLst/>
              <a:gdLst/>
              <a:ahLst/>
              <a:cxnLst/>
              <a:rect r="r" b="b" t="t" l="l"/>
              <a:pathLst>
                <a:path h="2487930" w="6694170">
                  <a:moveTo>
                    <a:pt x="0" y="414655"/>
                  </a:moveTo>
                  <a:cubicBezTo>
                    <a:pt x="0" y="185674"/>
                    <a:pt x="185674" y="0"/>
                    <a:pt x="414655" y="0"/>
                  </a:cubicBezTo>
                  <a:lnTo>
                    <a:pt x="6279515" y="0"/>
                  </a:lnTo>
                  <a:cubicBezTo>
                    <a:pt x="6508496" y="0"/>
                    <a:pt x="6694170" y="185674"/>
                    <a:pt x="6694170" y="414655"/>
                  </a:cubicBezTo>
                  <a:lnTo>
                    <a:pt x="6694170" y="2073275"/>
                  </a:lnTo>
                  <a:cubicBezTo>
                    <a:pt x="6694170" y="2302256"/>
                    <a:pt x="6508496" y="2487930"/>
                    <a:pt x="6279515" y="2487930"/>
                  </a:cubicBezTo>
                  <a:lnTo>
                    <a:pt x="414655" y="2487930"/>
                  </a:lnTo>
                  <a:cubicBezTo>
                    <a:pt x="185674" y="2487930"/>
                    <a:pt x="0" y="2302256"/>
                    <a:pt x="0" y="2073275"/>
                  </a:cubicBezTo>
                  <a:close/>
                </a:path>
              </a:pathLst>
            </a:custGeom>
            <a:solidFill>
              <a:srgbClr val="F2F6FA"/>
            </a:solidFill>
            <a:ln w="14288" cap="sq">
              <a:solidFill>
                <a:srgbClr val="3465A4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6694170" cy="2554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465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Evidence Collection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3465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Logs | Files | Browser History | Email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45116" y="1844516"/>
            <a:ext cx="5020628" cy="1865948"/>
            <a:chOff x="0" y="0"/>
            <a:chExt cx="6694170" cy="24879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94170" cy="2487930"/>
            </a:xfrm>
            <a:custGeom>
              <a:avLst/>
              <a:gdLst/>
              <a:ahLst/>
              <a:cxnLst/>
              <a:rect r="r" b="b" t="t" l="l"/>
              <a:pathLst>
                <a:path h="2487930" w="6694170">
                  <a:moveTo>
                    <a:pt x="0" y="414655"/>
                  </a:moveTo>
                  <a:cubicBezTo>
                    <a:pt x="0" y="185674"/>
                    <a:pt x="185674" y="0"/>
                    <a:pt x="414655" y="0"/>
                  </a:cubicBezTo>
                  <a:lnTo>
                    <a:pt x="6279515" y="0"/>
                  </a:lnTo>
                  <a:cubicBezTo>
                    <a:pt x="6508496" y="0"/>
                    <a:pt x="6694170" y="185674"/>
                    <a:pt x="6694170" y="414655"/>
                  </a:cubicBezTo>
                  <a:lnTo>
                    <a:pt x="6694170" y="2073275"/>
                  </a:lnTo>
                  <a:cubicBezTo>
                    <a:pt x="6694170" y="2302256"/>
                    <a:pt x="6508496" y="2487930"/>
                    <a:pt x="6279515" y="2487930"/>
                  </a:cubicBezTo>
                  <a:lnTo>
                    <a:pt x="414655" y="2487930"/>
                  </a:lnTo>
                  <a:cubicBezTo>
                    <a:pt x="185674" y="2487930"/>
                    <a:pt x="0" y="2302256"/>
                    <a:pt x="0" y="2073275"/>
                  </a:cubicBezTo>
                  <a:close/>
                </a:path>
              </a:pathLst>
            </a:custGeom>
            <a:solidFill>
              <a:srgbClr val="F2F6FA"/>
            </a:solidFill>
            <a:ln w="14288" cap="sq">
              <a:solidFill>
                <a:srgbClr val="3465A4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6694170" cy="2554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465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 Fast Extraction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3465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Parse evidence → Extract structured facts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37256" y="1844516"/>
            <a:ext cx="5020628" cy="1865948"/>
            <a:chOff x="0" y="0"/>
            <a:chExt cx="6694170" cy="24879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94170" cy="2487930"/>
            </a:xfrm>
            <a:custGeom>
              <a:avLst/>
              <a:gdLst/>
              <a:ahLst/>
              <a:cxnLst/>
              <a:rect r="r" b="b" t="t" l="l"/>
              <a:pathLst>
                <a:path h="2487930" w="6694170">
                  <a:moveTo>
                    <a:pt x="0" y="414655"/>
                  </a:moveTo>
                  <a:cubicBezTo>
                    <a:pt x="0" y="185674"/>
                    <a:pt x="185674" y="0"/>
                    <a:pt x="414655" y="0"/>
                  </a:cubicBezTo>
                  <a:lnTo>
                    <a:pt x="6279515" y="0"/>
                  </a:lnTo>
                  <a:cubicBezTo>
                    <a:pt x="6508496" y="0"/>
                    <a:pt x="6694170" y="185674"/>
                    <a:pt x="6694170" y="414655"/>
                  </a:cubicBezTo>
                  <a:lnTo>
                    <a:pt x="6694170" y="2073275"/>
                  </a:lnTo>
                  <a:cubicBezTo>
                    <a:pt x="6694170" y="2302256"/>
                    <a:pt x="6508496" y="2487930"/>
                    <a:pt x="6279515" y="2487930"/>
                  </a:cubicBezTo>
                  <a:lnTo>
                    <a:pt x="414655" y="2487930"/>
                  </a:lnTo>
                  <a:cubicBezTo>
                    <a:pt x="185674" y="2487930"/>
                    <a:pt x="0" y="2302256"/>
                    <a:pt x="0" y="2073275"/>
                  </a:cubicBezTo>
                  <a:close/>
                </a:path>
              </a:pathLst>
            </a:custGeom>
            <a:solidFill>
              <a:srgbClr val="F2F6FA"/>
            </a:solidFill>
            <a:ln w="14288" cap="sq">
              <a:solidFill>
                <a:srgbClr val="3465A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6694170" cy="2554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465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Knowledge Processing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3465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Apply IF–THEN rules</a:t>
              </a:r>
            </a:p>
            <a:p>
              <a:pPr algn="ctr">
                <a:lnSpc>
                  <a:spcPts val="36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2976" y="4930616"/>
            <a:ext cx="5020628" cy="1865947"/>
            <a:chOff x="0" y="0"/>
            <a:chExt cx="6694170" cy="24879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94170" cy="2487930"/>
            </a:xfrm>
            <a:custGeom>
              <a:avLst/>
              <a:gdLst/>
              <a:ahLst/>
              <a:cxnLst/>
              <a:rect r="r" b="b" t="t" l="l"/>
              <a:pathLst>
                <a:path h="2487930" w="6694170">
                  <a:moveTo>
                    <a:pt x="0" y="414655"/>
                  </a:moveTo>
                  <a:cubicBezTo>
                    <a:pt x="0" y="185674"/>
                    <a:pt x="185674" y="0"/>
                    <a:pt x="414655" y="0"/>
                  </a:cubicBezTo>
                  <a:lnTo>
                    <a:pt x="6279515" y="0"/>
                  </a:lnTo>
                  <a:cubicBezTo>
                    <a:pt x="6508496" y="0"/>
                    <a:pt x="6694170" y="185674"/>
                    <a:pt x="6694170" y="414655"/>
                  </a:cubicBezTo>
                  <a:lnTo>
                    <a:pt x="6694170" y="2073275"/>
                  </a:lnTo>
                  <a:cubicBezTo>
                    <a:pt x="6694170" y="2302256"/>
                    <a:pt x="6508496" y="2487930"/>
                    <a:pt x="6279515" y="2487930"/>
                  </a:cubicBezTo>
                  <a:lnTo>
                    <a:pt x="414655" y="2487930"/>
                  </a:lnTo>
                  <a:cubicBezTo>
                    <a:pt x="185674" y="2487930"/>
                    <a:pt x="0" y="2302256"/>
                    <a:pt x="0" y="2073275"/>
                  </a:cubicBezTo>
                  <a:close/>
                </a:path>
              </a:pathLst>
            </a:custGeom>
            <a:solidFill>
              <a:srgbClr val="F2F6FA"/>
            </a:solidFill>
            <a:ln w="14288" cap="sq">
              <a:solidFill>
                <a:srgbClr val="3465A4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6694170" cy="2554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465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 Forward Chaining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3465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Facts → Rule Matching → Findings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645116" y="4930616"/>
            <a:ext cx="5020628" cy="1865947"/>
            <a:chOff x="0" y="0"/>
            <a:chExt cx="6694170" cy="24879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94170" cy="2487930"/>
            </a:xfrm>
            <a:custGeom>
              <a:avLst/>
              <a:gdLst/>
              <a:ahLst/>
              <a:cxnLst/>
              <a:rect r="r" b="b" t="t" l="l"/>
              <a:pathLst>
                <a:path h="2487930" w="6694170">
                  <a:moveTo>
                    <a:pt x="0" y="414655"/>
                  </a:moveTo>
                  <a:cubicBezTo>
                    <a:pt x="0" y="185674"/>
                    <a:pt x="185674" y="0"/>
                    <a:pt x="414655" y="0"/>
                  </a:cubicBezTo>
                  <a:lnTo>
                    <a:pt x="6279515" y="0"/>
                  </a:lnTo>
                  <a:cubicBezTo>
                    <a:pt x="6508496" y="0"/>
                    <a:pt x="6694170" y="185674"/>
                    <a:pt x="6694170" y="414655"/>
                  </a:cubicBezTo>
                  <a:lnTo>
                    <a:pt x="6694170" y="2073275"/>
                  </a:lnTo>
                  <a:cubicBezTo>
                    <a:pt x="6694170" y="2302256"/>
                    <a:pt x="6508496" y="2487930"/>
                    <a:pt x="6279515" y="2487930"/>
                  </a:cubicBezTo>
                  <a:lnTo>
                    <a:pt x="414655" y="2487930"/>
                  </a:lnTo>
                  <a:cubicBezTo>
                    <a:pt x="185674" y="2487930"/>
                    <a:pt x="0" y="2302256"/>
                    <a:pt x="0" y="2073275"/>
                  </a:cubicBezTo>
                  <a:close/>
                </a:path>
              </a:pathLst>
            </a:custGeom>
            <a:solidFill>
              <a:srgbClr val="F2F6FA"/>
            </a:solidFill>
            <a:ln w="14288" cap="sq">
              <a:solidFill>
                <a:srgbClr val="3465A4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6694170" cy="2554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465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5. Risk &amp; Timeline Analysis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3465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Risk Score + Event Sequence</a:t>
              </a:r>
            </a:p>
            <a:p>
              <a:pPr algn="ctr">
                <a:lnSpc>
                  <a:spcPts val="360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337256" y="4930616"/>
            <a:ext cx="5020628" cy="1865947"/>
            <a:chOff x="0" y="0"/>
            <a:chExt cx="6694170" cy="24879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94170" cy="2487930"/>
            </a:xfrm>
            <a:custGeom>
              <a:avLst/>
              <a:gdLst/>
              <a:ahLst/>
              <a:cxnLst/>
              <a:rect r="r" b="b" t="t" l="l"/>
              <a:pathLst>
                <a:path h="2487930" w="6694170">
                  <a:moveTo>
                    <a:pt x="0" y="414655"/>
                  </a:moveTo>
                  <a:cubicBezTo>
                    <a:pt x="0" y="185674"/>
                    <a:pt x="185674" y="0"/>
                    <a:pt x="414655" y="0"/>
                  </a:cubicBezTo>
                  <a:lnTo>
                    <a:pt x="6279515" y="0"/>
                  </a:lnTo>
                  <a:cubicBezTo>
                    <a:pt x="6508496" y="0"/>
                    <a:pt x="6694170" y="185674"/>
                    <a:pt x="6694170" y="414655"/>
                  </a:cubicBezTo>
                  <a:lnTo>
                    <a:pt x="6694170" y="2073275"/>
                  </a:lnTo>
                  <a:cubicBezTo>
                    <a:pt x="6694170" y="2302256"/>
                    <a:pt x="6508496" y="2487930"/>
                    <a:pt x="6279515" y="2487930"/>
                  </a:cubicBezTo>
                  <a:lnTo>
                    <a:pt x="414655" y="2487930"/>
                  </a:lnTo>
                  <a:cubicBezTo>
                    <a:pt x="185674" y="2487930"/>
                    <a:pt x="0" y="2302256"/>
                    <a:pt x="0" y="2073275"/>
                  </a:cubicBezTo>
                  <a:close/>
                </a:path>
              </a:pathLst>
            </a:custGeom>
            <a:solidFill>
              <a:srgbClr val="F2F6FA"/>
            </a:solidFill>
            <a:ln w="14288" cap="sq">
              <a:solidFill>
                <a:srgbClr val="3465A4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6694170" cy="2554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465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6. Output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3465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Alerts + Forensic Report</a:t>
              </a:r>
            </a:p>
            <a:p>
              <a:pPr algn="ctr">
                <a:lnSpc>
                  <a:spcPts val="360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845820" y="9728073"/>
            <a:ext cx="16550640" cy="23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F6973"/>
                </a:solidFill>
                <a:latin typeface="Calibri (MS)"/>
                <a:ea typeface="Calibri (MS)"/>
                <a:cs typeface="Calibri (MS)"/>
                <a:sym typeface="Calibri (MS)"/>
              </a:rPr>
              <a:t>[Department]  |  Project Review – 1  |  [Academic Year]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87552"/>
            <a:chOff x="0" y="0"/>
            <a:chExt cx="24383390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1F3756"/>
            </a:solid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845820" y="2254148"/>
          <a:ext cx="16389804" cy="5181600"/>
        </p:xfrm>
        <a:graphic>
          <a:graphicData uri="http://schemas.openxmlformats.org/drawingml/2006/table">
            <a:tbl>
              <a:tblPr/>
              <a:tblGrid>
                <a:gridCol w="7301815"/>
                <a:gridCol w="9087989"/>
              </a:tblGrid>
              <a:tr h="103632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Programming Language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 Python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632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GUI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Tkinter + ttkbootstrap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632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DataBase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 SQLite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632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AI Techniques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 Rule-Based Expert System, Forward Chaining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632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Libraries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Pandas, watchdog, ReportLab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845820" y="147828"/>
            <a:ext cx="15864840" cy="56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Technologies Used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30700" y="194310"/>
            <a:ext cx="502920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0"/>
              </a:lnSpc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5820" y="9728073"/>
            <a:ext cx="16550640" cy="23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F6973"/>
                </a:solidFill>
                <a:latin typeface="Calibri (MS)"/>
                <a:ea typeface="Calibri (MS)"/>
                <a:cs typeface="Calibri (MS)"/>
                <a:sym typeface="Calibri (MS)"/>
              </a:rPr>
              <a:t>[Department]  |  Project Review – 1  |  [Academic Year]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87552"/>
            <a:chOff x="0" y="0"/>
            <a:chExt cx="24383390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1F375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45820" y="147828"/>
            <a:ext cx="15864840" cy="56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Module Description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030700" y="194310"/>
            <a:ext cx="502920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0"/>
              </a:lnSpc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90136" y="1638776"/>
            <a:ext cx="7558088" cy="1624273"/>
            <a:chOff x="0" y="0"/>
            <a:chExt cx="10077450" cy="21656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77450" cy="2165697"/>
            </a:xfrm>
            <a:custGeom>
              <a:avLst/>
              <a:gdLst/>
              <a:ahLst/>
              <a:cxnLst/>
              <a:rect r="r" b="b" t="t" l="l"/>
              <a:pathLst>
                <a:path h="2165697" w="10077450">
                  <a:moveTo>
                    <a:pt x="0" y="360950"/>
                  </a:moveTo>
                  <a:cubicBezTo>
                    <a:pt x="0" y="161581"/>
                    <a:pt x="151511" y="0"/>
                    <a:pt x="338455" y="0"/>
                  </a:cubicBezTo>
                  <a:lnTo>
                    <a:pt x="9738995" y="0"/>
                  </a:lnTo>
                  <a:cubicBezTo>
                    <a:pt x="9925939" y="0"/>
                    <a:pt x="10077450" y="161581"/>
                    <a:pt x="10077450" y="360950"/>
                  </a:cubicBezTo>
                  <a:lnTo>
                    <a:pt x="10077450" y="1804748"/>
                  </a:lnTo>
                  <a:cubicBezTo>
                    <a:pt x="10077450" y="2004116"/>
                    <a:pt x="9925939" y="2165697"/>
                    <a:pt x="9738995" y="2165697"/>
                  </a:cubicBezTo>
                  <a:lnTo>
                    <a:pt x="338455" y="2165697"/>
                  </a:lnTo>
                  <a:cubicBezTo>
                    <a:pt x="151511" y="2165697"/>
                    <a:pt x="0" y="2004116"/>
                    <a:pt x="0" y="1804748"/>
                  </a:cubicBezTo>
                  <a:close/>
                </a:path>
              </a:pathLst>
            </a:custGeom>
            <a:solidFill>
              <a:srgbClr val="F2F6FA"/>
            </a:solidFill>
            <a:ln w="14288" cap="sq">
              <a:solidFill>
                <a:srgbClr val="3465A4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0077450" cy="2232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465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1 – Case &amp; Evidence Management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3465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Case creation, evidence upload, SHA-256 hashing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456896" y="1638776"/>
            <a:ext cx="7558088" cy="1523048"/>
            <a:chOff x="0" y="0"/>
            <a:chExt cx="10077450" cy="20307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77450" cy="2030730"/>
            </a:xfrm>
            <a:custGeom>
              <a:avLst/>
              <a:gdLst/>
              <a:ahLst/>
              <a:cxnLst/>
              <a:rect r="r" b="b" t="t" l="l"/>
              <a:pathLst>
                <a:path h="2030730" w="10077450">
                  <a:moveTo>
                    <a:pt x="0" y="338455"/>
                  </a:moveTo>
                  <a:cubicBezTo>
                    <a:pt x="0" y="151511"/>
                    <a:pt x="151511" y="0"/>
                    <a:pt x="338455" y="0"/>
                  </a:cubicBezTo>
                  <a:lnTo>
                    <a:pt x="9738995" y="0"/>
                  </a:lnTo>
                  <a:cubicBezTo>
                    <a:pt x="9925939" y="0"/>
                    <a:pt x="10077450" y="151511"/>
                    <a:pt x="10077450" y="338455"/>
                  </a:cubicBezTo>
                  <a:lnTo>
                    <a:pt x="10077450" y="1692275"/>
                  </a:lnTo>
                  <a:cubicBezTo>
                    <a:pt x="10077450" y="1879219"/>
                    <a:pt x="9925939" y="2030730"/>
                    <a:pt x="9738995" y="2030730"/>
                  </a:cubicBezTo>
                  <a:lnTo>
                    <a:pt x="338455" y="2030730"/>
                  </a:lnTo>
                  <a:cubicBezTo>
                    <a:pt x="151511" y="2030730"/>
                    <a:pt x="0" y="1879219"/>
                    <a:pt x="0" y="1692275"/>
                  </a:cubicBezTo>
                  <a:close/>
                </a:path>
              </a:pathLst>
            </a:custGeom>
            <a:solidFill>
              <a:srgbClr val="F2F6FA"/>
            </a:solidFill>
            <a:ln w="14288" cap="sq">
              <a:solidFill>
                <a:srgbClr val="3465A4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0077450" cy="2097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465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2 – Multi-Source Evidence Analysis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3465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Logs, files/folders, browser history, email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90136" y="3901916"/>
            <a:ext cx="7558088" cy="1523048"/>
            <a:chOff x="0" y="0"/>
            <a:chExt cx="10077450" cy="20307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77450" cy="2030730"/>
            </a:xfrm>
            <a:custGeom>
              <a:avLst/>
              <a:gdLst/>
              <a:ahLst/>
              <a:cxnLst/>
              <a:rect r="r" b="b" t="t" l="l"/>
              <a:pathLst>
                <a:path h="2030730" w="10077450">
                  <a:moveTo>
                    <a:pt x="0" y="338455"/>
                  </a:moveTo>
                  <a:cubicBezTo>
                    <a:pt x="0" y="151511"/>
                    <a:pt x="151511" y="0"/>
                    <a:pt x="338455" y="0"/>
                  </a:cubicBezTo>
                  <a:lnTo>
                    <a:pt x="9738995" y="0"/>
                  </a:lnTo>
                  <a:cubicBezTo>
                    <a:pt x="9925939" y="0"/>
                    <a:pt x="10077450" y="151511"/>
                    <a:pt x="10077450" y="338455"/>
                  </a:cubicBezTo>
                  <a:lnTo>
                    <a:pt x="10077450" y="1692275"/>
                  </a:lnTo>
                  <a:cubicBezTo>
                    <a:pt x="10077450" y="1879219"/>
                    <a:pt x="9925939" y="2030730"/>
                    <a:pt x="9738995" y="2030730"/>
                  </a:cubicBezTo>
                  <a:lnTo>
                    <a:pt x="338455" y="2030730"/>
                  </a:lnTo>
                  <a:cubicBezTo>
                    <a:pt x="151511" y="2030730"/>
                    <a:pt x="0" y="1879219"/>
                    <a:pt x="0" y="1692275"/>
                  </a:cubicBezTo>
                  <a:close/>
                </a:path>
              </a:pathLst>
            </a:custGeom>
            <a:solidFill>
              <a:srgbClr val="F2F6FA"/>
            </a:solidFill>
            <a:ln w="14288" cap="sq">
              <a:solidFill>
                <a:srgbClr val="3465A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0077450" cy="2097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465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3 – Rule-Based AI Reasoning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3465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Knowledge Base + Forward Chaining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456896" y="3901916"/>
            <a:ext cx="7558088" cy="1523048"/>
            <a:chOff x="0" y="0"/>
            <a:chExt cx="10077450" cy="20307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77450" cy="2030730"/>
            </a:xfrm>
            <a:custGeom>
              <a:avLst/>
              <a:gdLst/>
              <a:ahLst/>
              <a:cxnLst/>
              <a:rect r="r" b="b" t="t" l="l"/>
              <a:pathLst>
                <a:path h="2030730" w="10077450">
                  <a:moveTo>
                    <a:pt x="0" y="338455"/>
                  </a:moveTo>
                  <a:cubicBezTo>
                    <a:pt x="0" y="151511"/>
                    <a:pt x="151511" y="0"/>
                    <a:pt x="338455" y="0"/>
                  </a:cubicBezTo>
                  <a:lnTo>
                    <a:pt x="9738995" y="0"/>
                  </a:lnTo>
                  <a:cubicBezTo>
                    <a:pt x="9925939" y="0"/>
                    <a:pt x="10077450" y="151511"/>
                    <a:pt x="10077450" y="338455"/>
                  </a:cubicBezTo>
                  <a:lnTo>
                    <a:pt x="10077450" y="1692275"/>
                  </a:lnTo>
                  <a:cubicBezTo>
                    <a:pt x="10077450" y="1879219"/>
                    <a:pt x="9925939" y="2030730"/>
                    <a:pt x="9738995" y="2030730"/>
                  </a:cubicBezTo>
                  <a:lnTo>
                    <a:pt x="338455" y="2030730"/>
                  </a:lnTo>
                  <a:cubicBezTo>
                    <a:pt x="151511" y="2030730"/>
                    <a:pt x="0" y="1879219"/>
                    <a:pt x="0" y="1692275"/>
                  </a:cubicBezTo>
                  <a:close/>
                </a:path>
              </a:pathLst>
            </a:custGeom>
            <a:solidFill>
              <a:srgbClr val="F2F6FA"/>
            </a:solidFill>
            <a:ln w="14288" cap="sq">
              <a:solidFill>
                <a:srgbClr val="3465A4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0077450" cy="2097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465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4 – Risk &amp; Event Sequence Analysis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3465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Risk scoring + event timeline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90136" y="6165056"/>
            <a:ext cx="7558088" cy="1523047"/>
            <a:chOff x="0" y="0"/>
            <a:chExt cx="10077450" cy="20307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77450" cy="2030730"/>
            </a:xfrm>
            <a:custGeom>
              <a:avLst/>
              <a:gdLst/>
              <a:ahLst/>
              <a:cxnLst/>
              <a:rect r="r" b="b" t="t" l="l"/>
              <a:pathLst>
                <a:path h="2030730" w="10077450">
                  <a:moveTo>
                    <a:pt x="0" y="338455"/>
                  </a:moveTo>
                  <a:cubicBezTo>
                    <a:pt x="0" y="151511"/>
                    <a:pt x="151511" y="0"/>
                    <a:pt x="338455" y="0"/>
                  </a:cubicBezTo>
                  <a:lnTo>
                    <a:pt x="9738995" y="0"/>
                  </a:lnTo>
                  <a:cubicBezTo>
                    <a:pt x="9925939" y="0"/>
                    <a:pt x="10077450" y="151511"/>
                    <a:pt x="10077450" y="338455"/>
                  </a:cubicBezTo>
                  <a:lnTo>
                    <a:pt x="10077450" y="1692275"/>
                  </a:lnTo>
                  <a:cubicBezTo>
                    <a:pt x="10077450" y="1879219"/>
                    <a:pt x="9925939" y="2030730"/>
                    <a:pt x="9738995" y="2030730"/>
                  </a:cubicBezTo>
                  <a:lnTo>
                    <a:pt x="338455" y="2030730"/>
                  </a:lnTo>
                  <a:cubicBezTo>
                    <a:pt x="151511" y="2030730"/>
                    <a:pt x="0" y="1879219"/>
                    <a:pt x="0" y="1692275"/>
                  </a:cubicBezTo>
                  <a:close/>
                </a:path>
              </a:pathLst>
            </a:custGeom>
            <a:solidFill>
              <a:srgbClr val="F2F6FA"/>
            </a:solidFill>
            <a:ln w="14288" cap="sq">
              <a:solidFill>
                <a:srgbClr val="3465A4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0077450" cy="2097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465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5 – Forensic Report Generation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3465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In-app report + PDF export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845820" y="9728073"/>
            <a:ext cx="16550640" cy="23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F6973"/>
                </a:solidFill>
                <a:latin typeface="Calibri (MS)"/>
                <a:ea typeface="Calibri (MS)"/>
                <a:cs typeface="Calibri (MS)"/>
                <a:sym typeface="Calibri (MS)"/>
              </a:rPr>
              <a:t>[Department]  |  Project Review – 1  |  [Academic Year]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456896" y="6165056"/>
            <a:ext cx="7558088" cy="1624273"/>
            <a:chOff x="0" y="0"/>
            <a:chExt cx="10077450" cy="21656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077450" cy="2165697"/>
            </a:xfrm>
            <a:custGeom>
              <a:avLst/>
              <a:gdLst/>
              <a:ahLst/>
              <a:cxnLst/>
              <a:rect r="r" b="b" t="t" l="l"/>
              <a:pathLst>
                <a:path h="2165697" w="10077450">
                  <a:moveTo>
                    <a:pt x="0" y="360950"/>
                  </a:moveTo>
                  <a:cubicBezTo>
                    <a:pt x="0" y="161581"/>
                    <a:pt x="151511" y="0"/>
                    <a:pt x="338455" y="0"/>
                  </a:cubicBezTo>
                  <a:lnTo>
                    <a:pt x="9738995" y="0"/>
                  </a:lnTo>
                  <a:cubicBezTo>
                    <a:pt x="9925939" y="0"/>
                    <a:pt x="10077450" y="161581"/>
                    <a:pt x="10077450" y="360950"/>
                  </a:cubicBezTo>
                  <a:lnTo>
                    <a:pt x="10077450" y="1804748"/>
                  </a:lnTo>
                  <a:cubicBezTo>
                    <a:pt x="10077450" y="2004116"/>
                    <a:pt x="9925939" y="2165697"/>
                    <a:pt x="9738995" y="2165697"/>
                  </a:cubicBezTo>
                  <a:lnTo>
                    <a:pt x="338455" y="2165697"/>
                  </a:lnTo>
                  <a:cubicBezTo>
                    <a:pt x="151511" y="2165697"/>
                    <a:pt x="0" y="2004116"/>
                    <a:pt x="0" y="1804748"/>
                  </a:cubicBezTo>
                  <a:close/>
                </a:path>
              </a:pathLst>
            </a:custGeom>
            <a:solidFill>
              <a:srgbClr val="F2F6FA"/>
            </a:solidFill>
            <a:ln w="14288" cap="sq">
              <a:solidFill>
                <a:srgbClr val="3465A4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0077450" cy="2232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465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6 – Real-Time Monitoring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3465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evidence monitoring + automatic re-analysis + alerts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87552"/>
            <a:chOff x="0" y="0"/>
            <a:chExt cx="24383390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1F3756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171187" y="1542853"/>
            <a:ext cx="11214106" cy="7658494"/>
          </a:xfrm>
          <a:custGeom>
            <a:avLst/>
            <a:gdLst/>
            <a:ahLst/>
            <a:cxnLst/>
            <a:rect r="r" b="b" t="t" l="l"/>
            <a:pathLst>
              <a:path h="7658494" w="11214106">
                <a:moveTo>
                  <a:pt x="0" y="0"/>
                </a:moveTo>
                <a:lnTo>
                  <a:pt x="11214106" y="0"/>
                </a:lnTo>
                <a:lnTo>
                  <a:pt x="11214106" y="7658494"/>
                </a:lnTo>
                <a:lnTo>
                  <a:pt x="0" y="76584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4" t="0" r="-434" b="-1357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45820" y="147828"/>
            <a:ext cx="15864840" cy="56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Preliminary / Expected Results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30700" y="194310"/>
            <a:ext cx="502920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0"/>
              </a:lnSpc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5820" y="9728073"/>
            <a:ext cx="16550640" cy="23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F6973"/>
                </a:solidFill>
                <a:latin typeface="Calibri (MS)"/>
                <a:ea typeface="Calibri (MS)"/>
                <a:cs typeface="Calibri (MS)"/>
                <a:sym typeface="Calibri (MS)"/>
              </a:rPr>
              <a:t>[Department]  |  Project Review – 1  |  [Academic Year]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87552"/>
            <a:chOff x="0" y="0"/>
            <a:chExt cx="24383390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1F375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45820" y="147828"/>
            <a:ext cx="15864840" cy="56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 Schedule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030700" y="194310"/>
            <a:ext cx="502920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0"/>
              </a:lnSpc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891540" y="1714500"/>
          <a:ext cx="16383000" cy="7733506"/>
        </p:xfrm>
        <a:graphic>
          <a:graphicData uri="http://schemas.openxmlformats.org/drawingml/2006/table">
            <a:tbl>
              <a:tblPr/>
              <a:tblGrid>
                <a:gridCol w="3276600"/>
                <a:gridCol w="3276600"/>
                <a:gridCol w="3276600"/>
                <a:gridCol w="3276600"/>
                <a:gridCol w="3276600"/>
              </a:tblGrid>
              <a:tr h="11047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Activity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Month 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Month 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Month 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Month 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</a:tr>
              <a:tr h="11047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Literature Survey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✓ 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11047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Problem Identification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✓ 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047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System Design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✓ 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11047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Implementation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✓ 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✓ 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047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Testing &amp; Evaluation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✓ 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11047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5F69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Documentation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5F697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✓ 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845820" y="9728073"/>
            <a:ext cx="16550640" cy="23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F6973"/>
                </a:solidFill>
                <a:latin typeface="Calibri (MS)"/>
                <a:ea typeface="Calibri (MS)"/>
                <a:cs typeface="Calibri (MS)"/>
                <a:sym typeface="Calibri (MS)"/>
              </a:rPr>
              <a:t>[Department]  |  Project Review – 1  |  [Academic Year]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87552"/>
            <a:chOff x="0" y="0"/>
            <a:chExt cx="24383390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1F375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45820" y="147828"/>
            <a:ext cx="15864840" cy="56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Current Progress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030700" y="194310"/>
            <a:ext cx="502920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0"/>
              </a:lnSpc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25880" y="1693545"/>
            <a:ext cx="15590520" cy="303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5F6973"/>
                </a:solidFill>
                <a:latin typeface="Calibri (MS)"/>
                <a:ea typeface="Calibri (MS)"/>
                <a:cs typeface="Calibri (MS)"/>
                <a:sym typeface="Calibri (MS)"/>
              </a:rPr>
              <a:t>✓ Literature survey completed</a:t>
            </a:r>
          </a:p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5F6973"/>
                </a:solidFill>
                <a:latin typeface="Calibri (MS)"/>
                <a:ea typeface="Calibri (MS)"/>
                <a:cs typeface="Calibri (MS)"/>
                <a:sym typeface="Calibri (MS)"/>
              </a:rPr>
              <a:t>✓ Problem identification completed</a:t>
            </a:r>
          </a:p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5F6973"/>
                </a:solidFill>
                <a:latin typeface="Calibri (MS)"/>
                <a:ea typeface="Calibri (MS)"/>
                <a:cs typeface="Calibri (MS)"/>
                <a:sym typeface="Calibri (MS)"/>
              </a:rPr>
              <a:t>✓ Requirement analysis / methodology finalized</a:t>
            </a:r>
          </a:p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5F6973"/>
                </a:solidFill>
                <a:latin typeface="Calibri (MS)"/>
                <a:ea typeface="Calibri (MS)"/>
                <a:cs typeface="Calibri (MS)"/>
                <a:sym typeface="Calibri (MS)"/>
              </a:rPr>
              <a:t>☐ Implementation completed</a:t>
            </a:r>
          </a:p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5F6973"/>
                </a:solidFill>
                <a:latin typeface="Calibri (MS)"/>
                <a:ea typeface="Calibri (MS)"/>
                <a:cs typeface="Calibri (MS)"/>
                <a:sym typeface="Calibri (MS)"/>
              </a:rPr>
              <a:t>☐ Testing completed</a:t>
            </a:r>
          </a:p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5F6973"/>
                </a:solidFill>
                <a:latin typeface="Calibri (MS)"/>
                <a:ea typeface="Calibri (MS)"/>
                <a:cs typeface="Calibri (MS)"/>
                <a:sym typeface="Calibri (MS)"/>
              </a:rPr>
              <a:t>☐ Final evaluation completed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5820" y="9728073"/>
            <a:ext cx="16550640" cy="23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F6973"/>
                </a:solidFill>
                <a:latin typeface="Calibri (MS)"/>
                <a:ea typeface="Calibri (MS)"/>
                <a:cs typeface="Calibri (MS)"/>
                <a:sym typeface="Calibri (MS)"/>
              </a:rPr>
              <a:t>[Department]  |  Project Review – 1  |  [Academic Year]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87552"/>
            <a:chOff x="0" y="0"/>
            <a:chExt cx="24383390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1F375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45820" y="147828"/>
            <a:ext cx="15864840" cy="56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Future Work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030700" y="194310"/>
            <a:ext cx="502920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0"/>
              </a:lnSpc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16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5820" y="9728073"/>
            <a:ext cx="16550640" cy="23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F6973"/>
                </a:solidFill>
                <a:latin typeface="Calibri (MS)"/>
                <a:ea typeface="Calibri (MS)"/>
                <a:cs typeface="Calibri (MS)"/>
                <a:sym typeface="Calibri (MS)"/>
              </a:rPr>
              <a:t>[Department]  |  Project Review – 1  |  [Academic Year]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2445940"/>
            <a:ext cx="394948" cy="400962"/>
          </a:xfrm>
          <a:custGeom>
            <a:avLst/>
            <a:gdLst/>
            <a:ahLst/>
            <a:cxnLst/>
            <a:rect r="r" b="b" t="t" l="l"/>
            <a:pathLst>
              <a:path h="400962" w="394948">
                <a:moveTo>
                  <a:pt x="0" y="0"/>
                </a:moveTo>
                <a:lnTo>
                  <a:pt x="394948" y="0"/>
                </a:lnTo>
                <a:lnTo>
                  <a:pt x="394948" y="400962"/>
                </a:lnTo>
                <a:lnTo>
                  <a:pt x="0" y="400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6801306"/>
            <a:ext cx="394948" cy="400962"/>
          </a:xfrm>
          <a:custGeom>
            <a:avLst/>
            <a:gdLst/>
            <a:ahLst/>
            <a:cxnLst/>
            <a:rect r="r" b="b" t="t" l="l"/>
            <a:pathLst>
              <a:path h="400962" w="394948">
                <a:moveTo>
                  <a:pt x="0" y="0"/>
                </a:moveTo>
                <a:lnTo>
                  <a:pt x="394948" y="0"/>
                </a:lnTo>
                <a:lnTo>
                  <a:pt x="394948" y="400962"/>
                </a:lnTo>
                <a:lnTo>
                  <a:pt x="0" y="400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7442587"/>
            <a:ext cx="394948" cy="400962"/>
          </a:xfrm>
          <a:custGeom>
            <a:avLst/>
            <a:gdLst/>
            <a:ahLst/>
            <a:cxnLst/>
            <a:rect r="r" b="b" t="t" l="l"/>
            <a:pathLst>
              <a:path h="400962" w="394948">
                <a:moveTo>
                  <a:pt x="0" y="0"/>
                </a:moveTo>
                <a:lnTo>
                  <a:pt x="394948" y="0"/>
                </a:lnTo>
                <a:lnTo>
                  <a:pt x="394948" y="400962"/>
                </a:lnTo>
                <a:lnTo>
                  <a:pt x="0" y="400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23251" y="1581851"/>
            <a:ext cx="10652423" cy="7511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Remaining Project Work</a:t>
            </a:r>
          </a:p>
          <a:p>
            <a:pPr algn="l">
              <a:lnSpc>
                <a:spcPts val="498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Complete core system implementation</a:t>
            </a:r>
          </a:p>
          <a:p>
            <a:pPr algn="l">
              <a:lnSpc>
                <a:spcPts val="498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Implement Forward Chaining and rule engine</a:t>
            </a:r>
          </a:p>
          <a:p>
            <a:pPr algn="l">
              <a:lnSpc>
                <a:spcPts val="498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Integrate real-time evidence monitoring</a:t>
            </a:r>
          </a:p>
          <a:p>
            <a:pPr algn="l">
              <a:lnSpc>
                <a:spcPts val="498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Test multi-source evidence analysis</a:t>
            </a:r>
          </a:p>
          <a:p>
            <a:pPr algn="l">
              <a:lnSpc>
                <a:spcPts val="498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Evaluate risk scoring and event reconstruction</a:t>
            </a:r>
          </a:p>
          <a:p>
            <a:pPr algn="l">
              <a:lnSpc>
                <a:spcPts val="4980"/>
              </a:lnSpc>
              <a:spcBef>
                <a:spcPct val="0"/>
              </a:spcBef>
            </a:pPr>
          </a:p>
          <a:p>
            <a:pPr algn="l">
              <a:lnSpc>
                <a:spcPts val="498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Future Enhancements</a:t>
            </a:r>
          </a:p>
          <a:p>
            <a:pPr algn="l">
              <a:lnSpc>
                <a:spcPts val="498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Support additional forensic evidence sources and file formats</a:t>
            </a:r>
          </a:p>
          <a:p>
            <a:pPr algn="l">
              <a:lnSpc>
                <a:spcPts val="498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Extend the rule base with more forensic investigation scenarios</a:t>
            </a:r>
          </a:p>
          <a:p>
            <a:pPr algn="l">
              <a:lnSpc>
                <a:spcPts val="498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Improve visualization of evidence and event timelines</a:t>
            </a:r>
          </a:p>
          <a:p>
            <a:pPr algn="l">
              <a:lnSpc>
                <a:spcPts val="498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Explore advanced AI techniques for future forensic assistance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28700" y="3032424"/>
            <a:ext cx="394948" cy="400962"/>
          </a:xfrm>
          <a:custGeom>
            <a:avLst/>
            <a:gdLst/>
            <a:ahLst/>
            <a:cxnLst/>
            <a:rect r="r" b="b" t="t" l="l"/>
            <a:pathLst>
              <a:path h="400962" w="394948">
                <a:moveTo>
                  <a:pt x="0" y="0"/>
                </a:moveTo>
                <a:lnTo>
                  <a:pt x="394948" y="0"/>
                </a:lnTo>
                <a:lnTo>
                  <a:pt x="394948" y="400963"/>
                </a:lnTo>
                <a:lnTo>
                  <a:pt x="0" y="4009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3618909"/>
            <a:ext cx="394948" cy="400962"/>
          </a:xfrm>
          <a:custGeom>
            <a:avLst/>
            <a:gdLst/>
            <a:ahLst/>
            <a:cxnLst/>
            <a:rect r="r" b="b" t="t" l="l"/>
            <a:pathLst>
              <a:path h="400962" w="394948">
                <a:moveTo>
                  <a:pt x="0" y="0"/>
                </a:moveTo>
                <a:lnTo>
                  <a:pt x="394948" y="0"/>
                </a:lnTo>
                <a:lnTo>
                  <a:pt x="394948" y="400962"/>
                </a:lnTo>
                <a:lnTo>
                  <a:pt x="0" y="400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8700" y="4200846"/>
            <a:ext cx="394948" cy="400962"/>
          </a:xfrm>
          <a:custGeom>
            <a:avLst/>
            <a:gdLst/>
            <a:ahLst/>
            <a:cxnLst/>
            <a:rect r="r" b="b" t="t" l="l"/>
            <a:pathLst>
              <a:path h="400962" w="394948">
                <a:moveTo>
                  <a:pt x="0" y="0"/>
                </a:moveTo>
                <a:lnTo>
                  <a:pt x="394948" y="0"/>
                </a:lnTo>
                <a:lnTo>
                  <a:pt x="394948" y="400962"/>
                </a:lnTo>
                <a:lnTo>
                  <a:pt x="0" y="400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28700" y="4943019"/>
            <a:ext cx="394948" cy="400962"/>
          </a:xfrm>
          <a:custGeom>
            <a:avLst/>
            <a:gdLst/>
            <a:ahLst/>
            <a:cxnLst/>
            <a:rect r="r" b="b" t="t" l="l"/>
            <a:pathLst>
              <a:path h="400962" w="394948">
                <a:moveTo>
                  <a:pt x="0" y="0"/>
                </a:moveTo>
                <a:lnTo>
                  <a:pt x="394948" y="0"/>
                </a:lnTo>
                <a:lnTo>
                  <a:pt x="394948" y="400962"/>
                </a:lnTo>
                <a:lnTo>
                  <a:pt x="0" y="400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28700" y="8081674"/>
            <a:ext cx="394948" cy="400962"/>
          </a:xfrm>
          <a:custGeom>
            <a:avLst/>
            <a:gdLst/>
            <a:ahLst/>
            <a:cxnLst/>
            <a:rect r="r" b="b" t="t" l="l"/>
            <a:pathLst>
              <a:path h="400962" w="394948">
                <a:moveTo>
                  <a:pt x="0" y="0"/>
                </a:moveTo>
                <a:lnTo>
                  <a:pt x="394948" y="0"/>
                </a:lnTo>
                <a:lnTo>
                  <a:pt x="394948" y="400962"/>
                </a:lnTo>
                <a:lnTo>
                  <a:pt x="0" y="400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28700" y="8720761"/>
            <a:ext cx="394948" cy="400962"/>
          </a:xfrm>
          <a:custGeom>
            <a:avLst/>
            <a:gdLst/>
            <a:ahLst/>
            <a:cxnLst/>
            <a:rect r="r" b="b" t="t" l="l"/>
            <a:pathLst>
              <a:path h="400962" w="394948">
                <a:moveTo>
                  <a:pt x="0" y="0"/>
                </a:moveTo>
                <a:lnTo>
                  <a:pt x="394948" y="0"/>
                </a:lnTo>
                <a:lnTo>
                  <a:pt x="394948" y="400962"/>
                </a:lnTo>
                <a:lnTo>
                  <a:pt x="0" y="400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87552"/>
            <a:chOff x="0" y="0"/>
            <a:chExt cx="24383390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1F375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45820" y="147828"/>
            <a:ext cx="15864840" cy="56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030700" y="194310"/>
            <a:ext cx="502920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0"/>
              </a:lnSpc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17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5820" y="9728073"/>
            <a:ext cx="16550640" cy="23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F6973"/>
                </a:solidFill>
                <a:latin typeface="Calibri (MS)"/>
                <a:ea typeface="Calibri (MS)"/>
                <a:cs typeface="Calibri (MS)"/>
                <a:sym typeface="Calibri (MS)"/>
              </a:rPr>
              <a:t>[Department]  |  Project Review – 1  |  [Academic Year]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243916" y="2201574"/>
            <a:ext cx="13068648" cy="6341053"/>
            <a:chOff x="0" y="0"/>
            <a:chExt cx="17424863" cy="84547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424864" cy="8454737"/>
            </a:xfrm>
            <a:custGeom>
              <a:avLst/>
              <a:gdLst/>
              <a:ahLst/>
              <a:cxnLst/>
              <a:rect r="r" b="b" t="t" l="l"/>
              <a:pathLst>
                <a:path h="8454737" w="17424864">
                  <a:moveTo>
                    <a:pt x="0" y="1409123"/>
                  </a:moveTo>
                  <a:cubicBezTo>
                    <a:pt x="0" y="630801"/>
                    <a:pt x="261977" y="0"/>
                    <a:pt x="585221" y="0"/>
                  </a:cubicBezTo>
                  <a:lnTo>
                    <a:pt x="16839643" y="0"/>
                  </a:lnTo>
                  <a:cubicBezTo>
                    <a:pt x="17162887" y="0"/>
                    <a:pt x="17424864" y="630801"/>
                    <a:pt x="17424864" y="1409123"/>
                  </a:cubicBezTo>
                  <a:lnTo>
                    <a:pt x="17424864" y="7045614"/>
                  </a:lnTo>
                  <a:cubicBezTo>
                    <a:pt x="17424864" y="7823936"/>
                    <a:pt x="17162887" y="8454737"/>
                    <a:pt x="16839643" y="8454737"/>
                  </a:cubicBezTo>
                  <a:lnTo>
                    <a:pt x="585221" y="8454737"/>
                  </a:lnTo>
                  <a:cubicBezTo>
                    <a:pt x="261977" y="8454737"/>
                    <a:pt x="0" y="7823936"/>
                    <a:pt x="0" y="7045614"/>
                  </a:cubicBezTo>
                  <a:close/>
                </a:path>
              </a:pathLst>
            </a:custGeom>
            <a:solidFill>
              <a:srgbClr val="F2F6FA"/>
            </a:solidFill>
            <a:ln w="14288" cap="sq">
              <a:solidFill>
                <a:srgbClr val="3465A4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47650"/>
              <a:ext cx="17424863" cy="8702387"/>
            </a:xfrm>
            <a:prstGeom prst="rect">
              <a:avLst/>
            </a:prstGeom>
          </p:spPr>
          <p:txBody>
            <a:bodyPr anchor="ctr" rtlCol="false" tIns="177800" lIns="177800" bIns="177800" rIns="177800"/>
            <a:lstStyle/>
            <a:p>
              <a:pPr algn="just" marL="647700" indent="-323850" lvl="1">
                <a:lnSpc>
                  <a:spcPts val="552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3465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FORENSEQUENCE applies AI-based rule reasoning to digital forensic investigation.</a:t>
              </a:r>
            </a:p>
            <a:p>
              <a:pPr algn="just" marL="647700" indent="-323850" lvl="1">
                <a:lnSpc>
                  <a:spcPts val="552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3465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Combines multi-source evidence analysis with Forward Chaining.</a:t>
              </a:r>
            </a:p>
            <a:p>
              <a:pPr algn="just" marL="647700" indent="-323850" lvl="1">
                <a:lnSpc>
                  <a:spcPts val="552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3465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Provides explainable findings, risk scoring, and event timeline reconstruction.</a:t>
              </a:r>
            </a:p>
            <a:p>
              <a:pPr algn="just" marL="647700" indent="-323850" lvl="1">
                <a:lnSpc>
                  <a:spcPts val="552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3465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Enables real-time monitoring and automatic re-analysis of new evidence.</a:t>
              </a:r>
            </a:p>
            <a:p>
              <a:pPr algn="just" marL="647700" indent="-323850" lvl="1">
                <a:lnSpc>
                  <a:spcPts val="552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3465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Aims to support investigators with faster, structured, and explainable forensic analysis.</a:t>
              </a:r>
            </a:p>
            <a:p>
              <a:pPr algn="ctr">
                <a:lnSpc>
                  <a:spcPts val="3600"/>
                </a:lnSpc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87552"/>
            <a:chOff x="0" y="0"/>
            <a:chExt cx="24383390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1F375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45820" y="147828"/>
            <a:ext cx="15864840" cy="56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References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030700" y="194310"/>
            <a:ext cx="502920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0"/>
              </a:lnSpc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18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5820" y="9728073"/>
            <a:ext cx="16550640" cy="23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F6973"/>
                </a:solidFill>
                <a:latin typeface="Calibri (MS)"/>
                <a:ea typeface="Calibri (MS)"/>
                <a:cs typeface="Calibri (MS)"/>
                <a:sym typeface="Calibri (MS)"/>
              </a:rPr>
              <a:t>[Department]  |  Project Review – 1  |  [Academic Year]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377458"/>
            <a:ext cx="11417697" cy="406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5370"/>
              </a:lnSpc>
              <a:spcBef>
                <a:spcPct val="0"/>
              </a:spcBef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D. Dunsin et al. (2023) — Rule-Based Digital Forensics</a:t>
            </a:r>
          </a:p>
          <a:p>
            <a:pPr algn="l" marL="647700" indent="-323850" lvl="1">
              <a:lnSpc>
                <a:spcPts val="5370"/>
              </a:lnSpc>
              <a:spcBef>
                <a:spcPct val="0"/>
              </a:spcBef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S. Alam &amp; A. K. Demir (2024) — SIFT: Explainable AI in Cyber Forensics</a:t>
            </a:r>
          </a:p>
          <a:p>
            <a:pPr algn="l" marL="647700" indent="-323850" lvl="1">
              <a:lnSpc>
                <a:spcPts val="5370"/>
              </a:lnSpc>
              <a:spcBef>
                <a:spcPct val="0"/>
              </a:spcBef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D. D. et al. (2024) — AI in Digital Forensic Investigation</a:t>
            </a:r>
          </a:p>
          <a:p>
            <a:pPr algn="l" marL="647700" indent="-323850" lvl="1">
              <a:lnSpc>
                <a:spcPts val="5370"/>
              </a:lnSpc>
              <a:spcBef>
                <a:spcPct val="0"/>
              </a:spcBef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S. Russell &amp; P. Norvig — Artificial Intelligence: A Modern Approach</a:t>
            </a:r>
          </a:p>
          <a:p>
            <a:pPr algn="l" marL="647700" indent="-323850" lvl="1">
              <a:lnSpc>
                <a:spcPts val="5370"/>
              </a:lnSpc>
              <a:spcBef>
                <a:spcPct val="0"/>
              </a:spcBef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Python Software Foundation — Python Documentation</a:t>
            </a:r>
          </a:p>
          <a:p>
            <a:pPr algn="l" marL="647700" indent="-323850" lvl="1">
              <a:lnSpc>
                <a:spcPts val="5370"/>
              </a:lnSpc>
              <a:spcBef>
                <a:spcPct val="0"/>
              </a:spcBef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SQLite — SQLite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DAHXNV-ADsQ</dc:identifier>
  <dcterms:modified xsi:type="dcterms:W3CDTF">2011-08-01T06:04:30Z</dcterms:modified>
  <cp:revision>1</cp:revision>
  <dc:title>Review1templatefinal (1).pptx</dc:title>
</cp:coreProperties>
</file>