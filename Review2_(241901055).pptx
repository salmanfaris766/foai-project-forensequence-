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71" r:id="rId6"/>
    <p:sldId id="274" r:id="rId7"/>
    <p:sldId id="272" r:id="rId8"/>
    <p:sldId id="273" r:id="rId9"/>
    <p:sldId id="260" r:id="rId10"/>
    <p:sldId id="276" r:id="rId11"/>
    <p:sldId id="268" r:id="rId12"/>
    <p:sldId id="275" r:id="rId13"/>
    <p:sldId id="261" r:id="rId14"/>
    <p:sldId id="262" r:id="rId15"/>
    <p:sldId id="277" r:id="rId16"/>
    <p:sldId id="263" r:id="rId17"/>
    <p:sldId id="270" r:id="rId18"/>
    <p:sldId id="278" r:id="rId19"/>
    <p:sldId id="264" r:id="rId20"/>
    <p:sldId id="265" r:id="rId21"/>
    <p:sldId id="266" r:id="rId22"/>
    <p:sldId id="267" r:id="rId23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672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=""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=""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=""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=""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=""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=""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=""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=""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=""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=""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=""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=""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=""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=""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=""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=""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=""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=""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=""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=""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=""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=""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FORENSEQUENCE : AI-Powered Digital Forensics</a:t>
            </a:r>
          </a:p>
          <a:p>
            <a:endParaRPr lang="en-US" sz="4000" b="1" dirty="0">
              <a:solidFill>
                <a:srgbClr val="7030A0"/>
              </a:solidFill>
              <a:latin typeface="Verdana" panose="020B0604030504040204" pitchFamily="34" charset="0"/>
              <a:ea typeface="+mn-ea"/>
              <a:cs typeface="+mn-cs"/>
            </a:endParaRPr>
          </a:p>
          <a:p>
            <a:r>
              <a:rPr lang="en-US" sz="40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Investigation System</a:t>
            </a:r>
            <a:r>
              <a:rPr lang="en-IN" sz="4000" b="1" dirty="0" smtClean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en-IN" sz="40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— REVIEW 2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=""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88" y="5183902"/>
            <a:ext cx="484508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 err="1" smtClean="0">
                <a:solidFill>
                  <a:srgbClr val="FF0000"/>
                </a:solidFill>
              </a:rPr>
              <a:t>Dr.</a:t>
            </a:r>
            <a:r>
              <a:rPr lang="en-IN" altLang="en-US" sz="2400" b="1" dirty="0" smtClean="0">
                <a:solidFill>
                  <a:srgbClr val="FF0000"/>
                </a:solidFill>
              </a:rPr>
              <a:t> S </a:t>
            </a:r>
            <a:r>
              <a:rPr lang="en-IN" altLang="en-US" sz="2400" b="1" dirty="0" err="1" smtClean="0">
                <a:solidFill>
                  <a:srgbClr val="FF0000"/>
                </a:solidFill>
              </a:rPr>
              <a:t>Bhuvana</a:t>
            </a:r>
            <a:r>
              <a:rPr lang="en-IN" altLang="en-US" sz="2400" b="1" dirty="0" smtClean="0">
                <a:solidFill>
                  <a:srgbClr val="FF0000"/>
                </a:solidFill>
              </a:rPr>
              <a:t>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 smtClean="0">
                <a:solidFill>
                  <a:srgbClr val="FF0000"/>
                </a:solidFill>
              </a:rPr>
              <a:t>Assistant Professor(SG)</a:t>
            </a:r>
            <a:endParaRPr lang="en-I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=""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183902"/>
            <a:ext cx="6096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 smtClean="0">
                <a:solidFill>
                  <a:srgbClr val="FF0000"/>
                </a:solidFill>
              </a:rPr>
              <a:t>KAVYA SRIRAM – 241901045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 smtClean="0">
                <a:solidFill>
                  <a:srgbClr val="FF0000"/>
                </a:solidFill>
              </a:rPr>
              <a:t>MOHAMED SALMAN - 241901055</a:t>
            </a:r>
          </a:p>
        </p:txBody>
      </p:sp>
      <p:sp>
        <p:nvSpPr>
          <p:cNvPr id="15" name="Title 1">
            <a:extLst>
              <a:ext uri="{FF2B5EF4-FFF2-40B4-BE49-F238E27FC236}">
                <a16:creationId xmlns=""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1" y="332656"/>
            <a:ext cx="10668000" cy="1216025"/>
          </a:xfrm>
        </p:spPr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Problem:</a:t>
            </a:r>
            <a:r>
              <a:rPr lang="en-US" sz="2400" dirty="0"/>
              <a:t> Digital forensic investigations involve analyzing large volumes of evidence from multiple sources, making it difficult to identify suspicious activities quickly.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Importance:</a:t>
            </a:r>
            <a:r>
              <a:rPr lang="en-US" sz="2400" dirty="0"/>
              <a:t> Delayed identification of suspicious activities affects investigators who need to examine evidence, understand incident sequences, and determine potential security threats.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Motivation:</a:t>
            </a:r>
            <a:r>
              <a:rPr lang="en-US" sz="2400" dirty="0"/>
              <a:t> To develop FORENSEQUENCE, a rule-based AI forensic assistant that automates evidence analysis, derives explainable findings, calculates risk levels, and monitors new evidence in real time.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Objectives</a:t>
            </a: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Analyze evidence from multiple sources.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Implement Rule-Based AI using Forward Chaining.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Calculate risk scores and reconstruct event timelines.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Enable real-time monitoring and PDF report generation.</a:t>
            </a:r>
          </a:p>
          <a:p>
            <a:pPr marL="0" indent="0">
              <a:buNone/>
            </a:pPr>
            <a:r>
              <a:rPr lang="en-US" sz="2400" b="1" dirty="0"/>
              <a:t>Progress</a:t>
            </a: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Requirements </a:t>
            </a:r>
            <a:r>
              <a:rPr lang="en-US" sz="2400" dirty="0"/>
              <a:t>and literature survey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System </a:t>
            </a:r>
            <a:r>
              <a:rPr lang="en-US" sz="2400" dirty="0"/>
              <a:t>design and methodology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Implementation</a:t>
            </a:r>
            <a:r>
              <a:rPr lang="en-US" sz="2400" dirty="0"/>
              <a:t>, testing and evaluation</a:t>
            </a:r>
          </a:p>
          <a:p>
            <a:pPr marL="0" indent="0">
              <a:buNone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Project Progress Since Review 1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Finalized system architecture and module design.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Defined the rule base and Forward Chaining workflow.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Planned multi-source evidence analysis and risk assessment.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Finalized the real-time monitoring and report generation approach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endParaRPr 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Current </a:t>
            </a:r>
            <a:r>
              <a:rPr lang="en-US" sz="2400" b="1" dirty="0"/>
              <a:t>Status:</a:t>
            </a:r>
            <a:r>
              <a:rPr lang="en-US" sz="2400" dirty="0"/>
              <a:t> Design finalized; implementation and testing in progress.</a:t>
            </a:r>
          </a:p>
          <a:p>
            <a:pPr marL="0" indent="0">
              <a:buNone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/>
            </a: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243933"/>
              </p:ext>
            </p:extLst>
          </p:nvPr>
        </p:nvGraphicFramePr>
        <p:xfrm>
          <a:off x="911425" y="1752600"/>
          <a:ext cx="10467776" cy="4141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89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208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2554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41166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93784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100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9653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err="1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Dunsin</a:t>
                      </a: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 et al. (2024)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AI in Digital Forensics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AI-based forensic techniques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Limited real-time investigation capabilities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9653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err="1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Alam</a:t>
                      </a: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 &amp; </a:t>
                      </a:r>
                      <a:r>
                        <a:rPr lang="en-IN" sz="1800" b="0" kern="1200" dirty="0" err="1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Demir</a:t>
                      </a: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 (2024)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SIFT: Explainable AI in Cyber Forensics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Explainable forensic analysis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Focuses on file-fragment classification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9653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Russell &amp; </a:t>
                      </a:r>
                      <a:r>
                        <a:rPr lang="en-IN" sz="1800" b="0" kern="1200" dirty="0" err="1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Norvig</a:t>
                      </a: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 (2020)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Artificial Intelligence: A Modern Approach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Rule-based reasoning, logical inference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Requires predefined knowledge and rules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/>
            </a: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756891"/>
              </p:ext>
            </p:extLst>
          </p:nvPr>
        </p:nvGraphicFramePr>
        <p:xfrm>
          <a:off x="983432" y="1746251"/>
          <a:ext cx="10748320" cy="2731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70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16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0256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9335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91553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66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5810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 dirty="0"/>
                        <a:t>4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Hargreaves &amp; Patterson (2012)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Automated Timeline Reconstruction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Event pattern analysis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dirty="0" smtClean="0">
                          <a:latin typeface="Aptos"/>
                        </a:rPr>
                        <a:t>Limited</a:t>
                      </a:r>
                      <a:r>
                        <a:rPr lang="en-IN" sz="1800" baseline="0" dirty="0" smtClean="0">
                          <a:latin typeface="Aptos"/>
                        </a:rPr>
                        <a:t> to pre-defined patterns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85810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800" dirty="0"/>
                        <a:t>5</a:t>
                      </a:r>
                      <a:endParaRPr sz="18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Kang et al. (2013)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User Activity Reconstruction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Signature-based analysis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b="0" kern="1200" dirty="0" smtClean="0">
                          <a:solidFill>
                            <a:schemeClr val="dk1"/>
                          </a:solidFill>
                          <a:latin typeface="Aptos"/>
                          <a:ea typeface="+mn-ea"/>
                          <a:cs typeface="+mn-cs"/>
                        </a:rPr>
                        <a:t>Depends on identifiable signatures</a:t>
                      </a:r>
                      <a:endParaRPr sz="1800" dirty="0">
                        <a:latin typeface="Aptos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42916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 Research Gap and Project Response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sp>
        <p:nvSpPr>
          <p:cNvPr id="20" name="Rounded Rectangle 3">
            <a:extLst>
              <a:ext uri="{FF2B5EF4-FFF2-40B4-BE49-F238E27FC236}">
                <a16:creationId xmlns=""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810966"/>
            <a:ext cx="5187950" cy="1546026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marL="0" indent="0" algn="ctr">
              <a:spcAft>
                <a:spcPts val="800"/>
              </a:spcAft>
              <a:buNone/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sz="1700" dirty="0" smtClean="0"/>
              <a:t>1. Literature findings</a:t>
            </a:r>
            <a:r>
              <a:rPr sz="1500" dirty="0" smtClean="0"/>
              <a:t>
</a:t>
            </a:r>
            <a:r>
              <a:rPr lang="en-US" sz="1700" b="1" dirty="0"/>
              <a:t>Existing studies focus on individual forensic techniques, rule-based analysis, and timeline reconstruction.</a:t>
            </a:r>
            <a:endParaRPr sz="1500" dirty="0"/>
          </a:p>
        </p:txBody>
      </p:sp>
      <p:sp>
        <p:nvSpPr>
          <p:cNvPr id="21" name="Rounded Rectangle 4">
            <a:extLst>
              <a:ext uri="{FF2B5EF4-FFF2-40B4-BE49-F238E27FC236}">
                <a16:creationId xmlns="" xmlns:a16="http://schemas.microsoft.com/office/drawing/2014/main" id="{FF66DAF5-0B91-4093-BD89-5CE7615E431A}"/>
              </a:ext>
            </a:extLst>
          </p:cNvPr>
          <p:cNvSpPr/>
          <p:nvPr/>
        </p:nvSpPr>
        <p:spPr>
          <a:xfrm>
            <a:off x="6096000" y="1752600"/>
            <a:ext cx="5452872" cy="1604392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2. Limitations
</a:t>
            </a:r>
            <a:r>
              <a:rPr lang="en-US" sz="1700" b="1" dirty="0"/>
              <a:t>Limited integration of evidence sources and lack of continuous, automated </a:t>
            </a:r>
            <a:r>
              <a:rPr lang="en-US" sz="1700" b="1" dirty="0" smtClean="0"/>
              <a:t>analysis.</a:t>
            </a:r>
            <a:endParaRPr dirty="0"/>
          </a:p>
        </p:txBody>
      </p:sp>
      <p:sp>
        <p:nvSpPr>
          <p:cNvPr id="22" name="Rounded Rectangle 5">
            <a:extLst>
              <a:ext uri="{FF2B5EF4-FFF2-40B4-BE49-F238E27FC236}">
                <a16:creationId xmlns="" xmlns:a16="http://schemas.microsoft.com/office/drawing/2014/main" id="{85599EEB-0FFB-4C94-AB5E-41D5A47FE9B6}"/>
              </a:ext>
            </a:extLst>
          </p:cNvPr>
          <p:cNvSpPr/>
          <p:nvPr/>
        </p:nvSpPr>
        <p:spPr>
          <a:xfrm>
            <a:off x="766233" y="3794760"/>
            <a:ext cx="5177367" cy="1434440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3. Refined research gap
</a:t>
            </a:r>
            <a:r>
              <a:rPr lang="en-US" sz="1700" b="1" dirty="0"/>
              <a:t>Need to combine evidence analysis, explainable reasoning, risk scoring, and real-time monitoring in one system.</a:t>
            </a:r>
            <a:endParaRPr dirty="0"/>
          </a:p>
        </p:txBody>
      </p:sp>
      <p:sp>
        <p:nvSpPr>
          <p:cNvPr id="24" name="Rounded Rectangle 6">
            <a:extLst>
              <a:ext uri="{FF2B5EF4-FFF2-40B4-BE49-F238E27FC236}">
                <a16:creationId xmlns="" xmlns:a16="http://schemas.microsoft.com/office/drawing/2014/main" id="{C31116F3-B074-468F-82D6-F9C068878439}"/>
              </a:ext>
            </a:extLst>
          </p:cNvPr>
          <p:cNvSpPr/>
          <p:nvPr/>
        </p:nvSpPr>
        <p:spPr>
          <a:xfrm>
            <a:off x="6199632" y="3794760"/>
            <a:ext cx="5349240" cy="143444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4. Progress toward the solution
</a:t>
            </a:r>
            <a:r>
              <a:rPr lang="en-US" sz="1700" b="1" dirty="0"/>
              <a:t>FORENSEQUENCE integrates multi-source analysis, Forward Chaining, risk assessment, timelines, and live monitoring.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System Architecture / Proposed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sp>
        <p:nvSpPr>
          <p:cNvPr id="4" name="Rounded Rectangle 3"/>
          <p:cNvSpPr/>
          <p:nvPr/>
        </p:nvSpPr>
        <p:spPr bwMode="auto">
          <a:xfrm>
            <a:off x="983432" y="1916832"/>
            <a:ext cx="4752528" cy="5040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Evidence sources</a:t>
            </a:r>
            <a:endParaRPr kumimoji="0" lang="en-I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983432" y="2708920"/>
            <a:ext cx="4752528" cy="5040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Evidence analysis</a:t>
            </a:r>
            <a:r>
              <a:rPr kumimoji="0" lang="en-IN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&amp; fast extraction</a:t>
            </a:r>
            <a:endParaRPr kumimoji="0" lang="en-I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983432" y="3501008"/>
            <a:ext cx="4752528" cy="5040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Knowledge</a:t>
            </a:r>
            <a:r>
              <a:rPr kumimoji="0" lang="en-IN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base + Forward chaining</a:t>
            </a:r>
            <a:endParaRPr kumimoji="0" lang="en-I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983432" y="4317528"/>
            <a:ext cx="4752528" cy="5040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Risk</a:t>
            </a:r>
            <a:r>
              <a:rPr kumimoji="0" lang="en-IN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Assessment &amp; Event Timeline</a:t>
            </a:r>
            <a:endParaRPr kumimoji="0" lang="en-I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983432" y="5194801"/>
            <a:ext cx="4752528" cy="5040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/>
              <a:t>Forensic Report · PDF · Alerts</a:t>
            </a:r>
            <a:endParaRPr kumimoji="0" lang="en-I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13" name="Straight Arrow Connector 12"/>
          <p:cNvCxnSpPr>
            <a:stCxn id="4" idx="2"/>
            <a:endCxn id="7" idx="0"/>
          </p:cNvCxnSpPr>
          <p:nvPr/>
        </p:nvCxnSpPr>
        <p:spPr bwMode="auto">
          <a:xfrm>
            <a:off x="3359696" y="2420888"/>
            <a:ext cx="0" cy="2880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/>
          <p:cNvCxnSpPr>
            <a:stCxn id="7" idx="2"/>
            <a:endCxn id="8" idx="0"/>
          </p:cNvCxnSpPr>
          <p:nvPr/>
        </p:nvCxnSpPr>
        <p:spPr bwMode="auto">
          <a:xfrm>
            <a:off x="3359696" y="3212976"/>
            <a:ext cx="0" cy="2880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>
            <a:stCxn id="8" idx="2"/>
            <a:endCxn id="9" idx="0"/>
          </p:cNvCxnSpPr>
          <p:nvPr/>
        </p:nvCxnSpPr>
        <p:spPr bwMode="auto">
          <a:xfrm>
            <a:off x="3359696" y="4005064"/>
            <a:ext cx="0" cy="312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>
            <a:stCxn id="9" idx="2"/>
            <a:endCxn id="10" idx="0"/>
          </p:cNvCxnSpPr>
          <p:nvPr/>
        </p:nvCxnSpPr>
        <p:spPr bwMode="auto">
          <a:xfrm>
            <a:off x="3359696" y="4821584"/>
            <a:ext cx="0" cy="3732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47439" y="1861051"/>
            <a:ext cx="6096000" cy="38318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ptos"/>
              </a:rPr>
              <a:t>Evidence Analyzer</a:t>
            </a:r>
            <a:r>
              <a:rPr lang="en-US" dirty="0">
                <a:latin typeface="Aptos"/>
              </a:rPr>
              <a:t>: Extracts forensic facts from multiple sources.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ptos"/>
              </a:rPr>
              <a:t>Knowledge Base</a:t>
            </a:r>
            <a:r>
              <a:rPr lang="en-US" dirty="0">
                <a:latin typeface="Aptos"/>
              </a:rPr>
              <a:t>: Stores IF–THEN rules.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ptos"/>
              </a:rPr>
              <a:t>Forward Chaining</a:t>
            </a:r>
            <a:r>
              <a:rPr lang="en-US" dirty="0">
                <a:latin typeface="Aptos"/>
              </a:rPr>
              <a:t>: Derives explainable findings from facts.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ptos"/>
              </a:rPr>
              <a:t>Risk &amp; Timeline</a:t>
            </a:r>
            <a:r>
              <a:rPr lang="en-US" dirty="0">
                <a:latin typeface="Aptos"/>
              </a:rPr>
              <a:t>: Assesses risk and organizes events chronologically.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ptos"/>
              </a:rPr>
              <a:t>Live Monitoring</a:t>
            </a:r>
            <a:r>
              <a:rPr lang="en-US" dirty="0">
                <a:latin typeface="Aptos"/>
              </a:rPr>
              <a:t>: Detects evidence changes and triggers re-analysis.</a:t>
            </a:r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</a:t>
            </a:r>
            <a:r>
              <a:rPr lang="en-US" sz="3200" b="1" dirty="0" smtClean="0">
                <a:solidFill>
                  <a:srgbClr val="FF0000"/>
                </a:solidFill>
              </a:rPr>
              <a:t>Diagram – Level 0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7785" y="1758542"/>
            <a:ext cx="8064896" cy="433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</a:t>
            </a:r>
            <a:r>
              <a:rPr lang="en-US" sz="3200" b="1" dirty="0" smtClean="0">
                <a:solidFill>
                  <a:srgbClr val="FF0000"/>
                </a:solidFill>
              </a:rPr>
              <a:t>Diagram – Level 1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9537" y="1700809"/>
            <a:ext cx="8352927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231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Methodology / Workflow Diagram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  <p:sp>
        <p:nvSpPr>
          <p:cNvPr id="4" name="Rounded Rectangle 3"/>
          <p:cNvSpPr/>
          <p:nvPr/>
        </p:nvSpPr>
        <p:spPr bwMode="auto">
          <a:xfrm>
            <a:off x="1985195" y="1916832"/>
            <a:ext cx="8208912" cy="43204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Evidence collection </a:t>
            </a:r>
            <a:r>
              <a:rPr kumimoji="0" lang="e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-</a:t>
            </a:r>
            <a:r>
              <a:rPr kumimoji="0" lang="en-IN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</a:t>
            </a:r>
            <a:r>
              <a:rPr lang="en-IN" dirty="0"/>
              <a:t>Logs · Files · Browser · Email</a:t>
            </a:r>
            <a:endParaRPr kumimoji="0" lang="en-I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1982419" y="2574305"/>
            <a:ext cx="8208912" cy="432048"/>
          </a:xfrm>
          <a:prstGeom prst="roundRect">
            <a:avLst/>
          </a:prstGeom>
          <a:solidFill>
            <a:schemeClr val="accent3">
              <a:lumMod val="95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 smtClean="0">
                <a:latin typeface="Verdana" pitchFamily="34" charset="0"/>
              </a:rPr>
              <a:t>Pre-processing</a:t>
            </a:r>
            <a:r>
              <a:rPr kumimoji="0" lang="e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</a:t>
            </a:r>
            <a:r>
              <a:rPr kumimoji="0" lang="e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-</a:t>
            </a:r>
            <a:r>
              <a:rPr kumimoji="0" lang="en-IN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</a:t>
            </a:r>
            <a:r>
              <a:rPr lang="en-IN" dirty="0"/>
              <a:t>Parse evidence · Extract facts</a:t>
            </a:r>
            <a:endParaRPr kumimoji="0" lang="en-I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1982419" y="3231778"/>
            <a:ext cx="8208912" cy="432048"/>
          </a:xfrm>
          <a:prstGeom prst="roundRect">
            <a:avLst/>
          </a:prstGeom>
          <a:solidFill>
            <a:schemeClr val="accent3">
              <a:lumMod val="95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 smtClean="0">
                <a:latin typeface="Verdana" pitchFamily="34" charset="0"/>
              </a:rPr>
              <a:t>System Design</a:t>
            </a:r>
            <a:r>
              <a:rPr kumimoji="0" lang="e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</a:t>
            </a:r>
            <a:r>
              <a:rPr kumimoji="0" lang="e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-</a:t>
            </a:r>
            <a:r>
              <a:rPr lang="en-IN" dirty="0">
                <a:latin typeface="Verdana" pitchFamily="34" charset="0"/>
              </a:rPr>
              <a:t> </a:t>
            </a:r>
            <a:r>
              <a:rPr lang="en-IN" dirty="0"/>
              <a:t>Architecture · Knowledge Base · Rules</a:t>
            </a:r>
            <a:endParaRPr kumimoji="0" lang="en-I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982419" y="3968316"/>
            <a:ext cx="8208912" cy="432048"/>
          </a:xfrm>
          <a:prstGeom prst="roundRect">
            <a:avLst/>
          </a:prstGeom>
          <a:solidFill>
            <a:schemeClr val="accent3">
              <a:lumMod val="95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 smtClean="0">
                <a:latin typeface="Verdana" pitchFamily="34" charset="0"/>
              </a:rPr>
              <a:t>Implementation</a:t>
            </a:r>
            <a:r>
              <a:rPr kumimoji="0" lang="e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</a:t>
            </a:r>
            <a:r>
              <a:rPr kumimoji="0" lang="e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-</a:t>
            </a:r>
            <a:r>
              <a:rPr lang="en-IN" dirty="0">
                <a:latin typeface="Verdana" pitchFamily="34" charset="0"/>
              </a:rPr>
              <a:t> </a:t>
            </a:r>
            <a:r>
              <a:rPr lang="en-US" dirty="0"/>
              <a:t>Forward Chaining · Risk · Timeline · Monitoring</a:t>
            </a:r>
            <a:endParaRPr kumimoji="0" lang="en-I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1982419" y="4649635"/>
            <a:ext cx="8208912" cy="43204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 smtClean="0">
                <a:latin typeface="Verdana" pitchFamily="34" charset="0"/>
              </a:rPr>
              <a:t>Testing</a:t>
            </a:r>
            <a:r>
              <a:rPr kumimoji="0" lang="e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</a:t>
            </a:r>
            <a:r>
              <a:rPr kumimoji="0" lang="e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-</a:t>
            </a:r>
            <a:r>
              <a:rPr lang="en-IN" dirty="0">
                <a:latin typeface="Verdana" pitchFamily="34" charset="0"/>
              </a:rPr>
              <a:t> </a:t>
            </a:r>
            <a:r>
              <a:rPr lang="en-US" dirty="0"/>
              <a:t>Verify rules · Evidence analysis · Alerts</a:t>
            </a:r>
            <a:endParaRPr kumimoji="0" lang="en-I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1982419" y="5362327"/>
            <a:ext cx="8208912" cy="432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 smtClean="0">
                <a:latin typeface="Verdana" pitchFamily="34" charset="0"/>
              </a:rPr>
              <a:t>Evaluation &amp; o/p</a:t>
            </a:r>
            <a:r>
              <a:rPr kumimoji="0" lang="e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</a:t>
            </a:r>
            <a:r>
              <a:rPr kumimoji="0" lang="e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-</a:t>
            </a:r>
            <a:r>
              <a:rPr lang="en-IN" dirty="0">
                <a:latin typeface="Verdana" pitchFamily="34" charset="0"/>
              </a:rPr>
              <a:t> </a:t>
            </a:r>
            <a:r>
              <a:rPr lang="en-US" dirty="0"/>
              <a:t>Assess findings · PDF Report · Risk Score</a:t>
            </a:r>
            <a:endParaRPr kumimoji="0" lang="en-I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12" name="Straight Arrow Connector 11"/>
          <p:cNvCxnSpPr>
            <a:stCxn id="4" idx="2"/>
            <a:endCxn id="7" idx="0"/>
          </p:cNvCxnSpPr>
          <p:nvPr/>
        </p:nvCxnSpPr>
        <p:spPr bwMode="auto">
          <a:xfrm flipH="1">
            <a:off x="6086875" y="2348880"/>
            <a:ext cx="2776" cy="225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/>
          <p:cNvCxnSpPr>
            <a:stCxn id="7" idx="2"/>
            <a:endCxn id="8" idx="0"/>
          </p:cNvCxnSpPr>
          <p:nvPr/>
        </p:nvCxnSpPr>
        <p:spPr bwMode="auto">
          <a:xfrm>
            <a:off x="6086875" y="3006353"/>
            <a:ext cx="0" cy="225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8" idx="2"/>
            <a:endCxn id="9" idx="0"/>
          </p:cNvCxnSpPr>
          <p:nvPr/>
        </p:nvCxnSpPr>
        <p:spPr bwMode="auto">
          <a:xfrm>
            <a:off x="6086875" y="3663826"/>
            <a:ext cx="0" cy="3044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>
            <a:stCxn id="9" idx="2"/>
            <a:endCxn id="10" idx="0"/>
          </p:cNvCxnSpPr>
          <p:nvPr/>
        </p:nvCxnSpPr>
        <p:spPr bwMode="auto">
          <a:xfrm>
            <a:off x="6086875" y="4400364"/>
            <a:ext cx="0" cy="2492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10" idx="2"/>
            <a:endCxn id="11" idx="0"/>
          </p:cNvCxnSpPr>
          <p:nvPr/>
        </p:nvCxnSpPr>
        <p:spPr bwMode="auto">
          <a:xfrm>
            <a:off x="6086875" y="5081683"/>
            <a:ext cx="0" cy="2806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Tools and Technologies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50775"/>
              </p:ext>
            </p:extLst>
          </p:nvPr>
        </p:nvGraphicFramePr>
        <p:xfrm>
          <a:off x="755650" y="1916832"/>
          <a:ext cx="10668942" cy="2376265"/>
        </p:xfrm>
        <a:graphic>
          <a:graphicData uri="http://schemas.openxmlformats.org/drawingml/2006/table">
            <a:tbl>
              <a:tblPr/>
              <a:tblGrid>
                <a:gridCol w="5334000"/>
                <a:gridCol w="5334942"/>
              </a:tblGrid>
              <a:tr h="424932">
                <a:tc>
                  <a:txBody>
                    <a:bodyPr/>
                    <a:lstStyle/>
                    <a:p>
                      <a:pPr algn="l" rtl="0"/>
                      <a:r>
                        <a:rPr lang="en-IN" b="1" i="0" dirty="0">
                          <a:solidFill>
                            <a:srgbClr val="000000"/>
                          </a:solidFill>
                          <a:effectLst/>
                        </a:rPr>
                        <a:t>Programming Language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IN" b="1" i="0">
                          <a:solidFill>
                            <a:srgbClr val="000000"/>
                          </a:solidFill>
                          <a:effectLst/>
                        </a:rPr>
                        <a:t>Python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807">
                <a:tc>
                  <a:txBody>
                    <a:bodyPr/>
                    <a:lstStyle/>
                    <a:p>
                      <a:pPr algn="l" rtl="0"/>
                      <a:r>
                        <a:rPr lang="en-IN" b="1" i="0">
                          <a:solidFill>
                            <a:srgbClr val="000000"/>
                          </a:solidFill>
                          <a:effectLst/>
                        </a:rPr>
                        <a:t>GUI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IN" b="1" i="0">
                          <a:solidFill>
                            <a:srgbClr val="000000"/>
                          </a:solidFill>
                          <a:effectLst/>
                        </a:rPr>
                        <a:t>Tkinter + ttkbootstrap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807">
                <a:tc>
                  <a:txBody>
                    <a:bodyPr/>
                    <a:lstStyle/>
                    <a:p>
                      <a:pPr algn="l" rtl="0"/>
                      <a:r>
                        <a:rPr lang="en-IN" b="1" i="0">
                          <a:solidFill>
                            <a:srgbClr val="000000"/>
                          </a:solidFill>
                          <a:effectLst/>
                        </a:rPr>
                        <a:t>DataBase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IN" b="1" i="0">
                          <a:solidFill>
                            <a:srgbClr val="000000"/>
                          </a:solidFill>
                          <a:effectLst/>
                        </a:rPr>
                        <a:t>SQLite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912">
                <a:tc>
                  <a:txBody>
                    <a:bodyPr/>
                    <a:lstStyle/>
                    <a:p>
                      <a:pPr algn="l" rtl="0"/>
                      <a:r>
                        <a:rPr lang="en-IN" b="1" i="0">
                          <a:solidFill>
                            <a:srgbClr val="000000"/>
                          </a:solidFill>
                          <a:effectLst/>
                        </a:rPr>
                        <a:t>AI Techniques 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b="1" i="0">
                          <a:solidFill>
                            <a:srgbClr val="000000"/>
                          </a:solidFill>
                          <a:effectLst/>
                        </a:rPr>
                        <a:t>Rule-Based Expert System, Forward Chaining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807">
                <a:tc>
                  <a:txBody>
                    <a:bodyPr/>
                    <a:lstStyle/>
                    <a:p>
                      <a:pPr algn="l" rtl="0"/>
                      <a:r>
                        <a:rPr lang="en-IN" b="1" i="0" dirty="0">
                          <a:solidFill>
                            <a:srgbClr val="000000"/>
                          </a:solidFill>
                          <a:effectLst/>
                        </a:rPr>
                        <a:t>Libraries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IN" b="1" i="0" dirty="0">
                          <a:solidFill>
                            <a:srgbClr val="000000"/>
                          </a:solidFill>
                          <a:effectLst/>
                        </a:rPr>
                        <a:t>Pandas, watchdog, </a:t>
                      </a:r>
                      <a:r>
                        <a:rPr lang="en-IN" b="1" i="0" dirty="0" err="1">
                          <a:solidFill>
                            <a:srgbClr val="000000"/>
                          </a:solidFill>
                          <a:effectLst/>
                        </a:rPr>
                        <a:t>ReportLab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766233" y="4653136"/>
            <a:ext cx="1066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Justification</a:t>
            </a:r>
            <a:r>
              <a:rPr lang="en-IN" dirty="0"/>
              <a:t>: Python enables rapid development; </a:t>
            </a:r>
            <a:r>
              <a:rPr lang="en-IN" dirty="0" err="1"/>
              <a:t>Tkinter</a:t>
            </a:r>
            <a:r>
              <a:rPr lang="en-IN" dirty="0"/>
              <a:t> supports the desktop GUI; Pandas processes structured data; watchdog enables real-time monitoring; </a:t>
            </a:r>
            <a:r>
              <a:rPr lang="en-IN" dirty="0" err="1"/>
              <a:t>ReportLab</a:t>
            </a:r>
            <a:r>
              <a:rPr lang="en-IN" dirty="0"/>
              <a:t> generates PDF reports; SQLite stores case data locally.</a:t>
            </a:r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448" y="1916832"/>
            <a:ext cx="9937103" cy="396043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Implementation – Part 1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2962398"/>
              </p:ext>
            </p:extLst>
          </p:nvPr>
        </p:nvGraphicFramePr>
        <p:xfrm>
          <a:off x="911422" y="1752600"/>
          <a:ext cx="10467780" cy="4257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945"/>
                <a:gridCol w="2616945"/>
                <a:gridCol w="2616945"/>
                <a:gridCol w="2616945"/>
              </a:tblGrid>
              <a:tr h="97069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/>
                        </a:rPr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latin typeface="Aptos"/>
                        </a:rPr>
                        <a:t>Purpose/</a:t>
                      </a:r>
                      <a:r>
                        <a:rPr lang="en-IN" sz="2000" baseline="0" dirty="0" smtClean="0">
                          <a:latin typeface="Aptos"/>
                        </a:rPr>
                        <a:t> </a:t>
                      </a:r>
                    </a:p>
                    <a:p>
                      <a:r>
                        <a:rPr lang="en-IN" sz="2000" baseline="0" dirty="0" smtClean="0">
                          <a:latin typeface="Aptos"/>
                        </a:rPr>
                        <a:t>input-output</a:t>
                      </a:r>
                      <a:endParaRPr lang="en-IN" sz="2000" dirty="0"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latin typeface="Aptos"/>
                        </a:rPr>
                        <a:t>Implementation Approach</a:t>
                      </a:r>
                      <a:endParaRPr lang="en-IN" sz="2000" dirty="0"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000" dirty="0" smtClean="0">
                        <a:latin typeface="Aptos"/>
                      </a:endParaRPr>
                    </a:p>
                    <a:p>
                      <a:r>
                        <a:rPr lang="en-IN" sz="2000" dirty="0" smtClean="0">
                          <a:latin typeface="Aptos"/>
                        </a:rPr>
                        <a:t>Status</a:t>
                      </a:r>
                      <a:endParaRPr lang="en-IN" sz="2000" dirty="0">
                        <a:latin typeface="Aptos"/>
                      </a:endParaRPr>
                    </a:p>
                  </a:txBody>
                  <a:tcPr/>
                </a:tc>
              </a:tr>
              <a:tr h="1212602"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latin typeface="Aptos"/>
                        </a:rPr>
                        <a:t>1. Case &amp; Evidence Management</a:t>
                      </a:r>
                      <a:endParaRPr lang="en-IN" sz="20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ptos"/>
                        </a:rPr>
                        <a:t>Case details, evidence → Stored evidence, SHA-256 hash</a:t>
                      </a:r>
                      <a:endParaRPr lang="en-IN" sz="20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ptos"/>
                        </a:rPr>
                        <a:t>Case management, file handling, hashing</a:t>
                      </a:r>
                      <a:endParaRPr lang="en-IN" sz="20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latin typeface="Aptos"/>
                        </a:rPr>
                        <a:t>Completed</a:t>
                      </a:r>
                      <a:endParaRPr lang="en-IN" sz="2000" dirty="0">
                        <a:latin typeface="Aptos"/>
                      </a:endParaRPr>
                    </a:p>
                  </a:txBody>
                  <a:tcPr/>
                </a:tc>
              </a:tr>
              <a:tr h="970690"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latin typeface="Aptos"/>
                        </a:rPr>
                        <a:t>2. Multi-Source Evidence Analysis</a:t>
                      </a:r>
                      <a:endParaRPr lang="en-IN" sz="20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ptos"/>
                        </a:rPr>
                        <a:t>Logs, files, browser, email → Extracted facts</a:t>
                      </a:r>
                      <a:endParaRPr lang="en-IN" sz="20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ptos"/>
                        </a:rPr>
                        <a:t>Evidence parsing and fact extraction</a:t>
                      </a:r>
                      <a:endParaRPr lang="en-IN" sz="20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latin typeface="Aptos"/>
                        </a:rPr>
                        <a:t>Completed</a:t>
                      </a:r>
                      <a:endParaRPr lang="en-IN" sz="2000" dirty="0">
                        <a:latin typeface="Aptos"/>
                      </a:endParaRPr>
                    </a:p>
                  </a:txBody>
                  <a:tcPr/>
                </a:tc>
              </a:tr>
              <a:tr h="970690"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latin typeface="Aptos"/>
                        </a:rPr>
                        <a:t>3. Rule-Based AI Reasoning</a:t>
                      </a:r>
                      <a:endParaRPr lang="en-IN" sz="20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ptos"/>
                        </a:rPr>
                        <a:t>Extracted facts, rules → Forensic findings</a:t>
                      </a:r>
                      <a:endParaRPr lang="en-IN" sz="20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latin typeface="Aptos"/>
                        </a:rPr>
                        <a:t>IF–THEN rules, Forward Chaining</a:t>
                      </a:r>
                      <a:endParaRPr lang="en-IN" sz="20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latin typeface="Aptos"/>
                        </a:rPr>
                        <a:t>Completed</a:t>
                      </a:r>
                      <a:endParaRPr lang="en-IN" sz="2000" dirty="0">
                        <a:latin typeface="Apto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Implementation – 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Part 2 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15</a:t>
            </a:fld>
            <a:endParaRPr lang="en-IN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816865"/>
              </p:ext>
            </p:extLst>
          </p:nvPr>
        </p:nvGraphicFramePr>
        <p:xfrm>
          <a:off x="755650" y="1752601"/>
          <a:ext cx="106680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2667000"/>
                <a:gridCol w="2667000"/>
                <a:gridCol w="2667000"/>
              </a:tblGrid>
              <a:tr h="502016">
                <a:tc>
                  <a:txBody>
                    <a:bodyPr/>
                    <a:lstStyle/>
                    <a:p>
                      <a:r>
                        <a:rPr lang="en-IN" sz="2100" dirty="0">
                          <a:latin typeface="Aptos"/>
                        </a:rPr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100" dirty="0" smtClean="0">
                          <a:latin typeface="Aptos"/>
                        </a:rPr>
                        <a:t>Purpose/</a:t>
                      </a:r>
                      <a:r>
                        <a:rPr lang="en-IN" sz="2100" baseline="0" dirty="0" smtClean="0">
                          <a:latin typeface="Aptos"/>
                        </a:rPr>
                        <a:t> </a:t>
                      </a:r>
                    </a:p>
                    <a:p>
                      <a:r>
                        <a:rPr lang="en-IN" sz="2100" baseline="0" dirty="0" smtClean="0">
                          <a:latin typeface="Aptos"/>
                        </a:rPr>
                        <a:t>input-output</a:t>
                      </a:r>
                      <a:endParaRPr lang="en-IN" sz="2100" dirty="0"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100" dirty="0" smtClean="0">
                          <a:latin typeface="Aptos"/>
                        </a:rPr>
                        <a:t>Implementation Approach</a:t>
                      </a:r>
                      <a:endParaRPr lang="en-IN" sz="2100" dirty="0"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100" dirty="0" smtClean="0">
                        <a:latin typeface="Aptos"/>
                      </a:endParaRPr>
                    </a:p>
                    <a:p>
                      <a:r>
                        <a:rPr lang="en-IN" sz="2100" dirty="0" smtClean="0">
                          <a:latin typeface="Aptos"/>
                        </a:rPr>
                        <a:t>Status</a:t>
                      </a:r>
                      <a:endParaRPr lang="en-IN" sz="2100" dirty="0">
                        <a:latin typeface="Aptos"/>
                      </a:endParaRPr>
                    </a:p>
                  </a:txBody>
                  <a:tcPr/>
                </a:tc>
              </a:tr>
              <a:tr h="725134"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latin typeface="Aptos"/>
                        </a:rPr>
                        <a:t>4. Risk &amp; Event Sequence Analysis</a:t>
                      </a:r>
                      <a:endParaRPr lang="en-IN" sz="21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dirty="0" smtClean="0">
                          <a:latin typeface="Aptos"/>
                        </a:rPr>
                        <a:t>Findings, event data → Risk score, timeline</a:t>
                      </a:r>
                      <a:endParaRPr lang="en-IN" sz="21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latin typeface="Aptos"/>
                        </a:rPr>
                        <a:t>Risk calculation and event ordering</a:t>
                      </a:r>
                      <a:endParaRPr lang="en-IN" sz="21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dirty="0" smtClean="0">
                          <a:latin typeface="Aptos"/>
                        </a:rPr>
                        <a:t>Completed</a:t>
                      </a:r>
                      <a:endParaRPr lang="en-IN" sz="2100" dirty="0">
                        <a:latin typeface="Aptos"/>
                      </a:endParaRPr>
                    </a:p>
                  </a:txBody>
                  <a:tcPr/>
                </a:tc>
              </a:tr>
              <a:tr h="725134">
                <a:tc>
                  <a:txBody>
                    <a:bodyPr/>
                    <a:lstStyle/>
                    <a:p>
                      <a:r>
                        <a:rPr lang="en-IN" sz="2100" dirty="0" smtClean="0">
                          <a:latin typeface="Aptos"/>
                        </a:rPr>
                        <a:t>5. Forensic Report Generations</a:t>
                      </a:r>
                      <a:endParaRPr lang="en-IN" sz="21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dirty="0" smtClean="0">
                          <a:latin typeface="Aptos"/>
                        </a:rPr>
                        <a:t>Findings, risk, timeline → Report, PDF</a:t>
                      </a:r>
                      <a:endParaRPr lang="en-IN" sz="21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latin typeface="Aptos"/>
                        </a:rPr>
                        <a:t>Report</a:t>
                      </a:r>
                      <a:r>
                        <a:rPr lang="en-US" sz="2100" baseline="0" dirty="0" smtClean="0">
                          <a:latin typeface="Aptos"/>
                        </a:rPr>
                        <a:t> formatting and PDF export</a:t>
                      </a:r>
                      <a:endParaRPr lang="en-IN" sz="21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dirty="0" smtClean="0">
                          <a:latin typeface="Aptos"/>
                        </a:rPr>
                        <a:t>In-progress</a:t>
                      </a:r>
                      <a:endParaRPr lang="en-IN" sz="2100" dirty="0">
                        <a:latin typeface="Aptos"/>
                      </a:endParaRPr>
                    </a:p>
                  </a:txBody>
                  <a:tcPr/>
                </a:tc>
              </a:tr>
              <a:tr h="948252">
                <a:tc>
                  <a:txBody>
                    <a:bodyPr/>
                    <a:lstStyle/>
                    <a:p>
                      <a:r>
                        <a:rPr lang="en-IN" sz="2100" dirty="0" smtClean="0">
                          <a:latin typeface="Aptos"/>
                        </a:rPr>
                        <a:t>6. Real-Time Monitoring</a:t>
                      </a:r>
                      <a:endParaRPr lang="en-IN" sz="21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dirty="0" smtClean="0">
                          <a:latin typeface="Aptos"/>
                        </a:rPr>
                        <a:t>Monitored evidence → Change alerts, re-analysis</a:t>
                      </a:r>
                      <a:endParaRPr lang="en-IN" sz="21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dirty="0" smtClean="0">
                          <a:latin typeface="Aptos"/>
                        </a:rPr>
                        <a:t>File monitoring using watchdog</a:t>
                      </a:r>
                      <a:endParaRPr lang="en-IN" sz="210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dirty="0" smtClean="0">
                          <a:latin typeface="Aptos"/>
                        </a:rPr>
                        <a:t>Pending</a:t>
                      </a:r>
                      <a:endParaRPr lang="en-IN" sz="2100" dirty="0">
                        <a:latin typeface="Apto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072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Preliminary Results and Discussion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16</a:t>
            </a:fld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1772816"/>
            <a:ext cx="8064896" cy="3814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87888" y="565508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4" y="1844824"/>
            <a:ext cx="7379591" cy="3809714"/>
          </a:xfr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439816" y="5733256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INVESTIGATION TAB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439816" y="5733256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THREAT ANALYSIS TAB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980" y="1831497"/>
            <a:ext cx="7641143" cy="3901759"/>
          </a:xfrm>
        </p:spPr>
      </p:pic>
    </p:spTree>
    <p:extLst>
      <p:ext uri="{BB962C8B-B14F-4D97-AF65-F5344CB8AC3E}">
        <p14:creationId xmlns:p14="http://schemas.microsoft.com/office/powerpoint/2010/main" val="1929901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Challenges Faced and Solutions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b="1" dirty="0" smtClean="0"/>
              <a:t>Multi-Source </a:t>
            </a:r>
            <a:r>
              <a:rPr lang="en-US" sz="2200" b="1" dirty="0"/>
              <a:t>Evidence Handling</a:t>
            </a:r>
            <a:r>
              <a:rPr lang="en-US" sz="2200" dirty="0"/>
              <a:t>: Different evidence formats require different parsing methods. Solution: Use format-specific parsers for logs, files, and CSV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 smtClean="0"/>
              <a:t>Rule-Based </a:t>
            </a:r>
            <a:r>
              <a:rPr lang="en-US" sz="2200" b="1" dirty="0"/>
              <a:t>Reasoning</a:t>
            </a:r>
            <a:r>
              <a:rPr lang="en-US" sz="2200" dirty="0"/>
              <a:t>: Findings depend on accurate fact extraction and rule matching. Solution: Use structured facts and predefined IF–THEN rules with Forward Chaining.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 smtClean="0"/>
              <a:t>Risk </a:t>
            </a:r>
            <a:r>
              <a:rPr lang="en-US" sz="2200" b="1" dirty="0"/>
              <a:t>Assessment</a:t>
            </a:r>
            <a:r>
              <a:rPr lang="en-US" sz="2200" dirty="0"/>
              <a:t>: Combining multiple findings into a meaningful risk level can be challenging. Solution: Apply weighted risk scores and predefined risk levels.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 smtClean="0"/>
              <a:t>Remaining </a:t>
            </a:r>
            <a:r>
              <a:rPr lang="en-US" sz="2200" b="1" dirty="0"/>
              <a:t>Challenges</a:t>
            </a:r>
            <a:r>
              <a:rPr lang="en-US" sz="2200" dirty="0"/>
              <a:t>: Complete PDF report generation, implement real-time monitoring, and test the integrated system.</a:t>
            </a:r>
          </a:p>
          <a:p>
            <a:pPr>
              <a:buFont typeface="Wingdings" panose="05000000000000000000" pitchFamily="2" charset="2"/>
              <a:buChar char="Ø"/>
            </a:pPr>
            <a:endParaRPr sz="2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Work Plan Until Final Review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52600"/>
            <a:ext cx="5124325" cy="4267200"/>
          </a:xfrm>
        </p:spPr>
        <p:txBody>
          <a:bodyPr/>
          <a:lstStyle/>
          <a:p>
            <a:pPr marL="0" indent="0">
              <a:buNone/>
            </a:pPr>
            <a:r>
              <a:rPr lang="en-US" sz="2100" dirty="0">
                <a:latin typeface="Aptos"/>
              </a:rPr>
              <a:t>Week 1 – Implementation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>
                <a:latin typeface="Aptos"/>
              </a:rPr>
              <a:t>Complete PDF report generation.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>
                <a:latin typeface="Aptos"/>
              </a:rPr>
              <a:t>Implement real-time evidence monitoring</a:t>
            </a:r>
            <a:r>
              <a:rPr lang="en-US" sz="2100" dirty="0" smtClean="0">
                <a:latin typeface="Aptos"/>
              </a:rPr>
              <a:t>.</a:t>
            </a:r>
          </a:p>
          <a:p>
            <a:pPr marL="0" indent="0">
              <a:buNone/>
            </a:pPr>
            <a:endParaRPr lang="en-US" sz="2100" dirty="0">
              <a:latin typeface="Aptos"/>
            </a:endParaRPr>
          </a:p>
          <a:p>
            <a:pPr marL="0" indent="0">
              <a:buNone/>
            </a:pPr>
            <a:endParaRPr lang="en-US" sz="2100" dirty="0">
              <a:latin typeface="Aptos"/>
            </a:endParaRPr>
          </a:p>
          <a:p>
            <a:pPr marL="0" indent="0">
              <a:buNone/>
            </a:pPr>
            <a:r>
              <a:rPr lang="en-US" sz="2100" dirty="0">
                <a:latin typeface="Aptos"/>
              </a:rPr>
              <a:t>Week 2 – Integration &amp; Testing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>
                <a:latin typeface="Aptos"/>
              </a:rPr>
              <a:t>Integrate all modules.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>
                <a:latin typeface="Aptos"/>
              </a:rPr>
              <a:t>Test evidence analysis, rules, risk scores, and alerts</a:t>
            </a:r>
            <a:r>
              <a:rPr lang="en-US" sz="2100" dirty="0" smtClean="0">
                <a:latin typeface="Aptos"/>
              </a:rPr>
              <a:t>.</a:t>
            </a:r>
            <a:endParaRPr lang="en-US" sz="2100" dirty="0">
              <a:latin typeface="Apto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20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01F36FF0-FD4A-EE78-6CA2-4ADCB6BA1B65}"/>
              </a:ext>
            </a:extLst>
          </p:cNvPr>
          <p:cNvSpPr txBox="1">
            <a:spLocks/>
          </p:cNvSpPr>
          <p:nvPr/>
        </p:nvSpPr>
        <p:spPr bwMode="auto">
          <a:xfrm>
            <a:off x="6175437" y="1749425"/>
            <a:ext cx="5124325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ptos"/>
              </a:rPr>
              <a:t>Week 3 – Evaluation &amp; Documentation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>
                <a:latin typeface="Aptos"/>
              </a:rPr>
              <a:t>Evaluate test results and fix errors.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>
                <a:latin typeface="Aptos"/>
              </a:rPr>
              <a:t>Complete project report and documentation</a:t>
            </a:r>
            <a:r>
              <a:rPr lang="en-US" sz="2100" dirty="0" smtClean="0">
                <a:latin typeface="Aptos"/>
              </a:rPr>
              <a:t>.</a:t>
            </a:r>
          </a:p>
          <a:p>
            <a:endParaRPr lang="en-US" sz="2100" dirty="0">
              <a:latin typeface="Aptos"/>
            </a:endParaRPr>
          </a:p>
          <a:p>
            <a:pPr marL="0" indent="0">
              <a:buNone/>
            </a:pPr>
            <a:endParaRPr lang="en-US" sz="2100" dirty="0">
              <a:latin typeface="Aptos"/>
            </a:endParaRPr>
          </a:p>
          <a:p>
            <a:pPr marL="0" indent="0">
              <a:buNone/>
            </a:pPr>
            <a:r>
              <a:rPr lang="en-US" sz="2100" dirty="0">
                <a:latin typeface="Aptos"/>
              </a:rPr>
              <a:t>Week 4 – Final Preparation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>
                <a:latin typeface="Aptos"/>
              </a:rPr>
              <a:t>Capture output screenshots.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>
                <a:latin typeface="Aptos"/>
              </a:rPr>
              <a:t>Finalize PPT and prepare the demonstration.</a:t>
            </a:r>
            <a:endParaRPr lang="en-US" sz="21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D. </a:t>
            </a:r>
            <a:r>
              <a:rPr lang="en-IN" sz="2400" dirty="0" err="1"/>
              <a:t>Dunsin</a:t>
            </a:r>
            <a:r>
              <a:rPr lang="en-IN" sz="2400" dirty="0"/>
              <a:t> et al. (2023) — Rule-Based Digital Forensics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S. </a:t>
            </a:r>
            <a:r>
              <a:rPr lang="en-IN" sz="2400" dirty="0" err="1"/>
              <a:t>Alam</a:t>
            </a:r>
            <a:r>
              <a:rPr lang="en-IN" sz="2400" dirty="0"/>
              <a:t> &amp; A. K. </a:t>
            </a:r>
            <a:r>
              <a:rPr lang="en-IN" sz="2400" dirty="0" err="1"/>
              <a:t>Demir</a:t>
            </a:r>
            <a:r>
              <a:rPr lang="en-IN" sz="2400" dirty="0"/>
              <a:t> (2024) — SIFT: Explainable AI in Cyber Forensics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D. D. et al. (2024) — AI in Digital Forensic Investigation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S. Russell &amp; P. </a:t>
            </a:r>
            <a:r>
              <a:rPr lang="en-IN" sz="2400" dirty="0" err="1"/>
              <a:t>Norvig</a:t>
            </a:r>
            <a:r>
              <a:rPr lang="en-IN" sz="2400" dirty="0"/>
              <a:t> — Artificial Intelligence: A Modern Approach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Python Software Foundation — Python Documentation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SQLite — SQLite Documentation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2462</TotalTime>
  <Words>1040</Words>
  <Application>Microsoft Office PowerPoint</Application>
  <PresentationFormat>Widescreen</PresentationFormat>
  <Paragraphs>209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Project Progress Since Review 1</vt:lpstr>
      <vt:lpstr>Literature Survey</vt:lpstr>
      <vt:lpstr>Literature Survey</vt:lpstr>
      <vt:lpstr> Research Gap and Project Response</vt:lpstr>
      <vt:lpstr>System Architecture / Proposed System</vt:lpstr>
      <vt:lpstr>DFD Diagram – Level 0</vt:lpstr>
      <vt:lpstr>DFD Diagram – Level 1</vt:lpstr>
      <vt:lpstr>Methodology / Workflow Diagram</vt:lpstr>
      <vt:lpstr>Tools and Technologies</vt:lpstr>
      <vt:lpstr>List of Modules</vt:lpstr>
      <vt:lpstr>Module Implementation – Part 1</vt:lpstr>
      <vt:lpstr>Module Implementation – Part 2 </vt:lpstr>
      <vt:lpstr>Preliminary Results and Discussion</vt:lpstr>
      <vt:lpstr>User Interface / Implementation Screenshots</vt:lpstr>
      <vt:lpstr>User Interface / Implementation Screenshots</vt:lpstr>
      <vt:lpstr>Challenges Faced and Solutions</vt:lpstr>
      <vt:lpstr>Work Plan Until Final Review</vt:lpstr>
      <vt:lpstr>References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40</cp:revision>
  <dcterms:modified xsi:type="dcterms:W3CDTF">2026-10-15T17:57:46Z</dcterms:modified>
</cp:coreProperties>
</file>