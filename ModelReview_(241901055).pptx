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6"/>
  </p:notesMasterIdLst>
  <p:sldIdLst>
    <p:sldId id="256" r:id="rId2"/>
    <p:sldId id="257" r:id="rId3"/>
    <p:sldId id="258" r:id="rId4"/>
    <p:sldId id="259" r:id="rId5"/>
    <p:sldId id="271" r:id="rId6"/>
    <p:sldId id="274" r:id="rId7"/>
    <p:sldId id="272" r:id="rId8"/>
    <p:sldId id="273" r:id="rId9"/>
    <p:sldId id="260" r:id="rId10"/>
    <p:sldId id="276" r:id="rId11"/>
    <p:sldId id="268" r:id="rId12"/>
    <p:sldId id="275" r:id="rId13"/>
    <p:sldId id="261" r:id="rId14"/>
    <p:sldId id="262" r:id="rId15"/>
    <p:sldId id="277" r:id="rId16"/>
    <p:sldId id="278" r:id="rId17"/>
    <p:sldId id="263" r:id="rId18"/>
    <p:sldId id="270" r:id="rId19"/>
    <p:sldId id="279" r:id="rId20"/>
    <p:sldId id="280" r:id="rId21"/>
    <p:sldId id="264" r:id="rId22"/>
    <p:sldId id="265" r:id="rId23"/>
    <p:sldId id="266" r:id="rId24"/>
    <p:sldId id="267" r:id="rId25"/>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1" clrIdx="0">
    <p:extLst>
      <p:ext uri="{19B8F6BF-5375-455C-9EA6-DF929625EA0E}">
        <p15:presenceInfo xmlns:p15="http://schemas.microsoft.com/office/powerpoint/2012/main" userId="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672" y="3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E05D0-A421-4EF3-8512-AD1148C82550}" type="datetimeFigureOut">
              <a:rPr lang="en-IN" smtClean="0"/>
              <a:t>14-10-2026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C5D9F-5FDD-4E04-AD07-37773298FBF3}" type="slidenum">
              <a:rPr lang="en-IN" smtClean="0"/>
              <a:t>‹#›</a:t>
            </a:fld>
            <a:endParaRPr lang="en-IN"/>
          </a:p>
        </p:txBody>
      </p:sp>
    </p:spTree>
    <p:extLst>
      <p:ext uri="{BB962C8B-B14F-4D97-AF65-F5344CB8AC3E}">
        <p14:creationId xmlns:p14="http://schemas.microsoft.com/office/powerpoint/2010/main" val="809667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xmlns="" id="{8D13192D-1816-F03A-9AF1-BBA902A8A17D}"/>
              </a:ext>
            </a:extLst>
          </p:cNvPr>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5122"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5123"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3" name="Date Placeholder 2">
            <a:extLst>
              <a:ext uri="{FF2B5EF4-FFF2-40B4-BE49-F238E27FC236}">
                <a16:creationId xmlns:a16="http://schemas.microsoft.com/office/drawing/2014/main" xmlns="" id="{814B6A37-AD04-C654-AC92-D9CC3ADF0A51}"/>
              </a:ext>
            </a:extLst>
          </p:cNvPr>
          <p:cNvSpPr>
            <a:spLocks noGrp="1" noChangeArrowheads="1"/>
          </p:cNvSpPr>
          <p:nvPr>
            <p:ph type="dt" sz="half" idx="10"/>
          </p:nvPr>
        </p:nvSpPr>
        <p:spPr>
          <a:xfrm>
            <a:off x="914400" y="6248400"/>
            <a:ext cx="2540000" cy="457200"/>
          </a:xfrm>
        </p:spPr>
        <p:txBody>
          <a:bodyPr/>
          <a:lstStyle>
            <a:lvl1pPr>
              <a:defRPr/>
            </a:lvl1pPr>
          </a:lstStyle>
          <a:p>
            <a:pPr>
              <a:defRPr/>
            </a:pPr>
            <a:r>
              <a:rPr lang="en-US"/>
              <a:t>Second Review</a:t>
            </a:r>
          </a:p>
        </p:txBody>
      </p:sp>
      <p:sp>
        <p:nvSpPr>
          <p:cNvPr id="4" name="Footer Placeholder 3">
            <a:extLst>
              <a:ext uri="{FF2B5EF4-FFF2-40B4-BE49-F238E27FC236}">
                <a16:creationId xmlns:a16="http://schemas.microsoft.com/office/drawing/2014/main" xmlns="" id="{EE58272B-7D6B-F3CE-953F-1079FFA8D80E}"/>
              </a:ext>
            </a:extLst>
          </p:cNvPr>
          <p:cNvSpPr>
            <a:spLocks noGrp="1" noChangeArrowheads="1"/>
          </p:cNvSpPr>
          <p:nvPr>
            <p:ph type="ftr" sz="quarter" idx="11"/>
          </p:nvPr>
        </p:nvSpPr>
        <p:spPr>
          <a:xfrm>
            <a:off x="4165600" y="6248400"/>
            <a:ext cx="3860800" cy="457200"/>
          </a:xfrm>
        </p:spPr>
        <p:txBody>
          <a:bodyPr/>
          <a:lstStyle>
            <a:lvl1pPr>
              <a:defRPr/>
            </a:lvl1pPr>
          </a:lstStyle>
          <a:p>
            <a:pPr>
              <a:defRPr/>
            </a:pPr>
            <a:r>
              <a:rPr lang="en-US"/>
              <a:t>Department of Computer Science and Engineering</a:t>
            </a:r>
          </a:p>
        </p:txBody>
      </p:sp>
      <p:sp>
        <p:nvSpPr>
          <p:cNvPr id="5" name="Slide Number Placeholder 4">
            <a:extLst>
              <a:ext uri="{FF2B5EF4-FFF2-40B4-BE49-F238E27FC236}">
                <a16:creationId xmlns:a16="http://schemas.microsoft.com/office/drawing/2014/main" xmlns="" id="{E55F3314-4EF0-936B-77EE-175E9EF6B55B}"/>
              </a:ext>
            </a:extLst>
          </p:cNvPr>
          <p:cNvSpPr>
            <a:spLocks noGrp="1" noChangeArrowheads="1"/>
          </p:cNvSpPr>
          <p:nvPr>
            <p:ph type="sldNum" sz="quarter" idx="12"/>
          </p:nvPr>
        </p:nvSpPr>
        <p:spPr>
          <a:xfrm>
            <a:off x="8737600" y="6248400"/>
            <a:ext cx="2540000" cy="457200"/>
          </a:xfrm>
        </p:spPr>
        <p:txBody>
          <a:bodyPr/>
          <a:lstStyle>
            <a:lvl1pPr>
              <a:defRPr smtClean="0"/>
            </a:lvl1pPr>
          </a:lstStyle>
          <a:p>
            <a:pPr>
              <a:defRPr/>
            </a:pPr>
            <a:fld id="{D8F95DA7-9E0E-467D-A139-0471DC1777CB}" type="slidenum">
              <a:rPr lang="en-US" altLang="en-US"/>
              <a:pPr>
                <a:defRPr/>
              </a:pPr>
              <a:t>‹#›</a:t>
            </a:fld>
            <a:endParaRPr lang="en-US" altLang="en-US"/>
          </a:p>
        </p:txBody>
      </p:sp>
    </p:spTree>
    <p:extLst>
      <p:ext uri="{BB962C8B-B14F-4D97-AF65-F5344CB8AC3E}">
        <p14:creationId xmlns:p14="http://schemas.microsoft.com/office/powerpoint/2010/main" val="1750965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xmlns="" id="{4A88B164-965D-9E09-9E7D-16374A9EADDD}"/>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5" name="Rectangle 7">
            <a:extLst>
              <a:ext uri="{FF2B5EF4-FFF2-40B4-BE49-F238E27FC236}">
                <a16:creationId xmlns:a16="http://schemas.microsoft.com/office/drawing/2014/main" xmlns="" id="{EE044AE8-B23C-D8C6-4D87-EADCB1C0F02B}"/>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xmlns="" id="{BE04F0FC-AAC5-064C-CDAD-FF80D73B3853}"/>
              </a:ext>
            </a:extLst>
          </p:cNvPr>
          <p:cNvSpPr>
            <a:spLocks noGrp="1" noChangeArrowheads="1"/>
          </p:cNvSpPr>
          <p:nvPr>
            <p:ph type="sldNum" sz="quarter" idx="12"/>
          </p:nvPr>
        </p:nvSpPr>
        <p:spPr>
          <a:ln/>
        </p:spPr>
        <p:txBody>
          <a:bodyPr/>
          <a:lstStyle>
            <a:lvl1pPr>
              <a:defRPr/>
            </a:lvl1pPr>
          </a:lstStyle>
          <a:p>
            <a:pPr>
              <a:defRPr/>
            </a:pPr>
            <a:fld id="{BDC2143B-610F-499C-A392-DFFBE135A7B2}" type="slidenum">
              <a:rPr lang="en-US" altLang="en-US"/>
              <a:pPr>
                <a:defRPr/>
              </a:pPr>
              <a:t>‹#›</a:t>
            </a:fld>
            <a:endParaRPr lang="en-US" altLang="en-US"/>
          </a:p>
        </p:txBody>
      </p:sp>
    </p:spTree>
    <p:extLst>
      <p:ext uri="{BB962C8B-B14F-4D97-AF65-F5344CB8AC3E}">
        <p14:creationId xmlns:p14="http://schemas.microsoft.com/office/powerpoint/2010/main" val="2422674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xmlns="" id="{9E3D50AC-D896-487B-A964-4F2362A2FCEC}"/>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5" name="Rectangle 7">
            <a:extLst>
              <a:ext uri="{FF2B5EF4-FFF2-40B4-BE49-F238E27FC236}">
                <a16:creationId xmlns:a16="http://schemas.microsoft.com/office/drawing/2014/main" xmlns="" id="{1860975C-7E6F-6BD7-97FB-B68EFA315FE1}"/>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xmlns="" id="{925DB3BD-FB8F-C610-9A37-B3ADF214A3E4}"/>
              </a:ext>
            </a:extLst>
          </p:cNvPr>
          <p:cNvSpPr>
            <a:spLocks noGrp="1" noChangeArrowheads="1"/>
          </p:cNvSpPr>
          <p:nvPr>
            <p:ph type="sldNum" sz="quarter" idx="12"/>
          </p:nvPr>
        </p:nvSpPr>
        <p:spPr>
          <a:ln/>
        </p:spPr>
        <p:txBody>
          <a:bodyPr/>
          <a:lstStyle>
            <a:lvl1pPr>
              <a:defRPr/>
            </a:lvl1pPr>
          </a:lstStyle>
          <a:p>
            <a:pPr>
              <a:defRPr/>
            </a:pPr>
            <a:fld id="{575C213C-AC18-4D5A-BA73-4550FF50B842}" type="slidenum">
              <a:rPr lang="en-US" altLang="en-US"/>
              <a:pPr>
                <a:defRPr/>
              </a:pPr>
              <a:t>‹#›</a:t>
            </a:fld>
            <a:endParaRPr lang="en-US" altLang="en-US"/>
          </a:p>
        </p:txBody>
      </p:sp>
    </p:spTree>
    <p:extLst>
      <p:ext uri="{BB962C8B-B14F-4D97-AF65-F5344CB8AC3E}">
        <p14:creationId xmlns:p14="http://schemas.microsoft.com/office/powerpoint/2010/main" val="1543545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xmlns="" id="{1CC1F139-34C5-A295-F629-88EF76019A55}"/>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6" name="Rectangle 7">
            <a:extLst>
              <a:ext uri="{FF2B5EF4-FFF2-40B4-BE49-F238E27FC236}">
                <a16:creationId xmlns:a16="http://schemas.microsoft.com/office/drawing/2014/main" xmlns="" id="{AB20EB37-7A2A-E49D-01DB-6418D7037D0A}"/>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xmlns="" id="{C4FAAEF5-CC11-F779-153E-E74E333E5AC1}"/>
              </a:ext>
            </a:extLst>
          </p:cNvPr>
          <p:cNvSpPr>
            <a:spLocks noGrp="1" noChangeArrowheads="1"/>
          </p:cNvSpPr>
          <p:nvPr>
            <p:ph type="sldNum" sz="quarter" idx="12"/>
          </p:nvPr>
        </p:nvSpPr>
        <p:spPr>
          <a:ln/>
        </p:spPr>
        <p:txBody>
          <a:bodyPr/>
          <a:lstStyle>
            <a:lvl1pPr>
              <a:defRPr/>
            </a:lvl1pPr>
          </a:lstStyle>
          <a:p>
            <a:pPr>
              <a:defRPr/>
            </a:pPr>
            <a:fld id="{7A8ED4EA-E359-45F1-B86A-A40772B25C23}" type="slidenum">
              <a:rPr lang="en-US" altLang="en-US"/>
              <a:pPr>
                <a:defRPr/>
              </a:pPr>
              <a:t>‹#›</a:t>
            </a:fld>
            <a:endParaRPr lang="en-US" altLang="en-US"/>
          </a:p>
        </p:txBody>
      </p:sp>
    </p:spTree>
    <p:extLst>
      <p:ext uri="{BB962C8B-B14F-4D97-AF65-F5344CB8AC3E}">
        <p14:creationId xmlns:p14="http://schemas.microsoft.com/office/powerpoint/2010/main" val="1812587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xmlns="" id="{3B4E764D-F83F-9CC9-8E38-FEA9647AB755}"/>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8" name="Rectangle 7">
            <a:extLst>
              <a:ext uri="{FF2B5EF4-FFF2-40B4-BE49-F238E27FC236}">
                <a16:creationId xmlns:a16="http://schemas.microsoft.com/office/drawing/2014/main" xmlns="" id="{BABF83D4-B422-239C-8C38-4509A66ADBE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9" name="Rectangle 8">
            <a:extLst>
              <a:ext uri="{FF2B5EF4-FFF2-40B4-BE49-F238E27FC236}">
                <a16:creationId xmlns:a16="http://schemas.microsoft.com/office/drawing/2014/main" xmlns="" id="{781238FA-AFA9-8287-25C9-98D6042CFD33}"/>
              </a:ext>
            </a:extLst>
          </p:cNvPr>
          <p:cNvSpPr>
            <a:spLocks noGrp="1" noChangeArrowheads="1"/>
          </p:cNvSpPr>
          <p:nvPr>
            <p:ph type="sldNum" sz="quarter" idx="12"/>
          </p:nvPr>
        </p:nvSpPr>
        <p:spPr>
          <a:ln/>
        </p:spPr>
        <p:txBody>
          <a:bodyPr/>
          <a:lstStyle>
            <a:lvl1pPr>
              <a:defRPr/>
            </a:lvl1pPr>
          </a:lstStyle>
          <a:p>
            <a:pPr>
              <a:defRPr/>
            </a:pPr>
            <a:fld id="{E637AD66-1F60-49BE-A2E9-D91D10CB91F3}" type="slidenum">
              <a:rPr lang="en-US" altLang="en-US"/>
              <a:pPr>
                <a:defRPr/>
              </a:pPr>
              <a:t>‹#›</a:t>
            </a:fld>
            <a:endParaRPr lang="en-US" altLang="en-US"/>
          </a:p>
        </p:txBody>
      </p:sp>
    </p:spTree>
    <p:extLst>
      <p:ext uri="{BB962C8B-B14F-4D97-AF65-F5344CB8AC3E}">
        <p14:creationId xmlns:p14="http://schemas.microsoft.com/office/powerpoint/2010/main" val="3338931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xmlns="" id="{B80D49F1-7BF0-A0A8-0C0A-9B4F1788B3B4}"/>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4" name="Rectangle 7">
            <a:extLst>
              <a:ext uri="{FF2B5EF4-FFF2-40B4-BE49-F238E27FC236}">
                <a16:creationId xmlns:a16="http://schemas.microsoft.com/office/drawing/2014/main" xmlns="" id="{BDDDAEBE-B0DA-0212-414B-C9FFC612D8C0}"/>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5" name="Rectangle 8">
            <a:extLst>
              <a:ext uri="{FF2B5EF4-FFF2-40B4-BE49-F238E27FC236}">
                <a16:creationId xmlns:a16="http://schemas.microsoft.com/office/drawing/2014/main" xmlns="" id="{7430D5C8-DD0F-C0FD-D016-9055C67C40FA}"/>
              </a:ext>
            </a:extLst>
          </p:cNvPr>
          <p:cNvSpPr>
            <a:spLocks noGrp="1" noChangeArrowheads="1"/>
          </p:cNvSpPr>
          <p:nvPr>
            <p:ph type="sldNum" sz="quarter" idx="12"/>
          </p:nvPr>
        </p:nvSpPr>
        <p:spPr>
          <a:ln/>
        </p:spPr>
        <p:txBody>
          <a:bodyPr/>
          <a:lstStyle>
            <a:lvl1pPr>
              <a:defRPr/>
            </a:lvl1pPr>
          </a:lstStyle>
          <a:p>
            <a:pPr>
              <a:defRPr/>
            </a:pPr>
            <a:fld id="{F583B680-F650-469F-A231-392F163461F6}" type="slidenum">
              <a:rPr lang="en-US" altLang="en-US"/>
              <a:pPr>
                <a:defRPr/>
              </a:pPr>
              <a:t>‹#›</a:t>
            </a:fld>
            <a:endParaRPr lang="en-US" altLang="en-US"/>
          </a:p>
        </p:txBody>
      </p:sp>
    </p:spTree>
    <p:extLst>
      <p:ext uri="{BB962C8B-B14F-4D97-AF65-F5344CB8AC3E}">
        <p14:creationId xmlns:p14="http://schemas.microsoft.com/office/powerpoint/2010/main" val="4126819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xmlns="" id="{90400DB2-066A-4CAE-071C-1EAF9DDB7276}"/>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3" name="Rectangle 7">
            <a:extLst>
              <a:ext uri="{FF2B5EF4-FFF2-40B4-BE49-F238E27FC236}">
                <a16:creationId xmlns:a16="http://schemas.microsoft.com/office/drawing/2014/main" xmlns="" id="{EAB14BBF-3825-C6B5-25F7-8686AAD7C35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4" name="Rectangle 8">
            <a:extLst>
              <a:ext uri="{FF2B5EF4-FFF2-40B4-BE49-F238E27FC236}">
                <a16:creationId xmlns:a16="http://schemas.microsoft.com/office/drawing/2014/main" xmlns="" id="{784D417B-4541-5C9D-274F-9952E6F120B4}"/>
              </a:ext>
            </a:extLst>
          </p:cNvPr>
          <p:cNvSpPr>
            <a:spLocks noGrp="1" noChangeArrowheads="1"/>
          </p:cNvSpPr>
          <p:nvPr>
            <p:ph type="sldNum" sz="quarter" idx="12"/>
          </p:nvPr>
        </p:nvSpPr>
        <p:spPr>
          <a:ln/>
        </p:spPr>
        <p:txBody>
          <a:bodyPr/>
          <a:lstStyle>
            <a:lvl1pPr>
              <a:defRPr/>
            </a:lvl1pPr>
          </a:lstStyle>
          <a:p>
            <a:pPr>
              <a:defRPr/>
            </a:pPr>
            <a:fld id="{DD537315-F462-4C74-88B4-A900525A3FAA}" type="slidenum">
              <a:rPr lang="en-US" altLang="en-US"/>
              <a:pPr>
                <a:defRPr/>
              </a:pPr>
              <a:t>‹#›</a:t>
            </a:fld>
            <a:endParaRPr lang="en-US" altLang="en-US"/>
          </a:p>
        </p:txBody>
      </p:sp>
    </p:spTree>
    <p:extLst>
      <p:ext uri="{BB962C8B-B14F-4D97-AF65-F5344CB8AC3E}">
        <p14:creationId xmlns:p14="http://schemas.microsoft.com/office/powerpoint/2010/main" val="2837779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xmlns="" id="{70B1A011-C2F2-C9FC-9DD8-A4E6A00AA40D}"/>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6" name="Rectangle 7">
            <a:extLst>
              <a:ext uri="{FF2B5EF4-FFF2-40B4-BE49-F238E27FC236}">
                <a16:creationId xmlns:a16="http://schemas.microsoft.com/office/drawing/2014/main" xmlns="" id="{7B4C95F2-7321-CEE1-4FD5-BE988C3BAE38}"/>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xmlns="" id="{24AB3D0A-7C9E-40E8-0F27-0C737BD346FF}"/>
              </a:ext>
            </a:extLst>
          </p:cNvPr>
          <p:cNvSpPr>
            <a:spLocks noGrp="1" noChangeArrowheads="1"/>
          </p:cNvSpPr>
          <p:nvPr>
            <p:ph type="sldNum" sz="quarter" idx="12"/>
          </p:nvPr>
        </p:nvSpPr>
        <p:spPr>
          <a:ln/>
        </p:spPr>
        <p:txBody>
          <a:bodyPr/>
          <a:lstStyle>
            <a:lvl1pPr>
              <a:defRPr/>
            </a:lvl1pPr>
          </a:lstStyle>
          <a:p>
            <a:pPr>
              <a:defRPr/>
            </a:pPr>
            <a:fld id="{379B2829-DA13-4801-8FBD-6D5729CB9593}" type="slidenum">
              <a:rPr lang="en-US" altLang="en-US"/>
              <a:pPr>
                <a:defRPr/>
              </a:pPr>
              <a:t>‹#›</a:t>
            </a:fld>
            <a:endParaRPr lang="en-US" altLang="en-US"/>
          </a:p>
        </p:txBody>
      </p:sp>
    </p:spTree>
    <p:extLst>
      <p:ext uri="{BB962C8B-B14F-4D97-AF65-F5344CB8AC3E}">
        <p14:creationId xmlns:p14="http://schemas.microsoft.com/office/powerpoint/2010/main" val="3501495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xmlns="" id="{C531D201-6E7B-DD71-C865-2CC768252091}"/>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6" name="Rectangle 7">
            <a:extLst>
              <a:ext uri="{FF2B5EF4-FFF2-40B4-BE49-F238E27FC236}">
                <a16:creationId xmlns:a16="http://schemas.microsoft.com/office/drawing/2014/main" xmlns="" id="{3A474AB6-A9CC-8EC3-60F9-BBEDD90B035D}"/>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xmlns="" id="{414DF99B-1424-E931-A0EF-A2CCFECC39DF}"/>
              </a:ext>
            </a:extLst>
          </p:cNvPr>
          <p:cNvSpPr>
            <a:spLocks noGrp="1" noChangeArrowheads="1"/>
          </p:cNvSpPr>
          <p:nvPr>
            <p:ph type="sldNum" sz="quarter" idx="12"/>
          </p:nvPr>
        </p:nvSpPr>
        <p:spPr>
          <a:ln/>
        </p:spPr>
        <p:txBody>
          <a:bodyPr/>
          <a:lstStyle>
            <a:lvl1pPr>
              <a:defRPr/>
            </a:lvl1pPr>
          </a:lstStyle>
          <a:p>
            <a:pPr>
              <a:defRPr/>
            </a:pPr>
            <a:fld id="{B5B0EEF8-84AE-4BCB-9844-5B22523396C9}" type="slidenum">
              <a:rPr lang="en-US" altLang="en-US"/>
              <a:pPr>
                <a:defRPr/>
              </a:pPr>
              <a:t>‹#›</a:t>
            </a:fld>
            <a:endParaRPr lang="en-US" altLang="en-US"/>
          </a:p>
        </p:txBody>
      </p:sp>
    </p:spTree>
    <p:extLst>
      <p:ext uri="{BB962C8B-B14F-4D97-AF65-F5344CB8AC3E}">
        <p14:creationId xmlns:p14="http://schemas.microsoft.com/office/powerpoint/2010/main" val="975982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xmlns="" id="{DE0854C1-7207-EF75-A61A-B4AF54A5D723}"/>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5" name="Rectangle 7">
            <a:extLst>
              <a:ext uri="{FF2B5EF4-FFF2-40B4-BE49-F238E27FC236}">
                <a16:creationId xmlns:a16="http://schemas.microsoft.com/office/drawing/2014/main" xmlns="" id="{023D97B6-49D4-67F3-668F-9724FD35233F}"/>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xmlns="" id="{EE4FA587-585B-1C1F-066D-B211962B0DB9}"/>
              </a:ext>
            </a:extLst>
          </p:cNvPr>
          <p:cNvSpPr>
            <a:spLocks noGrp="1" noChangeArrowheads="1"/>
          </p:cNvSpPr>
          <p:nvPr>
            <p:ph type="sldNum" sz="quarter" idx="12"/>
          </p:nvPr>
        </p:nvSpPr>
        <p:spPr>
          <a:ln/>
        </p:spPr>
        <p:txBody>
          <a:bodyPr/>
          <a:lstStyle>
            <a:lvl1pPr>
              <a:defRPr/>
            </a:lvl1pPr>
          </a:lstStyle>
          <a:p>
            <a:pPr>
              <a:defRPr/>
            </a:pPr>
            <a:fld id="{5367E6EB-B6CA-430B-8761-75C737CF7AF1}" type="slidenum">
              <a:rPr lang="en-US" altLang="en-US"/>
              <a:pPr>
                <a:defRPr/>
              </a:pPr>
              <a:t>‹#›</a:t>
            </a:fld>
            <a:endParaRPr lang="en-US" altLang="en-US"/>
          </a:p>
        </p:txBody>
      </p:sp>
    </p:spTree>
    <p:extLst>
      <p:ext uri="{BB962C8B-B14F-4D97-AF65-F5344CB8AC3E}">
        <p14:creationId xmlns:p14="http://schemas.microsoft.com/office/powerpoint/2010/main" val="1939476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xmlns="" id="{E1D0F6A3-93FF-6A17-402C-31256BC45713}"/>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5" name="Rectangle 7">
            <a:extLst>
              <a:ext uri="{FF2B5EF4-FFF2-40B4-BE49-F238E27FC236}">
                <a16:creationId xmlns:a16="http://schemas.microsoft.com/office/drawing/2014/main" xmlns="" id="{FB63A9F3-AD04-ED6E-E628-12170F70CE75}"/>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xmlns="" id="{01BD68DD-46F8-E148-C9DD-BDF1256D37AB}"/>
              </a:ext>
            </a:extLst>
          </p:cNvPr>
          <p:cNvSpPr>
            <a:spLocks noGrp="1" noChangeArrowheads="1"/>
          </p:cNvSpPr>
          <p:nvPr>
            <p:ph type="sldNum" sz="quarter" idx="12"/>
          </p:nvPr>
        </p:nvSpPr>
        <p:spPr>
          <a:ln/>
        </p:spPr>
        <p:txBody>
          <a:bodyPr/>
          <a:lstStyle>
            <a:lvl1pPr>
              <a:defRPr/>
            </a:lvl1pPr>
          </a:lstStyle>
          <a:p>
            <a:pPr>
              <a:defRPr/>
            </a:pPr>
            <a:fld id="{3031276A-AAE7-4DAF-B5DC-CD9EE96B703D}" type="slidenum">
              <a:rPr lang="en-US" altLang="en-US"/>
              <a:pPr>
                <a:defRPr/>
              </a:pPr>
              <a:t>‹#›</a:t>
            </a:fld>
            <a:endParaRPr lang="en-US" altLang="en-US"/>
          </a:p>
        </p:txBody>
      </p:sp>
    </p:spTree>
    <p:extLst>
      <p:ext uri="{BB962C8B-B14F-4D97-AF65-F5344CB8AC3E}">
        <p14:creationId xmlns:p14="http://schemas.microsoft.com/office/powerpoint/2010/main" val="2788195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xmlns="" id="{7AD52653-E1AE-07CB-DCC9-CD2593D84EFE}"/>
              </a:ext>
            </a:extLst>
          </p:cNvPr>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xmlns="" id="{4BB93799-0450-059C-B337-0FA5C4C3731F}"/>
              </a:ext>
            </a:extLst>
          </p:cNvPr>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AutoShape 4">
            <a:extLst>
              <a:ext uri="{FF2B5EF4-FFF2-40B4-BE49-F238E27FC236}">
                <a16:creationId xmlns:a16="http://schemas.microsoft.com/office/drawing/2014/main" xmlns="" id="{6B43BBB4-1099-054A-DDAC-B357DD3DA511}"/>
              </a:ext>
            </a:extLst>
          </p:cNvPr>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1029" name="Line 5">
            <a:extLst>
              <a:ext uri="{FF2B5EF4-FFF2-40B4-BE49-F238E27FC236}">
                <a16:creationId xmlns:a16="http://schemas.microsoft.com/office/drawing/2014/main" xmlns="" id="{986B2119-A42B-45B1-6DCF-EF7CC29004DD}"/>
              </a:ext>
            </a:extLst>
          </p:cNvPr>
          <p:cNvSpPr>
            <a:spLocks noChangeShapeType="1"/>
          </p:cNvSpPr>
          <p:nvPr/>
        </p:nvSpPr>
        <p:spPr bwMode="auto">
          <a:xfrm flipV="1">
            <a:off x="812800" y="6172200"/>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800"/>
          </a:p>
        </p:txBody>
      </p:sp>
      <p:sp>
        <p:nvSpPr>
          <p:cNvPr id="4102" name="Rectangle 6">
            <a:extLst>
              <a:ext uri="{FF2B5EF4-FFF2-40B4-BE49-F238E27FC236}">
                <a16:creationId xmlns:a16="http://schemas.microsoft.com/office/drawing/2014/main" xmlns="" id="{6C6B070B-4AFE-871D-87ED-86092999D2D8}"/>
              </a:ext>
            </a:extLst>
          </p:cNvPr>
          <p:cNvSpPr>
            <a:spLocks noGrp="1" noChangeArrowheads="1"/>
          </p:cNvSpPr>
          <p:nvPr>
            <p:ph type="dt" sz="half" idx="2"/>
          </p:nvPr>
        </p:nvSpPr>
        <p:spPr bwMode="auto">
          <a:xfrm>
            <a:off x="8128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cs typeface="+mn-cs"/>
              </a:defRPr>
            </a:lvl1pPr>
          </a:lstStyle>
          <a:p>
            <a:pPr>
              <a:defRPr/>
            </a:pPr>
            <a:r>
              <a:rPr lang="en-US"/>
              <a:t>Second Review</a:t>
            </a:r>
          </a:p>
        </p:txBody>
      </p:sp>
      <p:sp>
        <p:nvSpPr>
          <p:cNvPr id="4103" name="Rectangle 7">
            <a:extLst>
              <a:ext uri="{FF2B5EF4-FFF2-40B4-BE49-F238E27FC236}">
                <a16:creationId xmlns:a16="http://schemas.microsoft.com/office/drawing/2014/main" xmlns="" id="{FA33AF8B-6600-80BC-AB7A-98E95CF9D742}"/>
              </a:ext>
            </a:extLst>
          </p:cNvPr>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cs typeface="+mn-cs"/>
              </a:defRPr>
            </a:lvl1pPr>
          </a:lstStyle>
          <a:p>
            <a:pPr>
              <a:defRPr/>
            </a:pPr>
            <a:r>
              <a:rPr lang="en-US"/>
              <a:t>Department of Computer Science and Engineering</a:t>
            </a:r>
          </a:p>
        </p:txBody>
      </p:sp>
      <p:sp>
        <p:nvSpPr>
          <p:cNvPr id="4104" name="Rectangle 8">
            <a:extLst>
              <a:ext uri="{FF2B5EF4-FFF2-40B4-BE49-F238E27FC236}">
                <a16:creationId xmlns:a16="http://schemas.microsoft.com/office/drawing/2014/main" xmlns="" id="{1BD9409A-4B38-651E-F54D-ABAB5C4CEBAD}"/>
              </a:ext>
            </a:extLst>
          </p:cNvPr>
          <p:cNvSpPr>
            <a:spLocks noGrp="1" noChangeArrowheads="1"/>
          </p:cNvSpPr>
          <p:nvPr>
            <p:ph type="sldNum" sz="quarter" idx="4"/>
          </p:nvPr>
        </p:nvSpPr>
        <p:spPr bwMode="auto">
          <a:xfrm>
            <a:off x="87376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fld id="{756AFA5A-A15D-402B-9810-66A481E98194}" type="slidenum">
              <a:rPr lang="en-US" altLang="en-US"/>
              <a:pPr>
                <a:defRPr/>
              </a:pPr>
              <a:t>‹#›</a:t>
            </a:fld>
            <a:endParaRPr lang="en-US" altLang="en-US"/>
          </a:p>
        </p:txBody>
      </p:sp>
    </p:spTree>
    <p:extLst>
      <p:ext uri="{BB962C8B-B14F-4D97-AF65-F5344CB8AC3E}">
        <p14:creationId xmlns:p14="http://schemas.microsoft.com/office/powerpoint/2010/main" val="11208012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defRPr>
      </a:lvl2pPr>
      <a:lvl3pPr algn="l" rtl="0" eaLnBrk="0" fontAlgn="base" hangingPunct="0">
        <a:spcBef>
          <a:spcPct val="0"/>
        </a:spcBef>
        <a:spcAft>
          <a:spcPct val="0"/>
        </a:spcAft>
        <a:defRPr sz="3800">
          <a:solidFill>
            <a:schemeClr val="tx2"/>
          </a:solidFill>
          <a:latin typeface="Verdana" pitchFamily="34" charset="0"/>
        </a:defRPr>
      </a:lvl3pPr>
      <a:lvl4pPr algn="l" rtl="0" eaLnBrk="0" fontAlgn="base" hangingPunct="0">
        <a:spcBef>
          <a:spcPct val="0"/>
        </a:spcBef>
        <a:spcAft>
          <a:spcPct val="0"/>
        </a:spcAft>
        <a:defRPr sz="3800">
          <a:solidFill>
            <a:schemeClr val="tx2"/>
          </a:solidFill>
          <a:latin typeface="Verdana" pitchFamily="34" charset="0"/>
        </a:defRPr>
      </a:lvl4pPr>
      <a:lvl5pPr algn="l" rtl="0" eaLnBrk="0" fontAlgn="base" hangingPunct="0">
        <a:spcBef>
          <a:spcPct val="0"/>
        </a:spcBef>
        <a:spcAft>
          <a:spcPct val="0"/>
        </a:spcAft>
        <a:defRPr sz="3800">
          <a:solidFill>
            <a:schemeClr val="tx2"/>
          </a:solidFill>
          <a:latin typeface="Verdana" pitchFamily="34" charset="0"/>
        </a:defRPr>
      </a:lvl5pPr>
      <a:lvl6pPr marL="457200" algn="l" rtl="0" fontAlgn="base">
        <a:spcBef>
          <a:spcPct val="0"/>
        </a:spcBef>
        <a:spcAft>
          <a:spcPct val="0"/>
        </a:spcAft>
        <a:defRPr sz="3800">
          <a:solidFill>
            <a:schemeClr val="tx2"/>
          </a:solidFill>
          <a:latin typeface="Verdana" pitchFamily="34" charset="0"/>
        </a:defRPr>
      </a:lvl6pPr>
      <a:lvl7pPr marL="914400" algn="l" rtl="0" fontAlgn="base">
        <a:spcBef>
          <a:spcPct val="0"/>
        </a:spcBef>
        <a:spcAft>
          <a:spcPct val="0"/>
        </a:spcAft>
        <a:defRPr sz="3800">
          <a:solidFill>
            <a:schemeClr val="tx2"/>
          </a:solidFill>
          <a:latin typeface="Verdana" pitchFamily="34" charset="0"/>
        </a:defRPr>
      </a:lvl7pPr>
      <a:lvl8pPr marL="1371600" algn="l" rtl="0" fontAlgn="base">
        <a:spcBef>
          <a:spcPct val="0"/>
        </a:spcBef>
        <a:spcAft>
          <a:spcPct val="0"/>
        </a:spcAft>
        <a:defRPr sz="3800">
          <a:solidFill>
            <a:schemeClr val="tx2"/>
          </a:solidFill>
          <a:latin typeface="Verdana" pitchFamily="34" charset="0"/>
        </a:defRPr>
      </a:lvl8pPr>
      <a:lvl9pPr marL="1828800" algn="l" rtl="0" fontAlgn="base">
        <a:spcBef>
          <a:spcPct val="0"/>
        </a:spcBef>
        <a:spcAft>
          <a:spcPct val="0"/>
        </a:spcAft>
        <a:defRPr sz="3800">
          <a:solidFill>
            <a:schemeClr val="tx2"/>
          </a:solidFill>
          <a:latin typeface="Verdana"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xmlns="" id="{D41A2FBB-F55B-9BAA-4EBD-7D6AD7B1D9C0}"/>
              </a:ext>
            </a:extLst>
          </p:cNvPr>
          <p:cNvSpPr txBox="1">
            <a:spLocks/>
          </p:cNvSpPr>
          <p:nvPr/>
        </p:nvSpPr>
        <p:spPr>
          <a:xfrm>
            <a:off x="789712" y="2530618"/>
            <a:ext cx="10515600" cy="1325563"/>
          </a:xfrm>
          <a:prstGeom prst="rect">
            <a:avLst/>
          </a:prstGeom>
        </p:spPr>
        <p:txBody>
          <a:bodyPr vert="horz" lIns="91440" tIns="45720" rIns="91440" bIns="45720" rtlCol="0" anchor="ctr">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solidFill>
                  <a:srgbClr val="7030A0"/>
                </a:solidFill>
                <a:latin typeface="Verdana" panose="020B0604030504040204" pitchFamily="34" charset="0"/>
              </a:rPr>
              <a:t>FORENSEQUENCE : AI-Powered Digital Forensics</a:t>
            </a:r>
          </a:p>
          <a:p>
            <a:r>
              <a:rPr lang="en-US" sz="4000" b="1" dirty="0" smtClean="0">
                <a:solidFill>
                  <a:srgbClr val="7030A0"/>
                </a:solidFill>
                <a:latin typeface="Verdana" panose="020B0604030504040204" pitchFamily="34" charset="0"/>
              </a:rPr>
              <a:t> </a:t>
            </a:r>
            <a:endParaRPr lang="en-US" sz="4000" b="1" dirty="0">
              <a:solidFill>
                <a:srgbClr val="7030A0"/>
              </a:solidFill>
              <a:latin typeface="Verdana" panose="020B0604030504040204" pitchFamily="34" charset="0"/>
            </a:endParaRPr>
          </a:p>
          <a:p>
            <a:r>
              <a:rPr lang="en-US" sz="4000" b="1" dirty="0">
                <a:solidFill>
                  <a:srgbClr val="7030A0"/>
                </a:solidFill>
                <a:latin typeface="Verdana" panose="020B0604030504040204" pitchFamily="34" charset="0"/>
              </a:rPr>
              <a:t>Investigation System</a:t>
            </a:r>
            <a:r>
              <a:rPr lang="en-IN" sz="4000" b="1" dirty="0">
                <a:solidFill>
                  <a:srgbClr val="7030A0"/>
                </a:solidFill>
                <a:latin typeface="Verdana" panose="020B0604030504040204" pitchFamily="34" charset="0"/>
              </a:rPr>
              <a:t> — </a:t>
            </a:r>
            <a:r>
              <a:rPr lang="en-IN" sz="4000" b="1" dirty="0" smtClean="0">
                <a:solidFill>
                  <a:srgbClr val="7030A0"/>
                </a:solidFill>
                <a:latin typeface="Verdana" panose="020B0604030504040204" pitchFamily="34" charset="0"/>
              </a:rPr>
              <a:t>MODEL REVIEW</a:t>
            </a:r>
            <a:endParaRPr lang="en-IN" sz="4000" b="1" dirty="0">
              <a:solidFill>
                <a:srgbClr val="7030A0"/>
              </a:solidFill>
              <a:latin typeface="Verdana" panose="020B0604030504040204" pitchFamily="34" charset="0"/>
            </a:endParaRPr>
          </a:p>
        </p:txBody>
      </p:sp>
      <p:sp>
        <p:nvSpPr>
          <p:cNvPr id="10" name="TextBox 1">
            <a:extLst>
              <a:ext uri="{FF2B5EF4-FFF2-40B4-BE49-F238E27FC236}">
                <a16:creationId xmlns:a16="http://schemas.microsoft.com/office/drawing/2014/main" xmlns="" id="{2D19DAE3-8F95-230C-D485-225341D07DA1}"/>
              </a:ext>
            </a:extLst>
          </p:cNvPr>
          <p:cNvSpPr txBox="1">
            <a:spLocks noChangeArrowheads="1"/>
          </p:cNvSpPr>
          <p:nvPr/>
        </p:nvSpPr>
        <p:spPr bwMode="auto">
          <a:xfrm>
            <a:off x="962888" y="5183902"/>
            <a:ext cx="462905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2400" b="1" dirty="0" err="1">
                <a:solidFill>
                  <a:srgbClr val="FF0000"/>
                </a:solidFill>
              </a:rPr>
              <a:t>Dr.</a:t>
            </a:r>
            <a:r>
              <a:rPr lang="en-IN" altLang="en-US" sz="2400" b="1" dirty="0">
                <a:solidFill>
                  <a:srgbClr val="FF0000"/>
                </a:solidFill>
              </a:rPr>
              <a:t> S </a:t>
            </a:r>
            <a:r>
              <a:rPr lang="en-IN" altLang="en-US" sz="2400" b="1" dirty="0" err="1">
                <a:solidFill>
                  <a:srgbClr val="FF0000"/>
                </a:solidFill>
              </a:rPr>
              <a:t>Bhuvana</a:t>
            </a:r>
            <a:r>
              <a:rPr lang="en-IN" altLang="en-US" sz="2400" b="1" dirty="0">
                <a:solidFill>
                  <a:srgbClr val="FF0000"/>
                </a:solidFill>
              </a:rPr>
              <a:t> </a:t>
            </a:r>
          </a:p>
          <a:p>
            <a:pPr>
              <a:spcBef>
                <a:spcPct val="0"/>
              </a:spcBef>
              <a:buClrTx/>
              <a:buFontTx/>
              <a:buNone/>
            </a:pPr>
            <a:r>
              <a:rPr lang="en-IN" altLang="en-US" sz="2400" b="1" dirty="0">
                <a:solidFill>
                  <a:srgbClr val="FF0000"/>
                </a:solidFill>
              </a:rPr>
              <a:t>Assistant Professor(SG)</a:t>
            </a:r>
            <a:endParaRPr lang="en-IN" altLang="en-US" sz="2400" b="1" dirty="0">
              <a:solidFill>
                <a:srgbClr val="FF0000"/>
              </a:solidFill>
            </a:endParaRPr>
          </a:p>
        </p:txBody>
      </p:sp>
      <p:sp>
        <p:nvSpPr>
          <p:cNvPr id="11" name="TextBox 1">
            <a:extLst>
              <a:ext uri="{FF2B5EF4-FFF2-40B4-BE49-F238E27FC236}">
                <a16:creationId xmlns:a16="http://schemas.microsoft.com/office/drawing/2014/main" xmlns="" id="{19A39F01-D00C-AF01-020F-6FE15F5B4206}"/>
              </a:ext>
            </a:extLst>
          </p:cNvPr>
          <p:cNvSpPr txBox="1">
            <a:spLocks noChangeArrowheads="1"/>
          </p:cNvSpPr>
          <p:nvPr/>
        </p:nvSpPr>
        <p:spPr bwMode="auto">
          <a:xfrm>
            <a:off x="6240016" y="5183901"/>
            <a:ext cx="647319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lgn="just">
              <a:spcBef>
                <a:spcPct val="0"/>
              </a:spcBef>
              <a:buClrTx/>
              <a:buFontTx/>
              <a:buNone/>
            </a:pPr>
            <a:r>
              <a:rPr lang="en-IN" altLang="en-US" sz="2400" b="1" dirty="0">
                <a:solidFill>
                  <a:srgbClr val="FF0000"/>
                </a:solidFill>
              </a:rPr>
              <a:t>KAVYA SRIRAM – 241901045</a:t>
            </a:r>
          </a:p>
          <a:p>
            <a:pPr algn="just">
              <a:spcBef>
                <a:spcPct val="0"/>
              </a:spcBef>
              <a:buClrTx/>
              <a:buFontTx/>
              <a:buNone/>
            </a:pPr>
            <a:r>
              <a:rPr lang="en-IN" altLang="en-US" sz="2400" b="1" dirty="0">
                <a:solidFill>
                  <a:srgbClr val="FF0000"/>
                </a:solidFill>
              </a:rPr>
              <a:t>MOHAMED SALMAN - 241901055</a:t>
            </a:r>
          </a:p>
        </p:txBody>
      </p:sp>
      <p:sp>
        <p:nvSpPr>
          <p:cNvPr id="15" name="Title 1">
            <a:extLst>
              <a:ext uri="{FF2B5EF4-FFF2-40B4-BE49-F238E27FC236}">
                <a16:creationId xmlns:a16="http://schemas.microsoft.com/office/drawing/2014/main" xmlns="" id="{321851EC-AC90-1CBE-0738-0329685AB2AB}"/>
              </a:ext>
            </a:extLst>
          </p:cNvPr>
          <p:cNvSpPr txBox="1">
            <a:spLocks/>
          </p:cNvSpPr>
          <p:nvPr/>
        </p:nvSpPr>
        <p:spPr>
          <a:xfrm>
            <a:off x="754333" y="980728"/>
            <a:ext cx="10515600" cy="722457"/>
          </a:xfrm>
          <a:prstGeom prst="rect">
            <a:avLst/>
          </a:prstGeom>
        </p:spPr>
        <p:txBody>
          <a:bodyPr vert="horz" lIns="91440" tIns="45720" rIns="91440" bIns="45720" rtlCol="0" anchor="ctr">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a:solidFill>
                  <a:srgbClr val="002060"/>
                </a:solidFill>
                <a:latin typeface="Verdana" panose="020B0604030504040204" pitchFamily="34" charset="0"/>
                <a:ea typeface="+mn-ea"/>
                <a:cs typeface="+mn-cs"/>
              </a:rPr>
              <a:t>Department of Computer Science and Engineering</a:t>
            </a:r>
          </a:p>
          <a:p>
            <a:r>
              <a:rPr lang="en-IN" sz="2800" b="1" dirty="0">
                <a:solidFill>
                  <a:srgbClr val="002060"/>
                </a:solidFill>
                <a:latin typeface="Verdana" panose="020B0604030504040204" pitchFamily="34" charset="0"/>
                <a:ea typeface="+mn-ea"/>
                <a:cs typeface="+mn-cs"/>
              </a:rPr>
              <a:t>(Cyber Security)</a:t>
            </a:r>
          </a:p>
          <a:p>
            <a:endParaRPr lang="en-IN" sz="2800" b="1" dirty="0">
              <a:solidFill>
                <a:srgbClr val="002060"/>
              </a:solidFill>
              <a:latin typeface="Verdana" panose="020B0604030504040204" pitchFamily="34" charset="0"/>
              <a:ea typeface="+mn-ea"/>
              <a:cs typeface="+mn-cs"/>
            </a:endParaRPr>
          </a:p>
        </p:txBody>
      </p:sp>
      <p:pic>
        <p:nvPicPr>
          <p:cNvPr id="12" name="Picture 11" descr="C:\Users\REC\Downloads\REC_Logo_Color_PNG_RGB.png"/>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933065" cy="980728"/>
          </a:xfrm>
          <a:prstGeom prst="rect">
            <a:avLst/>
          </a:prstGeom>
          <a:noFill/>
          <a:ln>
            <a:noFill/>
          </a:ln>
        </p:spPr>
      </p:pic>
      <p:sp>
        <p:nvSpPr>
          <p:cNvPr id="2" name="Rectangle 1"/>
          <p:cNvSpPr/>
          <p:nvPr/>
        </p:nvSpPr>
        <p:spPr>
          <a:xfrm>
            <a:off x="1631504" y="1412776"/>
            <a:ext cx="10112218" cy="461665"/>
          </a:xfrm>
          <a:prstGeom prst="rect">
            <a:avLst/>
          </a:prstGeom>
        </p:spPr>
        <p:txBody>
          <a:bodyPr wrap="square">
            <a:spAutoFit/>
          </a:bodyPr>
          <a:lstStyle/>
          <a:p>
            <a:r>
              <a:rPr lang="en-IN" sz="2400" b="1" dirty="0">
                <a:solidFill>
                  <a:srgbClr val="C00000"/>
                </a:solidFill>
                <a:latin typeface="Verdana" panose="020B0604030504040204" pitchFamily="34" charset="0"/>
              </a:rPr>
              <a:t>CS23533– Foundations of Artificial Intelligence</a:t>
            </a:r>
          </a:p>
        </p:txBody>
      </p:sp>
      <p:sp>
        <p:nvSpPr>
          <p:cNvPr id="3" name="Rectangle 2"/>
          <p:cNvSpPr/>
          <p:nvPr/>
        </p:nvSpPr>
        <p:spPr>
          <a:xfrm>
            <a:off x="4873101" y="1916832"/>
            <a:ext cx="1603324" cy="369332"/>
          </a:xfrm>
          <a:prstGeom prst="rect">
            <a:avLst/>
          </a:prstGeom>
        </p:spPr>
        <p:txBody>
          <a:bodyPr wrap="none">
            <a:spAutoFit/>
          </a:bodyPr>
          <a:lstStyle/>
          <a:p>
            <a:r>
              <a:rPr lang="en-IN" b="1" dirty="0">
                <a:solidFill>
                  <a:srgbClr val="002060"/>
                </a:solidFill>
                <a:latin typeface="Verdana" panose="020B0604030504040204" pitchFamily="34" charset="0"/>
              </a:rPr>
              <a:t>2026-2027</a:t>
            </a:r>
            <a:endParaRPr lang="en-IN" dirty="0"/>
          </a:p>
        </p:txBody>
      </p:sp>
    </p:spTree>
    <p:extLst>
      <p:ext uri="{BB962C8B-B14F-4D97-AF65-F5344CB8AC3E}">
        <p14:creationId xmlns:p14="http://schemas.microsoft.com/office/powerpoint/2010/main" val="4233139276"/>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IN" altLang="en-US" sz="3200" b="1" dirty="0">
                <a:solidFill>
                  <a:srgbClr val="FF0000"/>
                </a:solidFill>
              </a:rPr>
              <a:t>Problem Statement and Motivation</a:t>
            </a:r>
            <a:endParaRPr lang="en-IN" sz="2800" dirty="0"/>
          </a:p>
        </p:txBody>
      </p:sp>
      <p:sp>
        <p:nvSpPr>
          <p:cNvPr id="3" name="Content Placeholder 2">
            <a:extLst>
              <a:ext uri="{FF2B5EF4-FFF2-40B4-BE49-F238E27FC236}">
                <a16:creationId xmlns:a16="http://schemas.microsoft.com/office/drawing/2014/main" xmlns="" id="{01F36FF0-FD4A-EE78-6CA2-4ADCB6BA1B65}"/>
              </a:ext>
            </a:extLst>
          </p:cNvPr>
          <p:cNvSpPr>
            <a:spLocks noGrp="1"/>
          </p:cNvSpPr>
          <p:nvPr>
            <p:ph idx="1"/>
          </p:nvPr>
        </p:nvSpPr>
        <p:spPr/>
        <p:txBody>
          <a:bodyPr/>
          <a:lstStyle/>
          <a:p>
            <a:pPr>
              <a:buFont typeface="Wingdings" panose="05000000000000000000" pitchFamily="2" charset="2"/>
              <a:buChar char="Ø"/>
            </a:pPr>
            <a:r>
              <a:rPr lang="en-US" sz="2400" b="1" dirty="0" smtClean="0">
                <a:latin typeface="Aptos"/>
              </a:rPr>
              <a:t>Problem:</a:t>
            </a:r>
            <a:r>
              <a:rPr lang="en-US" sz="2400" dirty="0" smtClean="0">
                <a:latin typeface="Aptos"/>
              </a:rPr>
              <a:t> Digital forensic investigations involve analyzing large volumes of evidence from multiple sources, making it difficult to identify suspicious activities quickly.</a:t>
            </a:r>
          </a:p>
          <a:p>
            <a:pPr>
              <a:buFont typeface="Wingdings" panose="05000000000000000000" pitchFamily="2" charset="2"/>
              <a:buChar char="Ø"/>
            </a:pPr>
            <a:r>
              <a:rPr lang="en-US" sz="2400" b="1" dirty="0" smtClean="0">
                <a:latin typeface="Aptos"/>
              </a:rPr>
              <a:t>Importance:</a:t>
            </a:r>
            <a:r>
              <a:rPr lang="en-US" sz="2400" dirty="0" smtClean="0">
                <a:latin typeface="Aptos"/>
              </a:rPr>
              <a:t> Delayed identification of suspicious activities affects investigators who need to examine evidence, understand incident sequences, and determine potential security threats.</a:t>
            </a:r>
          </a:p>
          <a:p>
            <a:pPr>
              <a:buFont typeface="Wingdings" panose="05000000000000000000" pitchFamily="2" charset="2"/>
              <a:buChar char="Ø"/>
            </a:pPr>
            <a:r>
              <a:rPr lang="en-US" sz="2400" b="1" dirty="0" smtClean="0">
                <a:latin typeface="Aptos"/>
              </a:rPr>
              <a:t>Motivation:</a:t>
            </a:r>
            <a:r>
              <a:rPr lang="en-US" sz="2400" dirty="0" smtClean="0">
                <a:latin typeface="Aptos"/>
              </a:rPr>
              <a:t> To develop FORENSEQUENCE, a rule-based AI forensic assistant that automates evidence analysis, derives explainable findings, calculates risk levels, and monitors new evidence in real time.</a:t>
            </a:r>
            <a:endParaRPr lang="en-US" sz="2400" dirty="0">
              <a:latin typeface="Aptos"/>
            </a:endParaRP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2</a:t>
            </a:fld>
            <a:endParaRPr lang="en-IN"/>
          </a:p>
        </p:txBody>
      </p:sp>
    </p:spTree>
    <p:extLst>
      <p:ext uri="{BB962C8B-B14F-4D97-AF65-F5344CB8AC3E}">
        <p14:creationId xmlns:p14="http://schemas.microsoft.com/office/powerpoint/2010/main" val="1658386993"/>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IN" altLang="en-US" sz="3200" b="1" dirty="0">
                <a:solidFill>
                  <a:srgbClr val="FF0000"/>
                </a:solidFill>
              </a:rPr>
              <a:t>Objectives</a:t>
            </a:r>
            <a:endParaRPr lang="en-IN" sz="2800" dirty="0"/>
          </a:p>
        </p:txBody>
      </p:sp>
      <p:sp>
        <p:nvSpPr>
          <p:cNvPr id="3" name="Content Placeholder 2">
            <a:extLst>
              <a:ext uri="{FF2B5EF4-FFF2-40B4-BE49-F238E27FC236}">
                <a16:creationId xmlns:a16="http://schemas.microsoft.com/office/drawing/2014/main" xmlns="" id="{01F36FF0-FD4A-EE78-6CA2-4ADCB6BA1B65}"/>
              </a:ext>
            </a:extLst>
          </p:cNvPr>
          <p:cNvSpPr>
            <a:spLocks noGrp="1"/>
          </p:cNvSpPr>
          <p:nvPr>
            <p:ph idx="1"/>
          </p:nvPr>
        </p:nvSpPr>
        <p:spPr/>
        <p:txBody>
          <a:bodyPr/>
          <a:lstStyle/>
          <a:p>
            <a:pPr marL="0" indent="0">
              <a:buNone/>
            </a:pPr>
            <a:r>
              <a:rPr lang="en-US" sz="2400" b="1" dirty="0">
                <a:latin typeface="Aptos"/>
              </a:rPr>
              <a:t>Objectives</a:t>
            </a:r>
            <a:endParaRPr lang="en-US" sz="2400" dirty="0">
              <a:latin typeface="Aptos"/>
            </a:endParaRPr>
          </a:p>
          <a:p>
            <a:pPr>
              <a:buFont typeface="Wingdings" panose="05000000000000000000" pitchFamily="2" charset="2"/>
              <a:buChar char="q"/>
            </a:pPr>
            <a:r>
              <a:rPr lang="en-US" sz="2400" dirty="0">
                <a:latin typeface="Aptos"/>
              </a:rPr>
              <a:t>Analyze evidence from multiple sources.</a:t>
            </a:r>
          </a:p>
          <a:p>
            <a:pPr>
              <a:buFont typeface="Wingdings" panose="05000000000000000000" pitchFamily="2" charset="2"/>
              <a:buChar char="q"/>
            </a:pPr>
            <a:r>
              <a:rPr lang="en-US" sz="2400" dirty="0">
                <a:latin typeface="Aptos"/>
              </a:rPr>
              <a:t>Implement Rule-Based AI using Forward Chaining.</a:t>
            </a:r>
          </a:p>
          <a:p>
            <a:pPr>
              <a:buFont typeface="Wingdings" panose="05000000000000000000" pitchFamily="2" charset="2"/>
              <a:buChar char="q"/>
            </a:pPr>
            <a:r>
              <a:rPr lang="en-US" sz="2400" dirty="0">
                <a:latin typeface="Aptos"/>
              </a:rPr>
              <a:t>Calculate risk scores and reconstruct event timelines.</a:t>
            </a:r>
          </a:p>
          <a:p>
            <a:pPr>
              <a:buFont typeface="Wingdings" panose="05000000000000000000" pitchFamily="2" charset="2"/>
              <a:buChar char="q"/>
            </a:pPr>
            <a:r>
              <a:rPr lang="en-US" sz="2400" dirty="0">
                <a:latin typeface="Aptos"/>
              </a:rPr>
              <a:t>Enable real-time monitoring and PDF report generation.</a:t>
            </a:r>
          </a:p>
          <a:p>
            <a:pPr marL="0" indent="0">
              <a:buNone/>
            </a:pPr>
            <a:r>
              <a:rPr lang="en-US" sz="2400" b="1" dirty="0">
                <a:latin typeface="Aptos"/>
              </a:rPr>
              <a:t>Progress</a:t>
            </a:r>
            <a:endParaRPr lang="en-US" sz="2400" dirty="0">
              <a:latin typeface="Aptos"/>
            </a:endParaRPr>
          </a:p>
          <a:p>
            <a:pPr>
              <a:buFont typeface="Wingdings" panose="05000000000000000000" pitchFamily="2" charset="2"/>
              <a:buChar char="q"/>
            </a:pPr>
            <a:r>
              <a:rPr lang="en-US" sz="2400" dirty="0">
                <a:latin typeface="Aptos"/>
              </a:rPr>
              <a:t>Requirements and literature survey</a:t>
            </a:r>
          </a:p>
          <a:p>
            <a:pPr>
              <a:buFont typeface="Wingdings" panose="05000000000000000000" pitchFamily="2" charset="2"/>
              <a:buChar char="q"/>
            </a:pPr>
            <a:r>
              <a:rPr lang="en-US" sz="2400" dirty="0">
                <a:latin typeface="Aptos"/>
              </a:rPr>
              <a:t>System design and methodology</a:t>
            </a:r>
          </a:p>
          <a:p>
            <a:pPr>
              <a:buFont typeface="Wingdings" panose="05000000000000000000" pitchFamily="2" charset="2"/>
              <a:buChar char="q"/>
            </a:pPr>
            <a:r>
              <a:rPr lang="en-US" sz="2400" dirty="0">
                <a:latin typeface="Aptos"/>
              </a:rPr>
              <a:t>Implementation, testing and evaluation</a:t>
            </a:r>
          </a:p>
          <a:p>
            <a:pPr marL="0" indent="0">
              <a:buNone/>
            </a:pPr>
            <a:endParaRPr lang="en-US" sz="2400" dirty="0">
              <a:latin typeface="Aptos"/>
            </a:endParaRP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3</a:t>
            </a:fld>
            <a:endParaRPr lang="en-IN"/>
          </a:p>
        </p:txBody>
      </p:sp>
    </p:spTree>
    <p:extLst>
      <p:ext uri="{BB962C8B-B14F-4D97-AF65-F5344CB8AC3E}">
        <p14:creationId xmlns:p14="http://schemas.microsoft.com/office/powerpoint/2010/main" val="3339313605"/>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IN" altLang="en-US" sz="3200" b="1" dirty="0">
                <a:solidFill>
                  <a:srgbClr val="FF0000"/>
                </a:solidFill>
              </a:rPr>
              <a:t>Abstract</a:t>
            </a:r>
            <a:endParaRPr lang="en-IN" sz="2800" dirty="0"/>
          </a:p>
        </p:txBody>
      </p:sp>
      <p:sp>
        <p:nvSpPr>
          <p:cNvPr id="3" name="Content Placeholder 2">
            <a:extLst>
              <a:ext uri="{FF2B5EF4-FFF2-40B4-BE49-F238E27FC236}">
                <a16:creationId xmlns:a16="http://schemas.microsoft.com/office/drawing/2014/main" xmlns="" id="{01F36FF0-FD4A-EE78-6CA2-4ADCB6BA1B65}"/>
              </a:ext>
            </a:extLst>
          </p:cNvPr>
          <p:cNvSpPr>
            <a:spLocks noGrp="1"/>
          </p:cNvSpPr>
          <p:nvPr>
            <p:ph idx="1"/>
          </p:nvPr>
        </p:nvSpPr>
        <p:spPr/>
        <p:txBody>
          <a:bodyPr/>
          <a:lstStyle/>
          <a:p>
            <a:pPr marL="0" lvl="0" indent="0">
              <a:buClr>
                <a:srgbClr val="CC0000"/>
              </a:buClr>
              <a:buNone/>
              <a:defRPr/>
            </a:pPr>
            <a:r>
              <a:rPr lang="en-US" sz="2400" b="1" dirty="0">
                <a:latin typeface="Aptos"/>
              </a:rPr>
              <a:t>FORENSEQUENCE</a:t>
            </a:r>
            <a:r>
              <a:rPr lang="en-US" sz="2400" dirty="0">
                <a:latin typeface="Aptos"/>
              </a:rPr>
              <a:t> is an </a:t>
            </a:r>
            <a:r>
              <a:rPr lang="en-US" sz="2400" b="1" dirty="0">
                <a:latin typeface="Aptos"/>
              </a:rPr>
              <a:t>AI-based digital forensic assistant </a:t>
            </a:r>
            <a:r>
              <a:rPr lang="en-US" sz="2400" dirty="0">
                <a:latin typeface="Aptos"/>
              </a:rPr>
              <a:t>developed using Python to simplify digital evidence analysis. It analyzes logs, files, browser history, and email data to identify suspicious activities. Using a Rule-Based Expert System and Forward Chaining, it generates explainable findings, calculates risk scores, and creates event timelines. The system also supports forensic report generation, with live evidence monitoring planned to detect changes and trigger automatic re-analysis. FORENSEQUENCE aims to make digital forensic investigations faster, more organized, and easier to understand.</a:t>
            </a:r>
            <a:endParaRPr lang="en-IN" sz="2400" dirty="0">
              <a:latin typeface="Aptos"/>
            </a:endParaRP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4</a:t>
            </a:fld>
            <a:endParaRPr lang="en-IN"/>
          </a:p>
        </p:txBody>
      </p:sp>
    </p:spTree>
    <p:extLst>
      <p:ext uri="{BB962C8B-B14F-4D97-AF65-F5344CB8AC3E}">
        <p14:creationId xmlns:p14="http://schemas.microsoft.com/office/powerpoint/2010/main" val="3534483171"/>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a:xfrm>
            <a:off x="766233" y="304801"/>
            <a:ext cx="10668000" cy="533399"/>
          </a:xfrm>
        </p:spPr>
        <p:txBody>
          <a:bodyPr/>
          <a:lstStyle/>
          <a:p>
            <a:pPr algn="ctr"/>
            <a:r>
              <a:rPr lang="en-US" sz="3200" b="1" dirty="0">
                <a:solidFill>
                  <a:srgbClr val="FF0000"/>
                </a:solidFill>
              </a:rPr>
              <a:t>Literature Survey</a:t>
            </a:r>
            <a:endParaRPr lang="en-IN" sz="3200" b="1" dirty="0">
              <a:solidFill>
                <a:srgbClr val="FF0000"/>
              </a:solidFill>
            </a:endParaRPr>
          </a:p>
        </p:txBody>
      </p:sp>
      <p:sp>
        <p:nvSpPr>
          <p:cNvPr id="3" name="Content Placeholder 2">
            <a:extLst>
              <a:ext uri="{FF2B5EF4-FFF2-40B4-BE49-F238E27FC236}">
                <a16:creationId xmlns:a16="http://schemas.microsoft.com/office/drawing/2014/main" xmlns="" id="{01F36FF0-FD4A-EE78-6CA2-4ADCB6BA1B65}"/>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r>
              <a:rPr kumimoji="0" lang="en-IN" altLang="en-US" sz="2800" b="0" i="0" u="none" strike="noStrike" kern="0" cap="none" spc="0" normalizeH="0" baseline="0" noProof="0" dirty="0">
                <a:ln>
                  <a:noFill/>
                </a:ln>
                <a:solidFill>
                  <a:srgbClr val="000000"/>
                </a:solidFill>
                <a:effectLst/>
                <a:uLnTx/>
                <a:uFillTx/>
                <a:latin typeface="Verdana"/>
                <a:ea typeface="+mn-ea"/>
                <a:cs typeface="+mn-cs"/>
              </a:rPr>
              <a:t/>
            </a:r>
            <a:br>
              <a:rPr kumimoji="0" lang="en-IN" altLang="en-US" sz="2800" b="0" i="0" u="none" strike="noStrike" kern="0" cap="none" spc="0" normalizeH="0" baseline="0" noProof="0" dirty="0">
                <a:ln>
                  <a:noFill/>
                </a:ln>
                <a:solidFill>
                  <a:srgbClr val="000000"/>
                </a:solidFill>
                <a:effectLst/>
                <a:uLnTx/>
                <a:uFillTx/>
                <a:latin typeface="Verdana"/>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a:ea typeface="+mn-ea"/>
              <a:cs typeface="+mn-cs"/>
            </a:endParaRPr>
          </a:p>
          <a:p>
            <a:pPr marL="0" indent="0">
              <a:buNone/>
            </a:pPr>
            <a:endParaRPr lang="en-IN" dirty="0"/>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5</a:t>
            </a:fld>
            <a:endParaRPr lang="en-IN"/>
          </a:p>
        </p:txBody>
      </p:sp>
      <p:graphicFrame>
        <p:nvGraphicFramePr>
          <p:cNvPr id="7" name="Table 6">
            <a:extLst>
              <a:ext uri="{FF2B5EF4-FFF2-40B4-BE49-F238E27FC236}">
                <a16:creationId xmlns="" xmlns:a16="http://schemas.microsoft.com/office/drawing/2014/main" id="{AD7E4B40-F95E-47F4-B92E-06AFA2A015FC}"/>
              </a:ext>
            </a:extLst>
          </p:cNvPr>
          <p:cNvGraphicFramePr>
            <a:graphicFrameLocks noGrp="1"/>
          </p:cNvGraphicFramePr>
          <p:nvPr>
            <p:extLst>
              <p:ext uri="{D42A27DB-BD31-4B8C-83A1-F6EECF244321}">
                <p14:modId xmlns:p14="http://schemas.microsoft.com/office/powerpoint/2010/main" val="311232576"/>
              </p:ext>
            </p:extLst>
          </p:nvPr>
        </p:nvGraphicFramePr>
        <p:xfrm>
          <a:off x="911425" y="1752600"/>
          <a:ext cx="10467776" cy="4394214"/>
        </p:xfrm>
        <a:graphic>
          <a:graphicData uri="http://schemas.openxmlformats.org/drawingml/2006/table">
            <a:tbl>
              <a:tblPr firstRow="1" bandRow="1">
                <a:tableStyleId>{5C22544A-7EE6-4342-B048-85BDC9FD1C3A}</a:tableStyleId>
              </a:tblPr>
              <a:tblGrid>
                <a:gridCol w="271891">
                  <a:extLst>
                    <a:ext uri="{9D8B030D-6E8A-4147-A177-3AD203B41FA5}">
                      <a16:colId xmlns="" xmlns:a16="http://schemas.microsoft.com/office/drawing/2014/main" val="20000"/>
                    </a:ext>
                  </a:extLst>
                </a:gridCol>
                <a:gridCol w="1820829">
                  <a:extLst>
                    <a:ext uri="{9D8B030D-6E8A-4147-A177-3AD203B41FA5}">
                      <a16:colId xmlns="" xmlns:a16="http://schemas.microsoft.com/office/drawing/2014/main" val="20001"/>
                    </a:ext>
                  </a:extLst>
                </a:gridCol>
                <a:gridCol w="3025544">
                  <a:extLst>
                    <a:ext uri="{9D8B030D-6E8A-4147-A177-3AD203B41FA5}">
                      <a16:colId xmlns="" xmlns:a16="http://schemas.microsoft.com/office/drawing/2014/main" val="20002"/>
                    </a:ext>
                  </a:extLst>
                </a:gridCol>
                <a:gridCol w="2411665">
                  <a:extLst>
                    <a:ext uri="{9D8B030D-6E8A-4147-A177-3AD203B41FA5}">
                      <a16:colId xmlns="" xmlns:a16="http://schemas.microsoft.com/office/drawing/2014/main" val="20003"/>
                    </a:ext>
                  </a:extLst>
                </a:gridCol>
                <a:gridCol w="2937847">
                  <a:extLst>
                    <a:ext uri="{9D8B030D-6E8A-4147-A177-3AD203B41FA5}">
                      <a16:colId xmlns="" xmlns:a16="http://schemas.microsoft.com/office/drawing/2014/main" val="20004"/>
                    </a:ext>
                  </a:extLst>
                </a:gridCol>
              </a:tblGrid>
              <a:tr h="1877610">
                <a:tc>
                  <a:txBody>
                    <a:bodyPr/>
                    <a:lstStyle/>
                    <a:p>
                      <a:pPr algn="ctr">
                        <a:defRPr sz="1200" b="1">
                          <a:solidFill>
                            <a:srgbClr val="FFFFFF"/>
                          </a:solidFill>
                          <a:latin typeface="Aptos"/>
                        </a:defRPr>
                      </a:pPr>
                      <a:r>
                        <a:rPr sz="2000" dirty="0"/>
                        <a:t>S. No.</a:t>
                      </a:r>
                    </a:p>
                  </a:txBody>
                  <a:tcPr marR="73152" marT="54864" anchor="ctr">
                    <a:solidFill>
                      <a:srgbClr val="2A67B0"/>
                    </a:solidFill>
                  </a:tcPr>
                </a:tc>
                <a:tc>
                  <a:txBody>
                    <a:bodyPr/>
                    <a:lstStyle/>
                    <a:p>
                      <a:pPr algn="ctr">
                        <a:defRPr sz="1200" b="1">
                          <a:solidFill>
                            <a:srgbClr val="FFFFFF"/>
                          </a:solidFill>
                          <a:latin typeface="Aptos"/>
                        </a:defRPr>
                      </a:pPr>
                      <a:r>
                        <a:rPr sz="2000"/>
                        <a:t>Author(s) &amp; Year</a:t>
                      </a:r>
                    </a:p>
                  </a:txBody>
                  <a:tcPr marR="73152" marT="54864" anchor="ctr">
                    <a:solidFill>
                      <a:srgbClr val="2A67B0"/>
                    </a:solidFill>
                  </a:tcPr>
                </a:tc>
                <a:tc>
                  <a:txBody>
                    <a:bodyPr/>
                    <a:lstStyle/>
                    <a:p>
                      <a:pPr algn="ctr">
                        <a:defRPr sz="1200" b="1">
                          <a:solidFill>
                            <a:srgbClr val="FFFFFF"/>
                          </a:solidFill>
                          <a:latin typeface="Aptos"/>
                        </a:defRPr>
                      </a:pPr>
                      <a:r>
                        <a:rPr sz="2000"/>
                        <a:t>Paper Title</a:t>
                      </a:r>
                    </a:p>
                  </a:txBody>
                  <a:tcPr marR="73152" marT="54864" anchor="ctr">
                    <a:solidFill>
                      <a:srgbClr val="2A67B0"/>
                    </a:solidFill>
                  </a:tcPr>
                </a:tc>
                <a:tc>
                  <a:txBody>
                    <a:bodyPr/>
                    <a:lstStyle/>
                    <a:p>
                      <a:pPr algn="ctr">
                        <a:defRPr sz="1200" b="1">
                          <a:solidFill>
                            <a:srgbClr val="FFFFFF"/>
                          </a:solidFill>
                          <a:latin typeface="Aptos"/>
                        </a:defRPr>
                      </a:pPr>
                      <a:r>
                        <a:rPr sz="2000"/>
                        <a:t>Methodology / Algorithm</a:t>
                      </a:r>
                    </a:p>
                  </a:txBody>
                  <a:tcPr marR="73152" marT="54864" anchor="ctr">
                    <a:solidFill>
                      <a:srgbClr val="2A67B0"/>
                    </a:solidFill>
                  </a:tcPr>
                </a:tc>
                <a:tc>
                  <a:txBody>
                    <a:bodyPr/>
                    <a:lstStyle/>
                    <a:p>
                      <a:pPr algn="ctr">
                        <a:defRPr sz="1200" b="1">
                          <a:solidFill>
                            <a:srgbClr val="FFFFFF"/>
                          </a:solidFill>
                          <a:latin typeface="Aptos"/>
                        </a:defRPr>
                      </a:pPr>
                      <a:r>
                        <a:rPr sz="2000" dirty="0"/>
                        <a:t>Limitations</a:t>
                      </a:r>
                    </a:p>
                  </a:txBody>
                  <a:tcPr marR="73152" marT="54864" anchor="ctr">
                    <a:solidFill>
                      <a:srgbClr val="2A67B0"/>
                    </a:solidFill>
                  </a:tcPr>
                </a:tc>
                <a:extLst>
                  <a:ext uri="{0D108BD9-81ED-4DB2-BD59-A6C34878D82A}">
                    <a16:rowId xmlns="" xmlns:a16="http://schemas.microsoft.com/office/drawing/2014/main" val="10000"/>
                  </a:ext>
                </a:extLst>
              </a:tr>
              <a:tr h="796530">
                <a:tc>
                  <a:txBody>
                    <a:bodyPr/>
                    <a:lstStyle/>
                    <a:p>
                      <a:pPr algn="ctr">
                        <a:defRPr sz="1100" b="0">
                          <a:solidFill>
                            <a:srgbClr val="2D343E"/>
                          </a:solidFill>
                          <a:latin typeface="Aptos"/>
                        </a:defRPr>
                      </a:pPr>
                      <a:r>
                        <a:rPr sz="1800"/>
                        <a:t>1</a:t>
                      </a:r>
                    </a:p>
                  </a:txBody>
                  <a:tcPr marR="73152" marT="54864" anchor="ctr">
                    <a:solidFill>
                      <a:srgbClr val="FFFFFF"/>
                    </a:solidFill>
                  </a:tcPr>
                </a:tc>
                <a:tc>
                  <a:txBody>
                    <a:bodyPr/>
                    <a:lstStyle/>
                    <a:p>
                      <a:pPr algn="l">
                        <a:defRPr sz="1100" b="0">
                          <a:solidFill>
                            <a:srgbClr val="2D343E"/>
                          </a:solidFill>
                          <a:latin typeface="Aptos"/>
                        </a:defRPr>
                      </a:pPr>
                      <a:r>
                        <a:rPr lang="en-IN" sz="1800" b="0" kern="1200" dirty="0" err="1" smtClean="0">
                          <a:solidFill>
                            <a:schemeClr val="dk1"/>
                          </a:solidFill>
                          <a:latin typeface="Aptos"/>
                          <a:ea typeface="+mn-ea"/>
                          <a:cs typeface="+mn-cs"/>
                        </a:rPr>
                        <a:t>Dunsin</a:t>
                      </a:r>
                      <a:r>
                        <a:rPr lang="en-IN" sz="1800" b="0" kern="1200" dirty="0" smtClean="0">
                          <a:solidFill>
                            <a:schemeClr val="dk1"/>
                          </a:solidFill>
                          <a:latin typeface="Aptos"/>
                          <a:ea typeface="+mn-ea"/>
                          <a:cs typeface="+mn-cs"/>
                        </a:rPr>
                        <a:t> et al. (2024)</a:t>
                      </a:r>
                      <a:endParaRPr sz="1800" dirty="0">
                        <a:latin typeface="Aptos"/>
                      </a:endParaRPr>
                    </a:p>
                  </a:txBody>
                  <a:tcPr marR="73152" marT="54864" anchor="ctr">
                    <a:solidFill>
                      <a:srgbClr val="FFFFFF"/>
                    </a:solidFill>
                  </a:tcPr>
                </a:tc>
                <a:tc>
                  <a:txBody>
                    <a:bodyPr/>
                    <a:lstStyle/>
                    <a:p>
                      <a:pPr algn="l">
                        <a:defRPr sz="1100" b="0">
                          <a:solidFill>
                            <a:srgbClr val="2D343E"/>
                          </a:solidFill>
                          <a:latin typeface="Aptos"/>
                        </a:defRPr>
                      </a:pPr>
                      <a:r>
                        <a:rPr lang="en-IN" sz="1800" b="0" kern="1200" dirty="0" smtClean="0">
                          <a:solidFill>
                            <a:schemeClr val="dk1"/>
                          </a:solidFill>
                          <a:latin typeface="Aptos"/>
                          <a:ea typeface="+mn-ea"/>
                          <a:cs typeface="+mn-cs"/>
                        </a:rPr>
                        <a:t>AI in Digital Forensics</a:t>
                      </a:r>
                      <a:endParaRPr sz="1800" dirty="0">
                        <a:latin typeface="Aptos"/>
                      </a:endParaRPr>
                    </a:p>
                  </a:txBody>
                  <a:tcPr marR="73152" marT="54864" anchor="ctr">
                    <a:solidFill>
                      <a:srgbClr val="FFFFFF"/>
                    </a:solidFill>
                  </a:tcPr>
                </a:tc>
                <a:tc>
                  <a:txBody>
                    <a:bodyPr/>
                    <a:lstStyle/>
                    <a:p>
                      <a:pPr algn="l">
                        <a:defRPr sz="1100" b="0">
                          <a:solidFill>
                            <a:srgbClr val="2D343E"/>
                          </a:solidFill>
                          <a:latin typeface="Aptos"/>
                        </a:defRPr>
                      </a:pPr>
                      <a:r>
                        <a:rPr lang="en-IN" sz="1800" b="0" kern="1200" dirty="0" smtClean="0">
                          <a:solidFill>
                            <a:schemeClr val="dk1"/>
                          </a:solidFill>
                          <a:latin typeface="Aptos"/>
                          <a:ea typeface="+mn-ea"/>
                          <a:cs typeface="+mn-cs"/>
                        </a:rPr>
                        <a:t>AI-based forensic techniques</a:t>
                      </a:r>
                      <a:endParaRPr sz="1800" dirty="0">
                        <a:latin typeface="Aptos"/>
                      </a:endParaRPr>
                    </a:p>
                  </a:txBody>
                  <a:tcPr marR="73152" marT="54864" anchor="ctr">
                    <a:solidFill>
                      <a:srgbClr val="FFFFFF"/>
                    </a:solidFill>
                  </a:tcPr>
                </a:tc>
                <a:tc>
                  <a:txBody>
                    <a:bodyPr/>
                    <a:lstStyle/>
                    <a:p>
                      <a:pPr algn="l">
                        <a:defRPr sz="1100" b="0">
                          <a:solidFill>
                            <a:srgbClr val="2D343E"/>
                          </a:solidFill>
                          <a:latin typeface="Aptos"/>
                        </a:defRPr>
                      </a:pPr>
                      <a:r>
                        <a:rPr lang="en-IN" sz="1800" b="0" kern="1200" dirty="0" smtClean="0">
                          <a:solidFill>
                            <a:schemeClr val="dk1"/>
                          </a:solidFill>
                          <a:latin typeface="Aptos"/>
                          <a:ea typeface="+mn-ea"/>
                          <a:cs typeface="+mn-cs"/>
                        </a:rPr>
                        <a:t>Limited real-time investigation capabilities</a:t>
                      </a:r>
                      <a:endParaRPr sz="1800" dirty="0">
                        <a:latin typeface="Aptos"/>
                      </a:endParaRPr>
                    </a:p>
                  </a:txBody>
                  <a:tcPr marR="73152" marT="54864" anchor="ctr">
                    <a:solidFill>
                      <a:srgbClr val="FFFFFF"/>
                    </a:solidFill>
                  </a:tcPr>
                </a:tc>
                <a:extLst>
                  <a:ext uri="{0D108BD9-81ED-4DB2-BD59-A6C34878D82A}">
                    <a16:rowId xmlns="" xmlns:a16="http://schemas.microsoft.com/office/drawing/2014/main" val="10001"/>
                  </a:ext>
                </a:extLst>
              </a:tr>
              <a:tr h="796530">
                <a:tc>
                  <a:txBody>
                    <a:bodyPr/>
                    <a:lstStyle/>
                    <a:p>
                      <a:pPr algn="ctr">
                        <a:defRPr sz="1100" b="0">
                          <a:solidFill>
                            <a:srgbClr val="2D343E"/>
                          </a:solidFill>
                          <a:latin typeface="Aptos"/>
                        </a:defRPr>
                      </a:pPr>
                      <a:r>
                        <a:rPr sz="1800"/>
                        <a:t>2</a:t>
                      </a:r>
                    </a:p>
                  </a:txBody>
                  <a:tcPr marR="73152" marT="54864" anchor="ctr">
                    <a:solidFill>
                      <a:srgbClr val="EBF2FA"/>
                    </a:solidFill>
                  </a:tcPr>
                </a:tc>
                <a:tc>
                  <a:txBody>
                    <a:bodyPr/>
                    <a:lstStyle/>
                    <a:p>
                      <a:pPr algn="l">
                        <a:defRPr sz="1100" b="0">
                          <a:solidFill>
                            <a:srgbClr val="2D343E"/>
                          </a:solidFill>
                          <a:latin typeface="Aptos"/>
                        </a:defRPr>
                      </a:pPr>
                      <a:r>
                        <a:rPr lang="en-IN" sz="1800" b="0" kern="1200" dirty="0" err="1" smtClean="0">
                          <a:solidFill>
                            <a:schemeClr val="dk1"/>
                          </a:solidFill>
                          <a:latin typeface="Aptos"/>
                          <a:ea typeface="+mn-ea"/>
                          <a:cs typeface="+mn-cs"/>
                        </a:rPr>
                        <a:t>Alam</a:t>
                      </a:r>
                      <a:r>
                        <a:rPr lang="en-IN" sz="1800" b="0" kern="1200" dirty="0" smtClean="0">
                          <a:solidFill>
                            <a:schemeClr val="dk1"/>
                          </a:solidFill>
                          <a:latin typeface="Aptos"/>
                          <a:ea typeface="+mn-ea"/>
                          <a:cs typeface="+mn-cs"/>
                        </a:rPr>
                        <a:t> &amp; </a:t>
                      </a:r>
                      <a:r>
                        <a:rPr lang="en-IN" sz="1800" b="0" kern="1200" dirty="0" err="1" smtClean="0">
                          <a:solidFill>
                            <a:schemeClr val="dk1"/>
                          </a:solidFill>
                          <a:latin typeface="Aptos"/>
                          <a:ea typeface="+mn-ea"/>
                          <a:cs typeface="+mn-cs"/>
                        </a:rPr>
                        <a:t>Demir</a:t>
                      </a:r>
                      <a:r>
                        <a:rPr lang="en-IN" sz="1800" b="0" kern="1200" dirty="0" smtClean="0">
                          <a:solidFill>
                            <a:schemeClr val="dk1"/>
                          </a:solidFill>
                          <a:latin typeface="Aptos"/>
                          <a:ea typeface="+mn-ea"/>
                          <a:cs typeface="+mn-cs"/>
                        </a:rPr>
                        <a:t> (2024)</a:t>
                      </a:r>
                      <a:endParaRPr sz="1800" dirty="0">
                        <a:latin typeface="Aptos"/>
                      </a:endParaRPr>
                    </a:p>
                  </a:txBody>
                  <a:tcPr marR="73152" marT="54864" anchor="ctr">
                    <a:solidFill>
                      <a:srgbClr val="EBF2FA"/>
                    </a:solidFill>
                  </a:tcPr>
                </a:tc>
                <a:tc>
                  <a:txBody>
                    <a:bodyPr/>
                    <a:lstStyle/>
                    <a:p>
                      <a:pPr algn="l">
                        <a:defRPr sz="1100" b="0">
                          <a:solidFill>
                            <a:srgbClr val="2D343E"/>
                          </a:solidFill>
                          <a:latin typeface="Aptos"/>
                        </a:defRPr>
                      </a:pPr>
                      <a:r>
                        <a:rPr lang="en-US" sz="1800" b="0" kern="1200" dirty="0" smtClean="0">
                          <a:solidFill>
                            <a:schemeClr val="dk1"/>
                          </a:solidFill>
                          <a:latin typeface="Aptos"/>
                          <a:ea typeface="+mn-ea"/>
                          <a:cs typeface="+mn-cs"/>
                        </a:rPr>
                        <a:t>SIFT: Explainable AI in Cyber Forensics</a:t>
                      </a:r>
                      <a:endParaRPr sz="1800" dirty="0">
                        <a:latin typeface="Aptos"/>
                      </a:endParaRPr>
                    </a:p>
                  </a:txBody>
                  <a:tcPr marR="73152" marT="54864" anchor="ctr">
                    <a:solidFill>
                      <a:srgbClr val="EBF2FA"/>
                    </a:solidFill>
                  </a:tcPr>
                </a:tc>
                <a:tc>
                  <a:txBody>
                    <a:bodyPr/>
                    <a:lstStyle/>
                    <a:p>
                      <a:pPr algn="l">
                        <a:defRPr sz="1100" b="0">
                          <a:solidFill>
                            <a:srgbClr val="2D343E"/>
                          </a:solidFill>
                          <a:latin typeface="Aptos"/>
                        </a:defRPr>
                      </a:pPr>
                      <a:r>
                        <a:rPr lang="en-IN" sz="1800" b="0" kern="1200" dirty="0" smtClean="0">
                          <a:solidFill>
                            <a:schemeClr val="dk1"/>
                          </a:solidFill>
                          <a:latin typeface="Aptos"/>
                          <a:ea typeface="+mn-ea"/>
                          <a:cs typeface="+mn-cs"/>
                        </a:rPr>
                        <a:t>Explainable forensic analysis</a:t>
                      </a:r>
                      <a:endParaRPr sz="1800" dirty="0">
                        <a:latin typeface="Aptos"/>
                      </a:endParaRPr>
                    </a:p>
                  </a:txBody>
                  <a:tcPr marR="73152" marT="54864" anchor="ctr">
                    <a:solidFill>
                      <a:srgbClr val="EBF2FA"/>
                    </a:solidFill>
                  </a:tcPr>
                </a:tc>
                <a:tc>
                  <a:txBody>
                    <a:bodyPr/>
                    <a:lstStyle/>
                    <a:p>
                      <a:pPr algn="l">
                        <a:defRPr sz="1100" b="0">
                          <a:solidFill>
                            <a:srgbClr val="2D343E"/>
                          </a:solidFill>
                          <a:latin typeface="Aptos"/>
                        </a:defRPr>
                      </a:pPr>
                      <a:r>
                        <a:rPr lang="en-IN" sz="1800" b="0" kern="1200" dirty="0" smtClean="0">
                          <a:solidFill>
                            <a:schemeClr val="dk1"/>
                          </a:solidFill>
                          <a:latin typeface="Aptos"/>
                          <a:ea typeface="+mn-ea"/>
                          <a:cs typeface="+mn-cs"/>
                        </a:rPr>
                        <a:t>Focuses on file-fragment classification</a:t>
                      </a:r>
                      <a:endParaRPr sz="1800" dirty="0">
                        <a:latin typeface="Aptos"/>
                      </a:endParaRPr>
                    </a:p>
                  </a:txBody>
                  <a:tcPr marR="73152" marT="54864" anchor="ctr">
                    <a:solidFill>
                      <a:srgbClr val="EBF2FA"/>
                    </a:solidFill>
                  </a:tcPr>
                </a:tc>
                <a:extLst>
                  <a:ext uri="{0D108BD9-81ED-4DB2-BD59-A6C34878D82A}">
                    <a16:rowId xmlns="" xmlns:a16="http://schemas.microsoft.com/office/drawing/2014/main" val="10002"/>
                  </a:ext>
                </a:extLst>
              </a:tr>
              <a:tr h="796530">
                <a:tc>
                  <a:txBody>
                    <a:bodyPr/>
                    <a:lstStyle/>
                    <a:p>
                      <a:pPr algn="ctr">
                        <a:defRPr sz="1100" b="0">
                          <a:solidFill>
                            <a:srgbClr val="2D343E"/>
                          </a:solidFill>
                          <a:latin typeface="Aptos"/>
                        </a:defRPr>
                      </a:pPr>
                      <a:r>
                        <a:rPr sz="1800"/>
                        <a:t>3</a:t>
                      </a:r>
                    </a:p>
                  </a:txBody>
                  <a:tcPr marR="73152" marT="54864" anchor="ctr">
                    <a:solidFill>
                      <a:srgbClr val="FFFFFF"/>
                    </a:solidFill>
                  </a:tcPr>
                </a:tc>
                <a:tc>
                  <a:txBody>
                    <a:bodyPr/>
                    <a:lstStyle/>
                    <a:p>
                      <a:pPr algn="l">
                        <a:defRPr sz="1100" b="0">
                          <a:solidFill>
                            <a:srgbClr val="2D343E"/>
                          </a:solidFill>
                          <a:latin typeface="Aptos"/>
                        </a:defRPr>
                      </a:pPr>
                      <a:r>
                        <a:rPr lang="en-IN" sz="1800" b="0" kern="1200" dirty="0" smtClean="0">
                          <a:solidFill>
                            <a:schemeClr val="dk1"/>
                          </a:solidFill>
                          <a:latin typeface="Aptos"/>
                          <a:ea typeface="+mn-ea"/>
                          <a:cs typeface="+mn-cs"/>
                        </a:rPr>
                        <a:t>Russell &amp; </a:t>
                      </a:r>
                      <a:r>
                        <a:rPr lang="en-IN" sz="1800" b="0" kern="1200" dirty="0" err="1" smtClean="0">
                          <a:solidFill>
                            <a:schemeClr val="dk1"/>
                          </a:solidFill>
                          <a:latin typeface="Aptos"/>
                          <a:ea typeface="+mn-ea"/>
                          <a:cs typeface="+mn-cs"/>
                        </a:rPr>
                        <a:t>Norvig</a:t>
                      </a:r>
                      <a:r>
                        <a:rPr lang="en-IN" sz="1800" b="0" kern="1200" dirty="0" smtClean="0">
                          <a:solidFill>
                            <a:schemeClr val="dk1"/>
                          </a:solidFill>
                          <a:latin typeface="Aptos"/>
                          <a:ea typeface="+mn-ea"/>
                          <a:cs typeface="+mn-cs"/>
                        </a:rPr>
                        <a:t> (2020)</a:t>
                      </a:r>
                      <a:endParaRPr sz="1800" dirty="0">
                        <a:latin typeface="Aptos"/>
                      </a:endParaRPr>
                    </a:p>
                  </a:txBody>
                  <a:tcPr marR="73152" marT="54864" anchor="ctr">
                    <a:solidFill>
                      <a:srgbClr val="FFFFFF"/>
                    </a:solidFill>
                  </a:tcPr>
                </a:tc>
                <a:tc>
                  <a:txBody>
                    <a:bodyPr/>
                    <a:lstStyle/>
                    <a:p>
                      <a:pPr algn="l">
                        <a:defRPr sz="1100" b="0">
                          <a:solidFill>
                            <a:srgbClr val="2D343E"/>
                          </a:solidFill>
                          <a:latin typeface="Aptos"/>
                        </a:defRPr>
                      </a:pPr>
                      <a:r>
                        <a:rPr lang="en-IN" sz="1800" b="0" kern="1200" dirty="0" smtClean="0">
                          <a:solidFill>
                            <a:schemeClr val="dk1"/>
                          </a:solidFill>
                          <a:latin typeface="Aptos"/>
                          <a:ea typeface="+mn-ea"/>
                          <a:cs typeface="+mn-cs"/>
                        </a:rPr>
                        <a:t>Artificial Intelligence: A Modern Approach</a:t>
                      </a:r>
                      <a:endParaRPr sz="1800" dirty="0">
                        <a:latin typeface="Aptos"/>
                      </a:endParaRPr>
                    </a:p>
                  </a:txBody>
                  <a:tcPr marR="73152" marT="54864" anchor="ctr">
                    <a:solidFill>
                      <a:srgbClr val="FFFFFF"/>
                    </a:solidFill>
                  </a:tcPr>
                </a:tc>
                <a:tc>
                  <a:txBody>
                    <a:bodyPr/>
                    <a:lstStyle/>
                    <a:p>
                      <a:pPr algn="l">
                        <a:defRPr sz="1100" b="0">
                          <a:solidFill>
                            <a:srgbClr val="2D343E"/>
                          </a:solidFill>
                          <a:latin typeface="Aptos"/>
                        </a:defRPr>
                      </a:pPr>
                      <a:r>
                        <a:rPr lang="en-IN" sz="1800" b="0" kern="1200" dirty="0" smtClean="0">
                          <a:solidFill>
                            <a:schemeClr val="dk1"/>
                          </a:solidFill>
                          <a:latin typeface="Aptos"/>
                          <a:ea typeface="+mn-ea"/>
                          <a:cs typeface="+mn-cs"/>
                        </a:rPr>
                        <a:t>Rule-based reasoning, logical inference</a:t>
                      </a:r>
                      <a:endParaRPr sz="1800" dirty="0">
                        <a:latin typeface="Aptos"/>
                      </a:endParaRPr>
                    </a:p>
                  </a:txBody>
                  <a:tcPr marR="73152" marT="54864" anchor="ctr">
                    <a:solidFill>
                      <a:srgbClr val="FFFFFF"/>
                    </a:solidFill>
                  </a:tcPr>
                </a:tc>
                <a:tc>
                  <a:txBody>
                    <a:bodyPr/>
                    <a:lstStyle/>
                    <a:p>
                      <a:pPr algn="l">
                        <a:defRPr sz="1100" b="0">
                          <a:solidFill>
                            <a:srgbClr val="2D343E"/>
                          </a:solidFill>
                          <a:latin typeface="Aptos"/>
                        </a:defRPr>
                      </a:pPr>
                      <a:r>
                        <a:rPr lang="en-US" sz="1800" b="0" kern="1200" dirty="0" smtClean="0">
                          <a:solidFill>
                            <a:schemeClr val="dk1"/>
                          </a:solidFill>
                          <a:latin typeface="Aptos"/>
                          <a:ea typeface="+mn-ea"/>
                          <a:cs typeface="+mn-cs"/>
                        </a:rPr>
                        <a:t>Requires predefined knowledge and rules</a:t>
                      </a:r>
                      <a:endParaRPr sz="1800" dirty="0">
                        <a:latin typeface="Aptos"/>
                      </a:endParaRPr>
                    </a:p>
                  </a:txBody>
                  <a:tcPr marR="73152" marT="54864" anchor="ctr">
                    <a:solidFill>
                      <a:srgbClr val="FFFFFF"/>
                    </a:solidFill>
                  </a:tcPr>
                </a:tc>
                <a:extLst>
                  <a:ext uri="{0D108BD9-81ED-4DB2-BD59-A6C34878D82A}">
                    <a16:rowId xmlns="" xmlns:a16="http://schemas.microsoft.com/office/drawing/2014/main" val="10003"/>
                  </a:ext>
                </a:extLst>
              </a:tr>
            </a:tbl>
          </a:graphicData>
        </a:graphic>
      </p:graphicFrame>
    </p:spTree>
    <p:extLst>
      <p:ext uri="{BB962C8B-B14F-4D97-AF65-F5344CB8AC3E}">
        <p14:creationId xmlns:p14="http://schemas.microsoft.com/office/powerpoint/2010/main" val="2440445193"/>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a:xfrm>
            <a:off x="766233" y="304801"/>
            <a:ext cx="10668000" cy="533399"/>
          </a:xfrm>
        </p:spPr>
        <p:txBody>
          <a:bodyPr/>
          <a:lstStyle/>
          <a:p>
            <a:pPr algn="ctr"/>
            <a:r>
              <a:rPr lang="en-US" sz="3200" b="1" dirty="0">
                <a:solidFill>
                  <a:srgbClr val="FF0000"/>
                </a:solidFill>
              </a:rPr>
              <a:t>Literature Survey</a:t>
            </a:r>
            <a:endParaRPr lang="en-IN" sz="3200" b="1" dirty="0">
              <a:solidFill>
                <a:srgbClr val="FF0000"/>
              </a:solidFill>
            </a:endParaRPr>
          </a:p>
        </p:txBody>
      </p:sp>
      <p:sp>
        <p:nvSpPr>
          <p:cNvPr id="3" name="Content Placeholder 2">
            <a:extLst>
              <a:ext uri="{FF2B5EF4-FFF2-40B4-BE49-F238E27FC236}">
                <a16:creationId xmlns:a16="http://schemas.microsoft.com/office/drawing/2014/main" xmlns="" id="{01F36FF0-FD4A-EE78-6CA2-4ADCB6BA1B65}"/>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r>
              <a:rPr kumimoji="0" lang="en-IN" altLang="en-US" sz="2800" b="0" i="0" u="none" strike="noStrike" kern="0" cap="none" spc="0" normalizeH="0" baseline="0" noProof="0" dirty="0">
                <a:ln>
                  <a:noFill/>
                </a:ln>
                <a:solidFill>
                  <a:srgbClr val="000000"/>
                </a:solidFill>
                <a:effectLst/>
                <a:uLnTx/>
                <a:uFillTx/>
                <a:latin typeface="Verdana"/>
                <a:ea typeface="+mn-ea"/>
                <a:cs typeface="+mn-cs"/>
              </a:rPr>
              <a:t/>
            </a:r>
            <a:br>
              <a:rPr kumimoji="0" lang="en-IN" altLang="en-US" sz="2800" b="0" i="0" u="none" strike="noStrike" kern="0" cap="none" spc="0" normalizeH="0" baseline="0" noProof="0" dirty="0">
                <a:ln>
                  <a:noFill/>
                </a:ln>
                <a:solidFill>
                  <a:srgbClr val="000000"/>
                </a:solidFill>
                <a:effectLst/>
                <a:uLnTx/>
                <a:uFillTx/>
                <a:latin typeface="Verdana"/>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a:ea typeface="+mn-ea"/>
              <a:cs typeface="+mn-cs"/>
            </a:endParaRPr>
          </a:p>
          <a:p>
            <a:pPr marL="0" indent="0">
              <a:buNone/>
            </a:pPr>
            <a:endParaRPr lang="en-IN" dirty="0"/>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6</a:t>
            </a:fld>
            <a:endParaRPr lang="en-IN"/>
          </a:p>
        </p:txBody>
      </p:sp>
      <p:graphicFrame>
        <p:nvGraphicFramePr>
          <p:cNvPr id="7" name="Table 6">
            <a:extLst>
              <a:ext uri="{FF2B5EF4-FFF2-40B4-BE49-F238E27FC236}">
                <a16:creationId xmlns="" xmlns:a16="http://schemas.microsoft.com/office/drawing/2014/main" id="{AD7E4B40-F95E-47F4-B92E-06AFA2A015FC}"/>
              </a:ext>
            </a:extLst>
          </p:cNvPr>
          <p:cNvGraphicFramePr>
            <a:graphicFrameLocks noGrp="1"/>
          </p:cNvGraphicFramePr>
          <p:nvPr>
            <p:extLst>
              <p:ext uri="{D42A27DB-BD31-4B8C-83A1-F6EECF244321}">
                <p14:modId xmlns:p14="http://schemas.microsoft.com/office/powerpoint/2010/main" val="2942735158"/>
              </p:ext>
            </p:extLst>
          </p:nvPr>
        </p:nvGraphicFramePr>
        <p:xfrm>
          <a:off x="983432" y="1746251"/>
          <a:ext cx="10748320" cy="2731196"/>
        </p:xfrm>
        <a:graphic>
          <a:graphicData uri="http://schemas.openxmlformats.org/drawingml/2006/table">
            <a:tbl>
              <a:tblPr firstRow="1" bandRow="1">
                <a:tableStyleId>{5C22544A-7EE6-4342-B048-85BDC9FD1C3A}</a:tableStyleId>
              </a:tblPr>
              <a:tblGrid>
                <a:gridCol w="565701">
                  <a:extLst>
                    <a:ext uri="{9D8B030D-6E8A-4147-A177-3AD203B41FA5}">
                      <a16:colId xmlns="" xmlns:a16="http://schemas.microsoft.com/office/drawing/2014/main" val="20000"/>
                    </a:ext>
                  </a:extLst>
                </a:gridCol>
                <a:gridCol w="1871165">
                  <a:extLst>
                    <a:ext uri="{9D8B030D-6E8A-4147-A177-3AD203B41FA5}">
                      <a16:colId xmlns="" xmlns:a16="http://schemas.microsoft.com/office/drawing/2014/main" val="20001"/>
                    </a:ext>
                  </a:extLst>
                </a:gridCol>
                <a:gridCol w="3002567">
                  <a:extLst>
                    <a:ext uri="{9D8B030D-6E8A-4147-A177-3AD203B41FA5}">
                      <a16:colId xmlns="" xmlns:a16="http://schemas.microsoft.com/office/drawing/2014/main" val="20002"/>
                    </a:ext>
                  </a:extLst>
                </a:gridCol>
                <a:gridCol w="2393351">
                  <a:extLst>
                    <a:ext uri="{9D8B030D-6E8A-4147-A177-3AD203B41FA5}">
                      <a16:colId xmlns="" xmlns:a16="http://schemas.microsoft.com/office/drawing/2014/main" val="20003"/>
                    </a:ext>
                  </a:extLst>
                </a:gridCol>
                <a:gridCol w="2915536">
                  <a:extLst>
                    <a:ext uri="{9D8B030D-6E8A-4147-A177-3AD203B41FA5}">
                      <a16:colId xmlns="" xmlns:a16="http://schemas.microsoft.com/office/drawing/2014/main" val="20004"/>
                    </a:ext>
                  </a:extLst>
                </a:gridCol>
              </a:tblGrid>
              <a:tr h="664340">
                <a:tc>
                  <a:txBody>
                    <a:bodyPr/>
                    <a:lstStyle/>
                    <a:p>
                      <a:pPr algn="ctr">
                        <a:defRPr sz="1200" b="1">
                          <a:solidFill>
                            <a:srgbClr val="FFFFFF"/>
                          </a:solidFill>
                          <a:latin typeface="Aptos"/>
                        </a:defRPr>
                      </a:pPr>
                      <a:r>
                        <a:rPr sz="2000" dirty="0"/>
                        <a:t>S. No.</a:t>
                      </a:r>
                    </a:p>
                  </a:txBody>
                  <a:tcPr marR="73152" marT="54864" anchor="ctr">
                    <a:solidFill>
                      <a:srgbClr val="2A67B0"/>
                    </a:solidFill>
                  </a:tcPr>
                </a:tc>
                <a:tc>
                  <a:txBody>
                    <a:bodyPr/>
                    <a:lstStyle/>
                    <a:p>
                      <a:pPr algn="ctr">
                        <a:defRPr sz="1200" b="1">
                          <a:solidFill>
                            <a:srgbClr val="FFFFFF"/>
                          </a:solidFill>
                          <a:latin typeface="Aptos"/>
                        </a:defRPr>
                      </a:pPr>
                      <a:r>
                        <a:rPr sz="2000"/>
                        <a:t>Author(s) &amp; Year</a:t>
                      </a:r>
                    </a:p>
                  </a:txBody>
                  <a:tcPr marR="73152" marT="54864" anchor="ctr">
                    <a:solidFill>
                      <a:srgbClr val="2A67B0"/>
                    </a:solidFill>
                  </a:tcPr>
                </a:tc>
                <a:tc>
                  <a:txBody>
                    <a:bodyPr/>
                    <a:lstStyle/>
                    <a:p>
                      <a:pPr algn="ctr">
                        <a:defRPr sz="1200" b="1">
                          <a:solidFill>
                            <a:srgbClr val="FFFFFF"/>
                          </a:solidFill>
                          <a:latin typeface="Aptos"/>
                        </a:defRPr>
                      </a:pPr>
                      <a:r>
                        <a:rPr sz="2000" dirty="0"/>
                        <a:t>Paper Title</a:t>
                      </a:r>
                    </a:p>
                  </a:txBody>
                  <a:tcPr marR="73152" marT="54864" anchor="ctr">
                    <a:solidFill>
                      <a:srgbClr val="2A67B0"/>
                    </a:solidFill>
                  </a:tcPr>
                </a:tc>
                <a:tc>
                  <a:txBody>
                    <a:bodyPr/>
                    <a:lstStyle/>
                    <a:p>
                      <a:pPr algn="ctr">
                        <a:defRPr sz="1200" b="1">
                          <a:solidFill>
                            <a:srgbClr val="FFFFFF"/>
                          </a:solidFill>
                          <a:latin typeface="Aptos"/>
                        </a:defRPr>
                      </a:pPr>
                      <a:r>
                        <a:rPr sz="2000"/>
                        <a:t>Methodology / Algorithm</a:t>
                      </a:r>
                    </a:p>
                  </a:txBody>
                  <a:tcPr marR="73152" marT="54864" anchor="ctr">
                    <a:solidFill>
                      <a:srgbClr val="2A67B0"/>
                    </a:solidFill>
                  </a:tcPr>
                </a:tc>
                <a:tc>
                  <a:txBody>
                    <a:bodyPr/>
                    <a:lstStyle/>
                    <a:p>
                      <a:pPr algn="ctr">
                        <a:defRPr sz="1200" b="1">
                          <a:solidFill>
                            <a:srgbClr val="FFFFFF"/>
                          </a:solidFill>
                          <a:latin typeface="Aptos"/>
                        </a:defRPr>
                      </a:pPr>
                      <a:r>
                        <a:rPr sz="2000"/>
                        <a:t>Limitations</a:t>
                      </a:r>
                    </a:p>
                  </a:txBody>
                  <a:tcPr marR="73152" marT="54864" anchor="ctr">
                    <a:solidFill>
                      <a:srgbClr val="2A67B0"/>
                    </a:solidFill>
                  </a:tcPr>
                </a:tc>
                <a:extLst>
                  <a:ext uri="{0D108BD9-81ED-4DB2-BD59-A6C34878D82A}">
                    <a16:rowId xmlns="" xmlns:a16="http://schemas.microsoft.com/office/drawing/2014/main" val="10000"/>
                  </a:ext>
                </a:extLst>
              </a:tr>
              <a:tr h="858106">
                <a:tc>
                  <a:txBody>
                    <a:bodyPr/>
                    <a:lstStyle/>
                    <a:p>
                      <a:pPr algn="ctr">
                        <a:defRPr sz="1100" b="0">
                          <a:solidFill>
                            <a:srgbClr val="2D343E"/>
                          </a:solidFill>
                          <a:latin typeface="Aptos"/>
                        </a:defRPr>
                      </a:pPr>
                      <a:r>
                        <a:rPr sz="1800" dirty="0"/>
                        <a:t>4</a:t>
                      </a:r>
                    </a:p>
                  </a:txBody>
                  <a:tcPr marR="73152" marT="54864" anchor="ctr">
                    <a:solidFill>
                      <a:srgbClr val="EBF2FA"/>
                    </a:solidFill>
                  </a:tcPr>
                </a:tc>
                <a:tc>
                  <a:txBody>
                    <a:bodyPr/>
                    <a:lstStyle/>
                    <a:p>
                      <a:pPr algn="l">
                        <a:defRPr sz="1100" b="0">
                          <a:solidFill>
                            <a:srgbClr val="2D343E"/>
                          </a:solidFill>
                          <a:latin typeface="Aptos"/>
                        </a:defRPr>
                      </a:pPr>
                      <a:r>
                        <a:rPr lang="en-IN" sz="1800" b="0" kern="1200" dirty="0" smtClean="0">
                          <a:solidFill>
                            <a:schemeClr val="dk1"/>
                          </a:solidFill>
                          <a:latin typeface="Aptos"/>
                          <a:ea typeface="+mn-ea"/>
                          <a:cs typeface="+mn-cs"/>
                        </a:rPr>
                        <a:t>Hargreaves &amp; Patterson (2012)</a:t>
                      </a:r>
                      <a:endParaRPr sz="1800" dirty="0">
                        <a:latin typeface="Aptos"/>
                      </a:endParaRPr>
                    </a:p>
                  </a:txBody>
                  <a:tcPr marR="73152" marT="54864" anchor="ctr">
                    <a:solidFill>
                      <a:srgbClr val="EBF2FA"/>
                    </a:solidFill>
                  </a:tcPr>
                </a:tc>
                <a:tc>
                  <a:txBody>
                    <a:bodyPr/>
                    <a:lstStyle/>
                    <a:p>
                      <a:pPr algn="l">
                        <a:defRPr sz="1100" b="0">
                          <a:solidFill>
                            <a:srgbClr val="2D343E"/>
                          </a:solidFill>
                          <a:latin typeface="Aptos"/>
                        </a:defRPr>
                      </a:pPr>
                      <a:r>
                        <a:rPr lang="en-IN" sz="1800" b="0" kern="1200" dirty="0" smtClean="0">
                          <a:solidFill>
                            <a:schemeClr val="dk1"/>
                          </a:solidFill>
                          <a:latin typeface="Aptos"/>
                          <a:ea typeface="+mn-ea"/>
                          <a:cs typeface="+mn-cs"/>
                        </a:rPr>
                        <a:t>Automated Timeline Reconstruction</a:t>
                      </a:r>
                      <a:endParaRPr sz="1800" dirty="0">
                        <a:latin typeface="Aptos"/>
                      </a:endParaRPr>
                    </a:p>
                  </a:txBody>
                  <a:tcPr marR="73152" marT="54864" anchor="ctr">
                    <a:solidFill>
                      <a:srgbClr val="EBF2FA"/>
                    </a:solidFill>
                  </a:tcPr>
                </a:tc>
                <a:tc>
                  <a:txBody>
                    <a:bodyPr/>
                    <a:lstStyle/>
                    <a:p>
                      <a:pPr algn="l">
                        <a:defRPr sz="1100" b="0">
                          <a:solidFill>
                            <a:srgbClr val="2D343E"/>
                          </a:solidFill>
                          <a:latin typeface="Aptos"/>
                        </a:defRPr>
                      </a:pPr>
                      <a:r>
                        <a:rPr lang="en-IN" sz="1800" b="0" kern="1200" dirty="0" smtClean="0">
                          <a:solidFill>
                            <a:schemeClr val="dk1"/>
                          </a:solidFill>
                          <a:latin typeface="Aptos"/>
                          <a:ea typeface="+mn-ea"/>
                          <a:cs typeface="+mn-cs"/>
                        </a:rPr>
                        <a:t>Event pattern analysis</a:t>
                      </a:r>
                      <a:endParaRPr sz="1800" dirty="0">
                        <a:latin typeface="Aptos"/>
                      </a:endParaRPr>
                    </a:p>
                  </a:txBody>
                  <a:tcPr marR="73152" marT="54864" anchor="ctr">
                    <a:solidFill>
                      <a:srgbClr val="EBF2FA"/>
                    </a:solidFill>
                  </a:tcPr>
                </a:tc>
                <a:tc>
                  <a:txBody>
                    <a:bodyPr/>
                    <a:lstStyle/>
                    <a:p>
                      <a:pPr algn="l">
                        <a:defRPr sz="1100" b="0">
                          <a:solidFill>
                            <a:srgbClr val="2D343E"/>
                          </a:solidFill>
                          <a:latin typeface="Aptos"/>
                        </a:defRPr>
                      </a:pPr>
                      <a:r>
                        <a:rPr lang="en-IN" sz="1800" dirty="0" smtClean="0">
                          <a:latin typeface="Aptos"/>
                        </a:rPr>
                        <a:t>Limited</a:t>
                      </a:r>
                      <a:r>
                        <a:rPr lang="en-IN" sz="1800" baseline="0" dirty="0" smtClean="0">
                          <a:latin typeface="Aptos"/>
                        </a:rPr>
                        <a:t> to pre-defined patterns</a:t>
                      </a:r>
                      <a:endParaRPr sz="1800" dirty="0">
                        <a:latin typeface="Aptos"/>
                      </a:endParaRPr>
                    </a:p>
                  </a:txBody>
                  <a:tcPr marR="73152" marT="54864" anchor="ctr">
                    <a:solidFill>
                      <a:srgbClr val="EBF2FA"/>
                    </a:solidFill>
                  </a:tcPr>
                </a:tc>
                <a:extLst>
                  <a:ext uri="{0D108BD9-81ED-4DB2-BD59-A6C34878D82A}">
                    <a16:rowId xmlns="" xmlns:a16="http://schemas.microsoft.com/office/drawing/2014/main" val="10004"/>
                  </a:ext>
                </a:extLst>
              </a:tr>
              <a:tr h="858106">
                <a:tc>
                  <a:txBody>
                    <a:bodyPr/>
                    <a:lstStyle/>
                    <a:p>
                      <a:pPr algn="ctr">
                        <a:defRPr sz="1100" b="0">
                          <a:solidFill>
                            <a:srgbClr val="2D343E"/>
                          </a:solidFill>
                          <a:latin typeface="Aptos"/>
                        </a:defRPr>
                      </a:pPr>
                      <a:r>
                        <a:rPr lang="en-US" sz="1800" dirty="0"/>
                        <a:t>5</a:t>
                      </a:r>
                      <a:endParaRPr sz="1800" dirty="0"/>
                    </a:p>
                  </a:txBody>
                  <a:tcPr marR="73152" marT="54864" anchor="ctr">
                    <a:solidFill>
                      <a:srgbClr val="EBF2FA"/>
                    </a:solidFill>
                  </a:tcPr>
                </a:tc>
                <a:tc>
                  <a:txBody>
                    <a:bodyPr/>
                    <a:lstStyle/>
                    <a:p>
                      <a:pPr algn="l">
                        <a:defRPr sz="1100" b="0">
                          <a:solidFill>
                            <a:srgbClr val="2D343E"/>
                          </a:solidFill>
                          <a:latin typeface="Aptos"/>
                        </a:defRPr>
                      </a:pPr>
                      <a:r>
                        <a:rPr lang="en-IN" sz="1800" b="0" kern="1200" dirty="0" smtClean="0">
                          <a:solidFill>
                            <a:schemeClr val="dk1"/>
                          </a:solidFill>
                          <a:latin typeface="Aptos"/>
                          <a:ea typeface="+mn-ea"/>
                          <a:cs typeface="+mn-cs"/>
                        </a:rPr>
                        <a:t>Kang et al. (2013)</a:t>
                      </a:r>
                      <a:endParaRPr sz="1800" dirty="0">
                        <a:latin typeface="Aptos"/>
                      </a:endParaRPr>
                    </a:p>
                  </a:txBody>
                  <a:tcPr marR="73152" marT="54864" anchor="ctr">
                    <a:solidFill>
                      <a:srgbClr val="EBF2FA"/>
                    </a:solidFill>
                  </a:tcPr>
                </a:tc>
                <a:tc>
                  <a:txBody>
                    <a:bodyPr/>
                    <a:lstStyle/>
                    <a:p>
                      <a:pPr algn="l">
                        <a:defRPr sz="1100" b="0">
                          <a:solidFill>
                            <a:srgbClr val="2D343E"/>
                          </a:solidFill>
                          <a:latin typeface="Aptos"/>
                        </a:defRPr>
                      </a:pPr>
                      <a:r>
                        <a:rPr lang="en-IN" sz="1800" b="0" kern="1200" dirty="0" smtClean="0">
                          <a:solidFill>
                            <a:schemeClr val="dk1"/>
                          </a:solidFill>
                          <a:latin typeface="Aptos"/>
                          <a:ea typeface="+mn-ea"/>
                          <a:cs typeface="+mn-cs"/>
                        </a:rPr>
                        <a:t>User Activity Reconstruction</a:t>
                      </a:r>
                      <a:endParaRPr sz="1800" dirty="0">
                        <a:latin typeface="Aptos"/>
                      </a:endParaRPr>
                    </a:p>
                  </a:txBody>
                  <a:tcPr marR="73152" marT="54864" anchor="ctr">
                    <a:solidFill>
                      <a:srgbClr val="EBF2FA"/>
                    </a:solidFill>
                  </a:tcPr>
                </a:tc>
                <a:tc>
                  <a:txBody>
                    <a:bodyPr/>
                    <a:lstStyle/>
                    <a:p>
                      <a:pPr algn="l">
                        <a:defRPr sz="1100" b="0">
                          <a:solidFill>
                            <a:srgbClr val="2D343E"/>
                          </a:solidFill>
                          <a:latin typeface="Aptos"/>
                        </a:defRPr>
                      </a:pPr>
                      <a:r>
                        <a:rPr lang="en-IN" sz="1800" b="0" kern="1200" dirty="0" smtClean="0">
                          <a:solidFill>
                            <a:schemeClr val="dk1"/>
                          </a:solidFill>
                          <a:latin typeface="Aptos"/>
                          <a:ea typeface="+mn-ea"/>
                          <a:cs typeface="+mn-cs"/>
                        </a:rPr>
                        <a:t>Signature-based analysis</a:t>
                      </a:r>
                      <a:endParaRPr sz="1800" dirty="0">
                        <a:latin typeface="Aptos"/>
                      </a:endParaRPr>
                    </a:p>
                  </a:txBody>
                  <a:tcPr marR="73152" marT="54864" anchor="ctr">
                    <a:solidFill>
                      <a:srgbClr val="EBF2FA"/>
                    </a:solidFill>
                  </a:tcPr>
                </a:tc>
                <a:tc>
                  <a:txBody>
                    <a:bodyPr/>
                    <a:lstStyle/>
                    <a:p>
                      <a:pPr algn="l">
                        <a:defRPr sz="1100" b="0">
                          <a:solidFill>
                            <a:srgbClr val="2D343E"/>
                          </a:solidFill>
                          <a:latin typeface="Aptos"/>
                        </a:defRPr>
                      </a:pPr>
                      <a:r>
                        <a:rPr lang="en-IN" sz="1800" b="0" kern="1200" dirty="0" smtClean="0">
                          <a:solidFill>
                            <a:schemeClr val="dk1"/>
                          </a:solidFill>
                          <a:latin typeface="Aptos"/>
                          <a:ea typeface="+mn-ea"/>
                          <a:cs typeface="+mn-cs"/>
                        </a:rPr>
                        <a:t>Depends on identifiable signatures</a:t>
                      </a:r>
                      <a:endParaRPr sz="1800" dirty="0">
                        <a:latin typeface="Aptos"/>
                      </a:endParaRPr>
                    </a:p>
                  </a:txBody>
                  <a:tcPr marR="73152" marT="54864" anchor="ctr">
                    <a:solidFill>
                      <a:srgbClr val="EBF2FA"/>
                    </a:solidFill>
                  </a:tcPr>
                </a:tc>
                <a:extLst>
                  <a:ext uri="{0D108BD9-81ED-4DB2-BD59-A6C34878D82A}">
                    <a16:rowId xmlns="" xmlns:a16="http://schemas.microsoft.com/office/drawing/2014/main" val="2742916463"/>
                  </a:ext>
                </a:extLst>
              </a:tr>
            </a:tbl>
          </a:graphicData>
        </a:graphic>
      </p:graphicFrame>
    </p:spTree>
    <p:extLst>
      <p:ext uri="{BB962C8B-B14F-4D97-AF65-F5344CB8AC3E}">
        <p14:creationId xmlns:p14="http://schemas.microsoft.com/office/powerpoint/2010/main" val="4242195307"/>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a:xfrm>
            <a:off x="766233" y="304801"/>
            <a:ext cx="10668000" cy="1216025"/>
          </a:xfrm>
        </p:spPr>
        <p:txBody>
          <a:bodyPr/>
          <a:lstStyle/>
          <a:p>
            <a:pPr algn="ctr"/>
            <a:r>
              <a:rPr lang="en-US" sz="3200" b="1" dirty="0">
                <a:solidFill>
                  <a:srgbClr val="FF0000"/>
                </a:solidFill>
              </a:rPr>
              <a:t>Research Gap/Existing System</a:t>
            </a:r>
            <a:endParaRPr lang="en-IN" sz="3200" b="1" dirty="0">
              <a:solidFill>
                <a:srgbClr val="FF0000"/>
              </a:solidFill>
            </a:endParaRP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7</a:t>
            </a:fld>
            <a:endParaRPr lang="en-IN"/>
          </a:p>
        </p:txBody>
      </p:sp>
      <p:sp>
        <p:nvSpPr>
          <p:cNvPr id="13" name="Rounded Rectangle 3">
            <a:extLst>
              <a:ext uri="{FF2B5EF4-FFF2-40B4-BE49-F238E27FC236}">
                <a16:creationId xmlns="" xmlns:a16="http://schemas.microsoft.com/office/drawing/2014/main" id="{F4FE7899-24E6-401C-9D46-CFAA1E243809}"/>
              </a:ext>
            </a:extLst>
          </p:cNvPr>
          <p:cNvSpPr>
            <a:spLocks noGrp="1"/>
          </p:cNvSpPr>
          <p:nvPr>
            <p:ph idx="1"/>
          </p:nvPr>
        </p:nvSpPr>
        <p:spPr>
          <a:xfrm>
            <a:off x="755650" y="1810966"/>
            <a:ext cx="5187950" cy="1474018"/>
          </a:xfrm>
          <a:prstGeom prst="roundRect">
            <a:avLst/>
          </a:prstGeom>
          <a:solidFill>
            <a:srgbClr val="EBF2FA"/>
          </a:solidFill>
          <a:ln>
            <a:solidFill>
              <a:srgbClr val="CDDAEB"/>
            </a:solidFill>
          </a:ln>
        </p:spPr>
        <p:style>
          <a:lnRef idx="1">
            <a:schemeClr val="accent1"/>
          </a:lnRef>
          <a:fillRef idx="3">
            <a:schemeClr val="accent1"/>
          </a:fillRef>
          <a:effectRef idx="2">
            <a:schemeClr val="accent1"/>
          </a:effectRef>
          <a:fontRef idx="minor">
            <a:schemeClr val="lt1"/>
          </a:fontRef>
        </p:style>
        <p:txBody>
          <a:bodyPr lIns="201168" tIns="146304" rIns="164592" rtlCol="0" anchor="ctr"/>
          <a:lstStyle/>
          <a:p>
            <a:pPr marL="0" indent="0" algn="ctr">
              <a:spcAft>
                <a:spcPts val="800"/>
              </a:spcAft>
              <a:buNone/>
              <a:defRPr sz="1700" b="1">
                <a:solidFill>
                  <a:srgbClr val="193054"/>
                </a:solidFill>
                <a:latin typeface="Aptos Display"/>
              </a:defRPr>
            </a:pPr>
            <a:r>
              <a:rPr lang="en-US" sz="1700" dirty="0"/>
              <a:t>1. Literature findings</a:t>
            </a:r>
            <a:r>
              <a:rPr lang="en-US" sz="1500" dirty="0"/>
              <a:t>
</a:t>
            </a:r>
            <a:r>
              <a:rPr lang="en-US" sz="1700" b="1" dirty="0"/>
              <a:t>Existing studies focus on individual forensic techniques, rule-based analysis, and timeline reconstruction.</a:t>
            </a:r>
            <a:endParaRPr lang="en-US" sz="1500" dirty="0"/>
          </a:p>
        </p:txBody>
      </p:sp>
      <p:sp>
        <p:nvSpPr>
          <p:cNvPr id="14" name="Rounded Rectangle 4">
            <a:extLst>
              <a:ext uri="{FF2B5EF4-FFF2-40B4-BE49-F238E27FC236}">
                <a16:creationId xmlns="" xmlns:a16="http://schemas.microsoft.com/office/drawing/2014/main" id="{FF66DAF5-0B91-4093-BD89-5CE7615E431A}"/>
              </a:ext>
            </a:extLst>
          </p:cNvPr>
          <p:cNvSpPr/>
          <p:nvPr/>
        </p:nvSpPr>
        <p:spPr>
          <a:xfrm>
            <a:off x="6096000" y="1752600"/>
            <a:ext cx="5452872" cy="1532384"/>
          </a:xfrm>
          <a:prstGeom prst="roundRect">
            <a:avLst/>
          </a:prstGeom>
          <a:solidFill>
            <a:srgbClr val="F7F9FC"/>
          </a:solidFill>
          <a:ln>
            <a:solidFill>
              <a:srgbClr val="CDDAEB"/>
            </a:solidFill>
          </a:ln>
        </p:spPr>
        <p:style>
          <a:lnRef idx="1">
            <a:schemeClr val="accent1"/>
          </a:lnRef>
          <a:fillRef idx="3">
            <a:schemeClr val="accent1"/>
          </a:fillRef>
          <a:effectRef idx="2">
            <a:schemeClr val="accent1"/>
          </a:effectRef>
          <a:fontRef idx="minor">
            <a:schemeClr val="lt1"/>
          </a:fontRef>
        </p:style>
        <p:txBody>
          <a:bodyPr lIns="201168" tIns="146304" rIns="164592" rtlCol="0" anchor="ctr"/>
          <a:lstStyle/>
          <a:p>
            <a:pPr algn="ctr">
              <a:spcAft>
                <a:spcPts val="800"/>
              </a:spcAft>
              <a:defRPr sz="1700" b="1">
                <a:solidFill>
                  <a:srgbClr val="193054"/>
                </a:solidFill>
                <a:latin typeface="Aptos Display"/>
              </a:defRPr>
            </a:pPr>
            <a:r>
              <a:rPr lang="en-US" dirty="0"/>
              <a:t>2. Limitations
</a:t>
            </a:r>
            <a:r>
              <a:rPr lang="en-US" sz="1700" b="1" dirty="0"/>
              <a:t>Limited integration of evidence sources and lack of continuous, automated analysis.</a:t>
            </a:r>
            <a:endParaRPr lang="en-US" dirty="0"/>
          </a:p>
        </p:txBody>
      </p:sp>
      <p:sp>
        <p:nvSpPr>
          <p:cNvPr id="15" name="Rounded Rectangle 5">
            <a:extLst>
              <a:ext uri="{FF2B5EF4-FFF2-40B4-BE49-F238E27FC236}">
                <a16:creationId xmlns="" xmlns:a16="http://schemas.microsoft.com/office/drawing/2014/main" id="{85599EEB-0FFB-4C94-AB5E-41D5A47FE9B6}"/>
              </a:ext>
            </a:extLst>
          </p:cNvPr>
          <p:cNvSpPr/>
          <p:nvPr/>
        </p:nvSpPr>
        <p:spPr>
          <a:xfrm>
            <a:off x="766233" y="3645024"/>
            <a:ext cx="5177367" cy="1584176"/>
          </a:xfrm>
          <a:prstGeom prst="roundRect">
            <a:avLst/>
          </a:prstGeom>
          <a:solidFill>
            <a:srgbClr val="EBF2FA"/>
          </a:solidFill>
          <a:ln>
            <a:solidFill>
              <a:srgbClr val="CDDAEB"/>
            </a:solidFill>
          </a:ln>
        </p:spPr>
        <p:style>
          <a:lnRef idx="1">
            <a:schemeClr val="accent1"/>
          </a:lnRef>
          <a:fillRef idx="3">
            <a:schemeClr val="accent1"/>
          </a:fillRef>
          <a:effectRef idx="2">
            <a:schemeClr val="accent1"/>
          </a:effectRef>
          <a:fontRef idx="minor">
            <a:schemeClr val="lt1"/>
          </a:fontRef>
        </p:style>
        <p:txBody>
          <a:bodyPr lIns="201168" tIns="146304" rIns="164592" rtlCol="0" anchor="ctr"/>
          <a:lstStyle/>
          <a:p>
            <a:pPr algn="ctr">
              <a:spcAft>
                <a:spcPts val="800"/>
              </a:spcAft>
              <a:defRPr sz="1700" b="1">
                <a:solidFill>
                  <a:srgbClr val="193054"/>
                </a:solidFill>
                <a:latin typeface="Aptos Display"/>
              </a:defRPr>
            </a:pPr>
            <a:r>
              <a:rPr lang="en-US" dirty="0"/>
              <a:t>3. Refined research gap
</a:t>
            </a:r>
            <a:r>
              <a:rPr lang="en-US" sz="1700" b="1" dirty="0"/>
              <a:t>Need to combine evidence analysis, explainable reasoning, risk scoring, and real-time monitoring in one system.</a:t>
            </a:r>
            <a:endParaRPr lang="en-US" dirty="0"/>
          </a:p>
        </p:txBody>
      </p:sp>
      <p:sp>
        <p:nvSpPr>
          <p:cNvPr id="16" name="Rounded Rectangle 6">
            <a:extLst>
              <a:ext uri="{FF2B5EF4-FFF2-40B4-BE49-F238E27FC236}">
                <a16:creationId xmlns="" xmlns:a16="http://schemas.microsoft.com/office/drawing/2014/main" id="{C31116F3-B074-468F-82D6-F9C068878439}"/>
              </a:ext>
            </a:extLst>
          </p:cNvPr>
          <p:cNvSpPr/>
          <p:nvPr/>
        </p:nvSpPr>
        <p:spPr>
          <a:xfrm>
            <a:off x="6199632" y="3794760"/>
            <a:ext cx="5349240" cy="1434440"/>
          </a:xfrm>
          <a:prstGeom prst="roundRect">
            <a:avLst/>
          </a:prstGeom>
          <a:solidFill>
            <a:srgbClr val="F7F9FC"/>
          </a:solidFill>
          <a:ln>
            <a:solidFill>
              <a:srgbClr val="CDDAEB"/>
            </a:solidFill>
          </a:ln>
        </p:spPr>
        <p:style>
          <a:lnRef idx="1">
            <a:schemeClr val="accent1"/>
          </a:lnRef>
          <a:fillRef idx="3">
            <a:schemeClr val="accent1"/>
          </a:fillRef>
          <a:effectRef idx="2">
            <a:schemeClr val="accent1"/>
          </a:effectRef>
          <a:fontRef idx="minor">
            <a:schemeClr val="lt1"/>
          </a:fontRef>
        </p:style>
        <p:txBody>
          <a:bodyPr lIns="201168" tIns="146304" rIns="164592" rtlCol="0" anchor="ctr"/>
          <a:lstStyle/>
          <a:p>
            <a:pPr algn="ctr">
              <a:spcAft>
                <a:spcPts val="800"/>
              </a:spcAft>
              <a:defRPr sz="1700" b="1">
                <a:solidFill>
                  <a:srgbClr val="193054"/>
                </a:solidFill>
                <a:latin typeface="Aptos Display"/>
              </a:defRPr>
            </a:pPr>
            <a:r>
              <a:rPr lang="en-US" dirty="0"/>
              <a:t>4. Progress toward the solution
</a:t>
            </a:r>
            <a:r>
              <a:rPr lang="en-US" sz="1700" b="1" dirty="0"/>
              <a:t>FORENSEQUENCE integrates multi-source analysis, Forward Chaining, risk assessment, timelines, and live monitoring.</a:t>
            </a:r>
            <a:endParaRPr lang="en-US" dirty="0"/>
          </a:p>
        </p:txBody>
      </p:sp>
    </p:spTree>
    <p:extLst>
      <p:ext uri="{BB962C8B-B14F-4D97-AF65-F5344CB8AC3E}">
        <p14:creationId xmlns:p14="http://schemas.microsoft.com/office/powerpoint/2010/main" val="463150849"/>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US" sz="3200" b="1" dirty="0">
                <a:solidFill>
                  <a:srgbClr val="FF0000"/>
                </a:solidFill>
              </a:rPr>
              <a:t>Proposed System </a:t>
            </a:r>
            <a:endParaRPr lang="en-IN" sz="3200" b="1" dirty="0">
              <a:solidFill>
                <a:srgbClr val="FF0000"/>
              </a:solidFill>
            </a:endParaRP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8</a:t>
            </a:fld>
            <a:endParaRPr lang="en-IN"/>
          </a:p>
        </p:txBody>
      </p:sp>
      <p:sp>
        <p:nvSpPr>
          <p:cNvPr id="5" name="Rounded Rectangle 4"/>
          <p:cNvSpPr/>
          <p:nvPr/>
        </p:nvSpPr>
        <p:spPr bwMode="auto">
          <a:xfrm>
            <a:off x="983432" y="1916832"/>
            <a:ext cx="4752528" cy="504056"/>
          </a:xfrm>
          <a:prstGeom prst="roundRect">
            <a:avLst/>
          </a:prstGeom>
          <a:solidFill>
            <a:schemeClr val="accent1">
              <a:lumMod val="40000"/>
              <a:lumOff val="60000"/>
            </a:schemeClr>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r>
              <a:rPr kumimoji="0" lang="en-IN" sz="1800" b="0" i="0" u="none" strike="noStrike" cap="none" normalizeH="0" baseline="0" dirty="0" smtClean="0">
                <a:ln>
                  <a:noFill/>
                </a:ln>
                <a:solidFill>
                  <a:schemeClr val="tx1"/>
                </a:solidFill>
                <a:effectLst/>
                <a:latin typeface="Verdana" pitchFamily="34" charset="0"/>
              </a:rPr>
              <a:t>Evidence sources</a:t>
            </a:r>
            <a:endParaRPr kumimoji="0" lang="en-IN" sz="1800" b="0" i="0" u="none" strike="noStrike" cap="none" normalizeH="0" baseline="0" dirty="0" smtClean="0">
              <a:ln>
                <a:noFill/>
              </a:ln>
              <a:solidFill>
                <a:schemeClr val="tx1"/>
              </a:solidFill>
              <a:effectLst/>
              <a:latin typeface="Verdana" pitchFamily="34" charset="0"/>
            </a:endParaRPr>
          </a:p>
        </p:txBody>
      </p:sp>
      <p:sp>
        <p:nvSpPr>
          <p:cNvPr id="7" name="Rounded Rectangle 6"/>
          <p:cNvSpPr/>
          <p:nvPr/>
        </p:nvSpPr>
        <p:spPr bwMode="auto">
          <a:xfrm>
            <a:off x="983432" y="2708920"/>
            <a:ext cx="4752528" cy="504056"/>
          </a:xfrm>
          <a:prstGeom prst="roundRect">
            <a:avLst/>
          </a:prstGeom>
          <a:solidFill>
            <a:schemeClr val="accent1">
              <a:lumMod val="40000"/>
              <a:lumOff val="60000"/>
            </a:schemeClr>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r>
              <a:rPr kumimoji="0" lang="en-IN" sz="1800" b="0" i="0" u="none" strike="noStrike" cap="none" normalizeH="0" baseline="0" dirty="0" smtClean="0">
                <a:ln>
                  <a:noFill/>
                </a:ln>
                <a:solidFill>
                  <a:schemeClr val="tx1"/>
                </a:solidFill>
                <a:effectLst/>
                <a:latin typeface="Verdana" pitchFamily="34" charset="0"/>
              </a:rPr>
              <a:t>Evidence analysis</a:t>
            </a:r>
            <a:r>
              <a:rPr kumimoji="0" lang="en-IN" sz="1800" b="0" i="0" u="none" strike="noStrike" cap="none" normalizeH="0" dirty="0" smtClean="0">
                <a:ln>
                  <a:noFill/>
                </a:ln>
                <a:solidFill>
                  <a:schemeClr val="tx1"/>
                </a:solidFill>
                <a:effectLst/>
                <a:latin typeface="Verdana" pitchFamily="34" charset="0"/>
              </a:rPr>
              <a:t> &amp; fast extraction</a:t>
            </a:r>
            <a:endParaRPr kumimoji="0" lang="en-IN" sz="1800" b="0" i="0" u="none" strike="noStrike" cap="none" normalizeH="0" baseline="0" dirty="0" smtClean="0">
              <a:ln>
                <a:noFill/>
              </a:ln>
              <a:solidFill>
                <a:schemeClr val="tx1"/>
              </a:solidFill>
              <a:effectLst/>
              <a:latin typeface="Verdana" pitchFamily="34" charset="0"/>
            </a:endParaRPr>
          </a:p>
        </p:txBody>
      </p:sp>
      <p:sp>
        <p:nvSpPr>
          <p:cNvPr id="8" name="Rounded Rectangle 7"/>
          <p:cNvSpPr/>
          <p:nvPr/>
        </p:nvSpPr>
        <p:spPr bwMode="auto">
          <a:xfrm>
            <a:off x="983432" y="3501008"/>
            <a:ext cx="4752528" cy="504056"/>
          </a:xfrm>
          <a:prstGeom prst="roundRect">
            <a:avLst/>
          </a:prstGeom>
          <a:solidFill>
            <a:schemeClr val="accent1">
              <a:lumMod val="40000"/>
              <a:lumOff val="60000"/>
            </a:schemeClr>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r>
              <a:rPr kumimoji="0" lang="en-IN" sz="1800" b="0" i="0" u="none" strike="noStrike" cap="none" normalizeH="0" baseline="0" dirty="0" smtClean="0">
                <a:ln>
                  <a:noFill/>
                </a:ln>
                <a:solidFill>
                  <a:schemeClr val="tx1"/>
                </a:solidFill>
                <a:effectLst/>
                <a:latin typeface="Verdana" pitchFamily="34" charset="0"/>
              </a:rPr>
              <a:t>Knowledge</a:t>
            </a:r>
            <a:r>
              <a:rPr kumimoji="0" lang="en-IN" sz="1800" b="0" i="0" u="none" strike="noStrike" cap="none" normalizeH="0" dirty="0" smtClean="0">
                <a:ln>
                  <a:noFill/>
                </a:ln>
                <a:solidFill>
                  <a:schemeClr val="tx1"/>
                </a:solidFill>
                <a:effectLst/>
                <a:latin typeface="Verdana" pitchFamily="34" charset="0"/>
              </a:rPr>
              <a:t> base + Forward chaining</a:t>
            </a:r>
            <a:endParaRPr kumimoji="0" lang="en-IN" sz="1800" b="0" i="0" u="none" strike="noStrike" cap="none" normalizeH="0" baseline="0" dirty="0" smtClean="0">
              <a:ln>
                <a:noFill/>
              </a:ln>
              <a:solidFill>
                <a:schemeClr val="tx1"/>
              </a:solidFill>
              <a:effectLst/>
              <a:latin typeface="Verdana" pitchFamily="34" charset="0"/>
            </a:endParaRPr>
          </a:p>
        </p:txBody>
      </p:sp>
      <p:sp>
        <p:nvSpPr>
          <p:cNvPr id="9" name="Rounded Rectangle 8"/>
          <p:cNvSpPr/>
          <p:nvPr/>
        </p:nvSpPr>
        <p:spPr bwMode="auto">
          <a:xfrm>
            <a:off x="983432" y="4317528"/>
            <a:ext cx="4752528" cy="504056"/>
          </a:xfrm>
          <a:prstGeom prst="roundRect">
            <a:avLst/>
          </a:prstGeom>
          <a:solidFill>
            <a:schemeClr val="accent1">
              <a:lumMod val="40000"/>
              <a:lumOff val="60000"/>
            </a:schemeClr>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r>
              <a:rPr kumimoji="0" lang="en-IN" sz="1800" b="0" i="0" u="none" strike="noStrike" cap="none" normalizeH="0" baseline="0" dirty="0" smtClean="0">
                <a:ln>
                  <a:noFill/>
                </a:ln>
                <a:solidFill>
                  <a:schemeClr val="tx1"/>
                </a:solidFill>
                <a:effectLst/>
                <a:latin typeface="Verdana" pitchFamily="34" charset="0"/>
              </a:rPr>
              <a:t>Risk</a:t>
            </a:r>
            <a:r>
              <a:rPr kumimoji="0" lang="en-IN" sz="1800" b="0" i="0" u="none" strike="noStrike" cap="none" normalizeH="0" dirty="0" smtClean="0">
                <a:ln>
                  <a:noFill/>
                </a:ln>
                <a:solidFill>
                  <a:schemeClr val="tx1"/>
                </a:solidFill>
                <a:effectLst/>
                <a:latin typeface="Verdana" pitchFamily="34" charset="0"/>
              </a:rPr>
              <a:t> Assessment &amp; Event Timeline</a:t>
            </a:r>
            <a:endParaRPr kumimoji="0" lang="en-IN" sz="1800" b="0" i="0" u="none" strike="noStrike" cap="none" normalizeH="0" baseline="0" dirty="0" smtClean="0">
              <a:ln>
                <a:noFill/>
              </a:ln>
              <a:solidFill>
                <a:schemeClr val="tx1"/>
              </a:solidFill>
              <a:effectLst/>
              <a:latin typeface="Verdana" pitchFamily="34" charset="0"/>
            </a:endParaRPr>
          </a:p>
        </p:txBody>
      </p:sp>
      <p:sp>
        <p:nvSpPr>
          <p:cNvPr id="10" name="Rounded Rectangle 9"/>
          <p:cNvSpPr/>
          <p:nvPr/>
        </p:nvSpPr>
        <p:spPr bwMode="auto">
          <a:xfrm>
            <a:off x="983432" y="5194801"/>
            <a:ext cx="4752528" cy="504056"/>
          </a:xfrm>
          <a:prstGeom prst="roundRect">
            <a:avLst/>
          </a:prstGeom>
          <a:solidFill>
            <a:schemeClr val="accent1">
              <a:lumMod val="40000"/>
              <a:lumOff val="60000"/>
            </a:schemeClr>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IN" dirty="0"/>
              <a:t>Forensic Report · PDF · Alerts</a:t>
            </a:r>
            <a:endParaRPr kumimoji="0" lang="en-IN" sz="1800" b="0" i="0" u="none" strike="noStrike" cap="none" normalizeH="0" baseline="0" dirty="0" smtClean="0">
              <a:ln>
                <a:noFill/>
              </a:ln>
              <a:solidFill>
                <a:schemeClr val="tx1"/>
              </a:solidFill>
              <a:effectLst/>
              <a:latin typeface="Verdana" pitchFamily="34" charset="0"/>
            </a:endParaRPr>
          </a:p>
        </p:txBody>
      </p:sp>
      <p:cxnSp>
        <p:nvCxnSpPr>
          <p:cNvPr id="11" name="Straight Arrow Connector 10"/>
          <p:cNvCxnSpPr>
            <a:stCxn id="5" idx="2"/>
            <a:endCxn id="7" idx="0"/>
          </p:cNvCxnSpPr>
          <p:nvPr/>
        </p:nvCxnSpPr>
        <p:spPr bwMode="auto">
          <a:xfrm>
            <a:off x="3359696" y="2420888"/>
            <a:ext cx="0" cy="28803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2" name="Straight Arrow Connector 11"/>
          <p:cNvCxnSpPr>
            <a:stCxn id="7" idx="2"/>
            <a:endCxn id="8" idx="0"/>
          </p:cNvCxnSpPr>
          <p:nvPr/>
        </p:nvCxnSpPr>
        <p:spPr bwMode="auto">
          <a:xfrm>
            <a:off x="3359696" y="3212976"/>
            <a:ext cx="0" cy="28803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3" name="Straight Arrow Connector 12"/>
          <p:cNvCxnSpPr>
            <a:stCxn id="8" idx="2"/>
            <a:endCxn id="9" idx="0"/>
          </p:cNvCxnSpPr>
          <p:nvPr/>
        </p:nvCxnSpPr>
        <p:spPr bwMode="auto">
          <a:xfrm>
            <a:off x="3359696" y="4005064"/>
            <a:ext cx="0" cy="31246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p:cNvCxnSpPr>
            <a:stCxn id="9" idx="2"/>
            <a:endCxn id="10" idx="0"/>
          </p:cNvCxnSpPr>
          <p:nvPr/>
        </p:nvCxnSpPr>
        <p:spPr bwMode="auto">
          <a:xfrm>
            <a:off x="3359696" y="4821584"/>
            <a:ext cx="0" cy="37321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 name="Rectangle 3"/>
          <p:cNvSpPr/>
          <p:nvPr/>
        </p:nvSpPr>
        <p:spPr>
          <a:xfrm>
            <a:off x="5879976" y="1935921"/>
            <a:ext cx="6096000" cy="3831818"/>
          </a:xfrm>
          <a:prstGeom prst="rect">
            <a:avLst/>
          </a:prstGeom>
        </p:spPr>
        <p:txBody>
          <a:bodyPr>
            <a:spAutoFit/>
          </a:bodyPr>
          <a:lstStyle/>
          <a:p>
            <a:pPr>
              <a:lnSpc>
                <a:spcPct val="150000"/>
              </a:lnSpc>
            </a:pPr>
            <a:r>
              <a:rPr lang="en-US" b="1" dirty="0">
                <a:latin typeface="Aptos"/>
              </a:rPr>
              <a:t>Evidence Analyzer</a:t>
            </a:r>
            <a:r>
              <a:rPr lang="en-US" dirty="0">
                <a:latin typeface="Aptos"/>
              </a:rPr>
              <a:t>: Extracts forensic facts from multiple sources.</a:t>
            </a:r>
          </a:p>
          <a:p>
            <a:pPr>
              <a:lnSpc>
                <a:spcPct val="150000"/>
              </a:lnSpc>
            </a:pPr>
            <a:r>
              <a:rPr lang="en-US" b="1" dirty="0">
                <a:latin typeface="Aptos"/>
              </a:rPr>
              <a:t>Knowledge Base</a:t>
            </a:r>
            <a:r>
              <a:rPr lang="en-US" dirty="0">
                <a:latin typeface="Aptos"/>
              </a:rPr>
              <a:t>: Stores IF–THEN rules.</a:t>
            </a:r>
          </a:p>
          <a:p>
            <a:pPr>
              <a:lnSpc>
                <a:spcPct val="150000"/>
              </a:lnSpc>
            </a:pPr>
            <a:r>
              <a:rPr lang="en-US" b="1" dirty="0">
                <a:latin typeface="Aptos"/>
              </a:rPr>
              <a:t>Forward Chaining</a:t>
            </a:r>
            <a:r>
              <a:rPr lang="en-US" dirty="0">
                <a:latin typeface="Aptos"/>
              </a:rPr>
              <a:t>: Derives explainable findings from facts.</a:t>
            </a:r>
          </a:p>
          <a:p>
            <a:pPr>
              <a:lnSpc>
                <a:spcPct val="150000"/>
              </a:lnSpc>
            </a:pPr>
            <a:r>
              <a:rPr lang="en-US" b="1" dirty="0">
                <a:latin typeface="Aptos"/>
              </a:rPr>
              <a:t>Risk &amp; Timeline</a:t>
            </a:r>
            <a:r>
              <a:rPr lang="en-US" dirty="0">
                <a:latin typeface="Aptos"/>
              </a:rPr>
              <a:t>: Assesses risk and organizes events chronologically.</a:t>
            </a:r>
          </a:p>
          <a:p>
            <a:pPr>
              <a:lnSpc>
                <a:spcPct val="150000"/>
              </a:lnSpc>
            </a:pPr>
            <a:r>
              <a:rPr lang="en-US" b="1" dirty="0">
                <a:latin typeface="Aptos"/>
              </a:rPr>
              <a:t>Live Monitoring</a:t>
            </a:r>
            <a:r>
              <a:rPr lang="en-US" dirty="0">
                <a:latin typeface="Aptos"/>
              </a:rPr>
              <a:t>: Detects evidence changes and triggers re-analysis.</a:t>
            </a:r>
            <a:endParaRPr lang="en-US" dirty="0">
              <a:latin typeface="Aptos"/>
            </a:endParaRPr>
          </a:p>
        </p:txBody>
      </p:sp>
    </p:spTree>
    <p:extLst>
      <p:ext uri="{BB962C8B-B14F-4D97-AF65-F5344CB8AC3E}">
        <p14:creationId xmlns:p14="http://schemas.microsoft.com/office/powerpoint/2010/main" val="1839677867"/>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US" sz="3200" b="1" dirty="0">
                <a:solidFill>
                  <a:srgbClr val="FF0000"/>
                </a:solidFill>
              </a:rPr>
              <a:t>DFD </a:t>
            </a:r>
            <a:r>
              <a:rPr lang="en-US" sz="3200" b="1" dirty="0" smtClean="0">
                <a:solidFill>
                  <a:srgbClr val="FF0000"/>
                </a:solidFill>
              </a:rPr>
              <a:t>Diagram – level 0</a:t>
            </a:r>
            <a:endParaRPr lang="en-IN" sz="3200" b="1" dirty="0">
              <a:solidFill>
                <a:srgbClr val="FF0000"/>
              </a:solidFill>
            </a:endParaRP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9</a:t>
            </a:fld>
            <a:endParaRPr lang="en-IN"/>
          </a:p>
        </p:txBody>
      </p:sp>
      <p:pic>
        <p:nvPicPr>
          <p:cNvPr id="5" name="Content Placeholder 9"/>
          <p:cNvPicPr>
            <a:picLocks noChangeAspect="1"/>
          </p:cNvPicPr>
          <p:nvPr/>
        </p:nvPicPr>
        <p:blipFill>
          <a:blip r:embed="rId2"/>
          <a:stretch>
            <a:fillRect/>
          </a:stretch>
        </p:blipFill>
        <p:spPr bwMode="auto">
          <a:xfrm>
            <a:off x="2067785" y="1758542"/>
            <a:ext cx="8064896" cy="4334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6777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US" sz="3200" b="1" dirty="0">
                <a:solidFill>
                  <a:srgbClr val="FF0000"/>
                </a:solidFill>
              </a:rPr>
              <a:t>DFD </a:t>
            </a:r>
            <a:r>
              <a:rPr lang="en-US" sz="3200" b="1" dirty="0" smtClean="0">
                <a:solidFill>
                  <a:srgbClr val="FF0000"/>
                </a:solidFill>
              </a:rPr>
              <a:t>Diagram – level 1</a:t>
            </a:r>
            <a:endParaRPr lang="en-IN" sz="3200" b="1" dirty="0">
              <a:solidFill>
                <a:srgbClr val="FF0000"/>
              </a:solidFill>
            </a:endParaRP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10</a:t>
            </a:fld>
            <a:endParaRPr lang="en-IN"/>
          </a:p>
        </p:txBody>
      </p:sp>
      <p:pic>
        <p:nvPicPr>
          <p:cNvPr id="7" name="Content Placeholder 3"/>
          <p:cNvPicPr>
            <a:picLocks noGrp="1" noChangeAspect="1"/>
          </p:cNvPicPr>
          <p:nvPr>
            <p:ph idx="1"/>
          </p:nvPr>
        </p:nvPicPr>
        <p:blipFill>
          <a:blip r:embed="rId2"/>
          <a:stretch>
            <a:fillRect/>
          </a:stretch>
        </p:blipFill>
        <p:spPr>
          <a:xfrm>
            <a:off x="1919537" y="1700809"/>
            <a:ext cx="8352927" cy="4392488"/>
          </a:xfrm>
          <a:prstGeom prst="rect">
            <a:avLst/>
          </a:prstGeom>
        </p:spPr>
      </p:pic>
    </p:spTree>
    <p:extLst>
      <p:ext uri="{BB962C8B-B14F-4D97-AF65-F5344CB8AC3E}">
        <p14:creationId xmlns:p14="http://schemas.microsoft.com/office/powerpoint/2010/main" val="2670456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IN" altLang="en-US" sz="3200" b="1" dirty="0">
                <a:solidFill>
                  <a:srgbClr val="FF0000"/>
                </a:solidFill>
              </a:rPr>
              <a:t>Methodology/Work Flow Diagram</a:t>
            </a:r>
            <a:endParaRPr lang="en-IN" sz="2800" dirty="0"/>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11</a:t>
            </a:fld>
            <a:endParaRPr lang="en-IN"/>
          </a:p>
        </p:txBody>
      </p:sp>
      <p:sp>
        <p:nvSpPr>
          <p:cNvPr id="5" name="Rounded Rectangle 4"/>
          <p:cNvSpPr/>
          <p:nvPr/>
        </p:nvSpPr>
        <p:spPr bwMode="auto">
          <a:xfrm>
            <a:off x="1985195" y="1916832"/>
            <a:ext cx="8208912" cy="432048"/>
          </a:xfrm>
          <a:prstGeom prst="round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kumimoji="0" lang="en-IN" sz="1800" b="1" i="0" u="none" strike="noStrike" cap="none" normalizeH="0" baseline="0" dirty="0" smtClean="0">
                <a:ln>
                  <a:noFill/>
                </a:ln>
                <a:solidFill>
                  <a:schemeClr val="tx1"/>
                </a:solidFill>
                <a:effectLst/>
                <a:latin typeface="Verdana" pitchFamily="34" charset="0"/>
              </a:rPr>
              <a:t>Evidence collection </a:t>
            </a:r>
            <a:r>
              <a:rPr kumimoji="0" lang="en-IN" sz="1800" b="0" i="0" u="none" strike="noStrike" cap="none" normalizeH="0" baseline="0" dirty="0" smtClean="0">
                <a:ln>
                  <a:noFill/>
                </a:ln>
                <a:solidFill>
                  <a:schemeClr val="tx1"/>
                </a:solidFill>
                <a:effectLst/>
                <a:latin typeface="Verdana" pitchFamily="34" charset="0"/>
              </a:rPr>
              <a:t>-</a:t>
            </a:r>
            <a:r>
              <a:rPr kumimoji="0" lang="en-IN" sz="1800" b="0" i="0" u="none" strike="noStrike" cap="none" normalizeH="0" dirty="0" smtClean="0">
                <a:ln>
                  <a:noFill/>
                </a:ln>
                <a:solidFill>
                  <a:schemeClr val="tx1"/>
                </a:solidFill>
                <a:effectLst/>
                <a:latin typeface="Verdana" pitchFamily="34" charset="0"/>
              </a:rPr>
              <a:t> </a:t>
            </a:r>
            <a:r>
              <a:rPr lang="en-IN" dirty="0"/>
              <a:t>Logs · Files · Browser · Email</a:t>
            </a:r>
            <a:endParaRPr kumimoji="0" lang="en-IN" sz="1800" b="0" i="0" u="none" strike="noStrike" cap="none" normalizeH="0" baseline="0" dirty="0" smtClean="0">
              <a:ln>
                <a:noFill/>
              </a:ln>
              <a:solidFill>
                <a:schemeClr val="tx1"/>
              </a:solidFill>
              <a:effectLst/>
              <a:latin typeface="Verdana" pitchFamily="34" charset="0"/>
            </a:endParaRPr>
          </a:p>
        </p:txBody>
      </p:sp>
      <p:sp>
        <p:nvSpPr>
          <p:cNvPr id="7" name="Rounded Rectangle 6"/>
          <p:cNvSpPr/>
          <p:nvPr/>
        </p:nvSpPr>
        <p:spPr bwMode="auto">
          <a:xfrm>
            <a:off x="1982419" y="2574305"/>
            <a:ext cx="8208912" cy="432048"/>
          </a:xfrm>
          <a:prstGeom prst="roundRect">
            <a:avLst/>
          </a:prstGeom>
          <a:solidFill>
            <a:schemeClr val="accent3">
              <a:lumMod val="95000"/>
            </a:schemeClr>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IN" b="1" dirty="0" smtClean="0">
                <a:latin typeface="Verdana" pitchFamily="34" charset="0"/>
              </a:rPr>
              <a:t>Pre-processing</a:t>
            </a:r>
            <a:r>
              <a:rPr kumimoji="0" lang="en-IN" sz="1800" b="1" i="0" u="none" strike="noStrike" cap="none" normalizeH="0" baseline="0" dirty="0" smtClean="0">
                <a:ln>
                  <a:noFill/>
                </a:ln>
                <a:solidFill>
                  <a:schemeClr val="tx1"/>
                </a:solidFill>
                <a:effectLst/>
                <a:latin typeface="Verdana" pitchFamily="34" charset="0"/>
              </a:rPr>
              <a:t> </a:t>
            </a:r>
            <a:r>
              <a:rPr kumimoji="0" lang="en-IN" sz="1800" b="0" i="0" u="none" strike="noStrike" cap="none" normalizeH="0" baseline="0" dirty="0" smtClean="0">
                <a:ln>
                  <a:noFill/>
                </a:ln>
                <a:solidFill>
                  <a:schemeClr val="tx1"/>
                </a:solidFill>
                <a:effectLst/>
                <a:latin typeface="Verdana" pitchFamily="34" charset="0"/>
              </a:rPr>
              <a:t>-</a:t>
            </a:r>
            <a:r>
              <a:rPr kumimoji="0" lang="en-IN" sz="1800" b="0" i="0" u="none" strike="noStrike" cap="none" normalizeH="0" dirty="0" smtClean="0">
                <a:ln>
                  <a:noFill/>
                </a:ln>
                <a:solidFill>
                  <a:schemeClr val="tx1"/>
                </a:solidFill>
                <a:effectLst/>
                <a:latin typeface="Verdana" pitchFamily="34" charset="0"/>
              </a:rPr>
              <a:t> </a:t>
            </a:r>
            <a:r>
              <a:rPr lang="en-IN" dirty="0"/>
              <a:t>Parse evidence · Extract facts</a:t>
            </a:r>
            <a:endParaRPr kumimoji="0" lang="en-IN" sz="1800" b="0" i="0" u="none" strike="noStrike" cap="none" normalizeH="0" baseline="0" dirty="0" smtClean="0">
              <a:ln>
                <a:noFill/>
              </a:ln>
              <a:solidFill>
                <a:schemeClr val="tx1"/>
              </a:solidFill>
              <a:effectLst/>
              <a:latin typeface="Verdana" pitchFamily="34" charset="0"/>
            </a:endParaRPr>
          </a:p>
        </p:txBody>
      </p:sp>
      <p:sp>
        <p:nvSpPr>
          <p:cNvPr id="8" name="Rounded Rectangle 7"/>
          <p:cNvSpPr/>
          <p:nvPr/>
        </p:nvSpPr>
        <p:spPr bwMode="auto">
          <a:xfrm>
            <a:off x="1982419" y="3231778"/>
            <a:ext cx="8208912" cy="432048"/>
          </a:xfrm>
          <a:prstGeom prst="roundRect">
            <a:avLst/>
          </a:prstGeom>
          <a:solidFill>
            <a:schemeClr val="accent3">
              <a:lumMod val="95000"/>
            </a:schemeClr>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IN" b="1" dirty="0" smtClean="0">
                <a:latin typeface="Verdana" pitchFamily="34" charset="0"/>
              </a:rPr>
              <a:t>System Design</a:t>
            </a:r>
            <a:r>
              <a:rPr kumimoji="0" lang="en-IN" sz="1800" b="1" i="0" u="none" strike="noStrike" cap="none" normalizeH="0" baseline="0" dirty="0" smtClean="0">
                <a:ln>
                  <a:noFill/>
                </a:ln>
                <a:solidFill>
                  <a:schemeClr val="tx1"/>
                </a:solidFill>
                <a:effectLst/>
                <a:latin typeface="Verdana" pitchFamily="34" charset="0"/>
              </a:rPr>
              <a:t> </a:t>
            </a:r>
            <a:r>
              <a:rPr kumimoji="0" lang="en-IN" sz="1800" b="0" i="0" u="none" strike="noStrike" cap="none" normalizeH="0" baseline="0" dirty="0" smtClean="0">
                <a:ln>
                  <a:noFill/>
                </a:ln>
                <a:solidFill>
                  <a:schemeClr val="tx1"/>
                </a:solidFill>
                <a:effectLst/>
                <a:latin typeface="Verdana" pitchFamily="34" charset="0"/>
              </a:rPr>
              <a:t>-</a:t>
            </a:r>
            <a:r>
              <a:rPr lang="en-IN" dirty="0">
                <a:latin typeface="Verdana" pitchFamily="34" charset="0"/>
              </a:rPr>
              <a:t> </a:t>
            </a:r>
            <a:r>
              <a:rPr lang="en-IN" dirty="0"/>
              <a:t>Architecture · Knowledge Base · Rules</a:t>
            </a:r>
            <a:endParaRPr kumimoji="0" lang="en-IN" sz="1800" b="0" i="0" u="none" strike="noStrike" cap="none" normalizeH="0" baseline="0" dirty="0" smtClean="0">
              <a:ln>
                <a:noFill/>
              </a:ln>
              <a:solidFill>
                <a:schemeClr val="tx1"/>
              </a:solidFill>
              <a:effectLst/>
              <a:latin typeface="Verdana" pitchFamily="34" charset="0"/>
            </a:endParaRPr>
          </a:p>
        </p:txBody>
      </p:sp>
      <p:sp>
        <p:nvSpPr>
          <p:cNvPr id="9" name="Rounded Rectangle 8"/>
          <p:cNvSpPr/>
          <p:nvPr/>
        </p:nvSpPr>
        <p:spPr bwMode="auto">
          <a:xfrm>
            <a:off x="1982419" y="3968316"/>
            <a:ext cx="8208912" cy="432048"/>
          </a:xfrm>
          <a:prstGeom prst="roundRect">
            <a:avLst/>
          </a:prstGeom>
          <a:solidFill>
            <a:schemeClr val="accent3">
              <a:lumMod val="95000"/>
            </a:schemeClr>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IN" b="1" dirty="0" smtClean="0">
                <a:latin typeface="Verdana" pitchFamily="34" charset="0"/>
              </a:rPr>
              <a:t>Implementation</a:t>
            </a:r>
            <a:r>
              <a:rPr kumimoji="0" lang="en-IN" sz="1800" b="1" i="0" u="none" strike="noStrike" cap="none" normalizeH="0" baseline="0" dirty="0" smtClean="0">
                <a:ln>
                  <a:noFill/>
                </a:ln>
                <a:solidFill>
                  <a:schemeClr val="tx1"/>
                </a:solidFill>
                <a:effectLst/>
                <a:latin typeface="Verdana" pitchFamily="34" charset="0"/>
              </a:rPr>
              <a:t> </a:t>
            </a:r>
            <a:r>
              <a:rPr kumimoji="0" lang="en-IN" sz="1800" b="0" i="0" u="none" strike="noStrike" cap="none" normalizeH="0" baseline="0" dirty="0" smtClean="0">
                <a:ln>
                  <a:noFill/>
                </a:ln>
                <a:solidFill>
                  <a:schemeClr val="tx1"/>
                </a:solidFill>
                <a:effectLst/>
                <a:latin typeface="Verdana" pitchFamily="34" charset="0"/>
              </a:rPr>
              <a:t>-</a:t>
            </a:r>
            <a:r>
              <a:rPr lang="en-IN" dirty="0">
                <a:latin typeface="Verdana" pitchFamily="34" charset="0"/>
              </a:rPr>
              <a:t> </a:t>
            </a:r>
            <a:r>
              <a:rPr lang="en-US" dirty="0"/>
              <a:t>Forward Chaining · Risk · Timeline · Monitoring</a:t>
            </a:r>
            <a:endParaRPr kumimoji="0" lang="en-IN" sz="1800" b="0" i="0" u="none" strike="noStrike" cap="none" normalizeH="0" baseline="0" dirty="0" smtClean="0">
              <a:ln>
                <a:noFill/>
              </a:ln>
              <a:solidFill>
                <a:schemeClr val="tx1"/>
              </a:solidFill>
              <a:effectLst/>
              <a:latin typeface="Verdana" pitchFamily="34" charset="0"/>
            </a:endParaRPr>
          </a:p>
        </p:txBody>
      </p:sp>
      <p:sp>
        <p:nvSpPr>
          <p:cNvPr id="10" name="Rounded Rectangle 9"/>
          <p:cNvSpPr/>
          <p:nvPr/>
        </p:nvSpPr>
        <p:spPr bwMode="auto">
          <a:xfrm>
            <a:off x="1982419" y="4649635"/>
            <a:ext cx="8208912" cy="432048"/>
          </a:xfrm>
          <a:prstGeom prst="round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IN" b="1" dirty="0" smtClean="0">
                <a:latin typeface="Verdana" pitchFamily="34" charset="0"/>
              </a:rPr>
              <a:t>Testing</a:t>
            </a:r>
            <a:r>
              <a:rPr kumimoji="0" lang="en-IN" sz="1800" b="1" i="0" u="none" strike="noStrike" cap="none" normalizeH="0" baseline="0" dirty="0" smtClean="0">
                <a:ln>
                  <a:noFill/>
                </a:ln>
                <a:solidFill>
                  <a:schemeClr val="tx1"/>
                </a:solidFill>
                <a:effectLst/>
                <a:latin typeface="Verdana" pitchFamily="34" charset="0"/>
              </a:rPr>
              <a:t> </a:t>
            </a:r>
            <a:r>
              <a:rPr kumimoji="0" lang="en-IN" sz="1800" b="0" i="0" u="none" strike="noStrike" cap="none" normalizeH="0" baseline="0" dirty="0" smtClean="0">
                <a:ln>
                  <a:noFill/>
                </a:ln>
                <a:solidFill>
                  <a:schemeClr val="tx1"/>
                </a:solidFill>
                <a:effectLst/>
                <a:latin typeface="Verdana" pitchFamily="34" charset="0"/>
              </a:rPr>
              <a:t>-</a:t>
            </a:r>
            <a:r>
              <a:rPr lang="en-IN" dirty="0">
                <a:latin typeface="Verdana" pitchFamily="34" charset="0"/>
              </a:rPr>
              <a:t> </a:t>
            </a:r>
            <a:r>
              <a:rPr lang="en-US" dirty="0"/>
              <a:t>Verify rules · Evidence analysis · Alerts</a:t>
            </a:r>
            <a:endParaRPr kumimoji="0" lang="en-IN" sz="1800" b="0" i="0" u="none" strike="noStrike" cap="none" normalizeH="0" baseline="0" dirty="0" smtClean="0">
              <a:ln>
                <a:noFill/>
              </a:ln>
              <a:solidFill>
                <a:schemeClr val="tx1"/>
              </a:solidFill>
              <a:effectLst/>
              <a:latin typeface="Verdana" pitchFamily="34" charset="0"/>
            </a:endParaRPr>
          </a:p>
        </p:txBody>
      </p:sp>
      <p:sp>
        <p:nvSpPr>
          <p:cNvPr id="11" name="Rounded Rectangle 10"/>
          <p:cNvSpPr/>
          <p:nvPr/>
        </p:nvSpPr>
        <p:spPr bwMode="auto">
          <a:xfrm>
            <a:off x="1982419" y="5362327"/>
            <a:ext cx="8208912" cy="432048"/>
          </a:xfrm>
          <a:prstGeom prst="roundRect">
            <a:avLst/>
          </a:prstGeom>
          <a:solidFill>
            <a:schemeClr val="accent1">
              <a:lumMod val="20000"/>
              <a:lumOff val="80000"/>
            </a:schemeClr>
          </a:solidFill>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IN" b="1" dirty="0" smtClean="0">
                <a:latin typeface="Verdana" pitchFamily="34" charset="0"/>
              </a:rPr>
              <a:t>Evaluation &amp; o/p</a:t>
            </a:r>
            <a:r>
              <a:rPr kumimoji="0" lang="en-IN" sz="1800" b="1" i="0" u="none" strike="noStrike" cap="none" normalizeH="0" baseline="0" dirty="0" smtClean="0">
                <a:ln>
                  <a:noFill/>
                </a:ln>
                <a:solidFill>
                  <a:schemeClr val="tx1"/>
                </a:solidFill>
                <a:effectLst/>
                <a:latin typeface="Verdana" pitchFamily="34" charset="0"/>
              </a:rPr>
              <a:t> </a:t>
            </a:r>
            <a:r>
              <a:rPr kumimoji="0" lang="en-IN" sz="1800" b="0" i="0" u="none" strike="noStrike" cap="none" normalizeH="0" baseline="0" dirty="0" smtClean="0">
                <a:ln>
                  <a:noFill/>
                </a:ln>
                <a:solidFill>
                  <a:schemeClr val="tx1"/>
                </a:solidFill>
                <a:effectLst/>
                <a:latin typeface="Verdana" pitchFamily="34" charset="0"/>
              </a:rPr>
              <a:t>-</a:t>
            </a:r>
            <a:r>
              <a:rPr lang="en-IN" dirty="0">
                <a:latin typeface="Verdana" pitchFamily="34" charset="0"/>
              </a:rPr>
              <a:t> </a:t>
            </a:r>
            <a:r>
              <a:rPr lang="en-US" dirty="0"/>
              <a:t>Assess findings · PDF Report · Risk Score</a:t>
            </a:r>
            <a:endParaRPr kumimoji="0" lang="en-IN" sz="1800" b="0" i="0" u="none" strike="noStrike" cap="none" normalizeH="0" baseline="0" dirty="0" smtClean="0">
              <a:ln>
                <a:noFill/>
              </a:ln>
              <a:solidFill>
                <a:schemeClr val="tx1"/>
              </a:solidFill>
              <a:effectLst/>
              <a:latin typeface="Verdana" pitchFamily="34" charset="0"/>
            </a:endParaRPr>
          </a:p>
        </p:txBody>
      </p:sp>
      <p:cxnSp>
        <p:nvCxnSpPr>
          <p:cNvPr id="12" name="Straight Arrow Connector 11"/>
          <p:cNvCxnSpPr>
            <a:stCxn id="5" idx="2"/>
            <a:endCxn id="7" idx="0"/>
          </p:cNvCxnSpPr>
          <p:nvPr/>
        </p:nvCxnSpPr>
        <p:spPr bwMode="auto">
          <a:xfrm flipH="1">
            <a:off x="6086875" y="2348880"/>
            <a:ext cx="2776" cy="22542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3" name="Straight Arrow Connector 12"/>
          <p:cNvCxnSpPr>
            <a:stCxn id="7" idx="2"/>
            <a:endCxn id="8" idx="0"/>
          </p:cNvCxnSpPr>
          <p:nvPr/>
        </p:nvCxnSpPr>
        <p:spPr bwMode="auto">
          <a:xfrm>
            <a:off x="6086875" y="3006353"/>
            <a:ext cx="0" cy="22542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p:cNvCxnSpPr>
            <a:stCxn id="8" idx="2"/>
            <a:endCxn id="9" idx="0"/>
          </p:cNvCxnSpPr>
          <p:nvPr/>
        </p:nvCxnSpPr>
        <p:spPr bwMode="auto">
          <a:xfrm>
            <a:off x="6086875" y="3663826"/>
            <a:ext cx="0" cy="30449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5" name="Straight Arrow Connector 14"/>
          <p:cNvCxnSpPr>
            <a:stCxn id="9" idx="2"/>
            <a:endCxn id="10" idx="0"/>
          </p:cNvCxnSpPr>
          <p:nvPr/>
        </p:nvCxnSpPr>
        <p:spPr bwMode="auto">
          <a:xfrm>
            <a:off x="6086875" y="4400364"/>
            <a:ext cx="0" cy="24927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6" name="Straight Arrow Connector 15"/>
          <p:cNvCxnSpPr>
            <a:stCxn id="10" idx="2"/>
            <a:endCxn id="11" idx="0"/>
          </p:cNvCxnSpPr>
          <p:nvPr/>
        </p:nvCxnSpPr>
        <p:spPr bwMode="auto">
          <a:xfrm>
            <a:off x="6086875" y="5081683"/>
            <a:ext cx="0" cy="2806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967815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US" sz="3200" b="1" dirty="0">
                <a:solidFill>
                  <a:srgbClr val="FF0000"/>
                </a:solidFill>
              </a:rPr>
              <a:t>Tools and Technologies</a:t>
            </a:r>
            <a:endParaRPr lang="en-IN" sz="3200" b="1" dirty="0">
              <a:solidFill>
                <a:srgbClr val="FF0000"/>
              </a:solidFill>
            </a:endParaRP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12</a:t>
            </a:fld>
            <a:endParaRPr lang="en-IN"/>
          </a:p>
        </p:txBody>
      </p:sp>
      <p:graphicFrame>
        <p:nvGraphicFramePr>
          <p:cNvPr id="7" name="Content Placeholder 3"/>
          <p:cNvGraphicFramePr>
            <a:graphicFrameLocks noGrp="1"/>
          </p:cNvGraphicFramePr>
          <p:nvPr>
            <p:ph idx="1"/>
            <p:extLst>
              <p:ext uri="{D42A27DB-BD31-4B8C-83A1-F6EECF244321}">
                <p14:modId xmlns:p14="http://schemas.microsoft.com/office/powerpoint/2010/main" val="1374999142"/>
              </p:ext>
            </p:extLst>
          </p:nvPr>
        </p:nvGraphicFramePr>
        <p:xfrm>
          <a:off x="755650" y="1916832"/>
          <a:ext cx="10668942" cy="2376265"/>
        </p:xfrm>
        <a:graphic>
          <a:graphicData uri="http://schemas.openxmlformats.org/drawingml/2006/table">
            <a:tbl>
              <a:tblPr/>
              <a:tblGrid>
                <a:gridCol w="5334000"/>
                <a:gridCol w="5334942"/>
              </a:tblGrid>
              <a:tr h="424932">
                <a:tc>
                  <a:txBody>
                    <a:bodyPr/>
                    <a:lstStyle/>
                    <a:p>
                      <a:pPr algn="l" rtl="0"/>
                      <a:r>
                        <a:rPr lang="en-IN" b="1" i="0" dirty="0">
                          <a:solidFill>
                            <a:srgbClr val="000000"/>
                          </a:solidFill>
                          <a:effectLst/>
                        </a:rPr>
                        <a:t>Programming Language</a:t>
                      </a:r>
                      <a:endParaRPr lang="en-IN" dirty="0">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a:r>
                        <a:rPr lang="en-IN" b="1" i="0">
                          <a:solidFill>
                            <a:srgbClr val="000000"/>
                          </a:solidFill>
                          <a:effectLst/>
                        </a:rPr>
                        <a:t>Python</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10807">
                <a:tc>
                  <a:txBody>
                    <a:bodyPr/>
                    <a:lstStyle/>
                    <a:p>
                      <a:pPr algn="l" rtl="0"/>
                      <a:r>
                        <a:rPr lang="en-IN" b="1" i="0">
                          <a:solidFill>
                            <a:srgbClr val="000000"/>
                          </a:solidFill>
                          <a:effectLst/>
                        </a:rPr>
                        <a:t>GUI</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a:r>
                        <a:rPr lang="en-IN" b="1" i="0">
                          <a:solidFill>
                            <a:srgbClr val="000000"/>
                          </a:solidFill>
                          <a:effectLst/>
                        </a:rPr>
                        <a:t>Tkinter + ttkbootstrap</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10807">
                <a:tc>
                  <a:txBody>
                    <a:bodyPr/>
                    <a:lstStyle/>
                    <a:p>
                      <a:pPr algn="l" rtl="0"/>
                      <a:r>
                        <a:rPr lang="en-IN" b="1" i="0">
                          <a:solidFill>
                            <a:srgbClr val="000000"/>
                          </a:solidFill>
                          <a:effectLst/>
                        </a:rPr>
                        <a:t>DataBase</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a:r>
                        <a:rPr lang="en-IN" b="1" i="0">
                          <a:solidFill>
                            <a:srgbClr val="000000"/>
                          </a:solidFill>
                          <a:effectLst/>
                        </a:rPr>
                        <a:t>SQLite</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718912">
                <a:tc>
                  <a:txBody>
                    <a:bodyPr/>
                    <a:lstStyle/>
                    <a:p>
                      <a:pPr algn="l" rtl="0"/>
                      <a:r>
                        <a:rPr lang="en-IN" b="1" i="0">
                          <a:solidFill>
                            <a:srgbClr val="000000"/>
                          </a:solidFill>
                          <a:effectLst/>
                        </a:rPr>
                        <a:t>AI Techniques </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a:r>
                        <a:rPr lang="en-US" b="1" i="0">
                          <a:solidFill>
                            <a:srgbClr val="000000"/>
                          </a:solidFill>
                          <a:effectLst/>
                        </a:rPr>
                        <a:t>Rule-Based Expert System, Forward Chaining</a:t>
                      </a:r>
                      <a:endParaRPr lang="en-US">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10807">
                <a:tc>
                  <a:txBody>
                    <a:bodyPr/>
                    <a:lstStyle/>
                    <a:p>
                      <a:pPr algn="l" rtl="0"/>
                      <a:r>
                        <a:rPr lang="en-IN" b="1" i="0" dirty="0">
                          <a:solidFill>
                            <a:srgbClr val="000000"/>
                          </a:solidFill>
                          <a:effectLst/>
                        </a:rPr>
                        <a:t>Libraries</a:t>
                      </a:r>
                      <a:endParaRPr lang="en-IN" dirty="0">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a:r>
                        <a:rPr lang="en-IN" b="1" i="0" dirty="0">
                          <a:solidFill>
                            <a:srgbClr val="000000"/>
                          </a:solidFill>
                          <a:effectLst/>
                        </a:rPr>
                        <a:t>Pandas, watchdog, </a:t>
                      </a:r>
                      <a:r>
                        <a:rPr lang="en-IN" b="1" i="0" dirty="0" err="1">
                          <a:solidFill>
                            <a:srgbClr val="000000"/>
                          </a:solidFill>
                          <a:effectLst/>
                        </a:rPr>
                        <a:t>ReportLab</a:t>
                      </a:r>
                      <a:endParaRPr lang="en-IN" dirty="0">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5" name="Rectangle 4"/>
          <p:cNvSpPr/>
          <p:nvPr/>
        </p:nvSpPr>
        <p:spPr>
          <a:xfrm>
            <a:off x="769854" y="5013176"/>
            <a:ext cx="10667999" cy="923330"/>
          </a:xfrm>
          <a:prstGeom prst="rect">
            <a:avLst/>
          </a:prstGeom>
        </p:spPr>
        <p:txBody>
          <a:bodyPr wrap="square">
            <a:spAutoFit/>
          </a:bodyPr>
          <a:lstStyle/>
          <a:p>
            <a:r>
              <a:rPr lang="en-IN" b="1" dirty="0"/>
              <a:t>Justification</a:t>
            </a:r>
            <a:r>
              <a:rPr lang="en-IN" dirty="0"/>
              <a:t>: Python enables rapid development; </a:t>
            </a:r>
            <a:r>
              <a:rPr lang="en-IN" dirty="0" err="1"/>
              <a:t>Tkinter</a:t>
            </a:r>
            <a:r>
              <a:rPr lang="en-IN" dirty="0"/>
              <a:t> supports the desktop GUI; Pandas processes structured data; watchdog enables real-time monitoring; </a:t>
            </a:r>
            <a:r>
              <a:rPr lang="en-IN" dirty="0" err="1"/>
              <a:t>ReportLab</a:t>
            </a:r>
            <a:r>
              <a:rPr lang="en-IN" dirty="0"/>
              <a:t> generates PDF reports; SQLite stores case data locally.</a:t>
            </a:r>
            <a:endParaRPr lang="en-IN" dirty="0"/>
          </a:p>
        </p:txBody>
      </p:sp>
    </p:spTree>
    <p:extLst>
      <p:ext uri="{BB962C8B-B14F-4D97-AF65-F5344CB8AC3E}">
        <p14:creationId xmlns:p14="http://schemas.microsoft.com/office/powerpoint/2010/main" val="3478475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US" altLang="en-US" sz="3200" b="1" dirty="0">
                <a:solidFill>
                  <a:srgbClr val="FF0000"/>
                </a:solidFill>
              </a:rPr>
              <a:t>List of Modules</a:t>
            </a:r>
            <a:endParaRPr lang="en-IN" sz="2800" dirty="0"/>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13</a:t>
            </a:fld>
            <a:endParaRPr lang="en-IN"/>
          </a:p>
        </p:txBody>
      </p:sp>
      <p:pic>
        <p:nvPicPr>
          <p:cNvPr id="10" name="Picture 9"/>
          <p:cNvPicPr>
            <a:picLocks noChangeAspect="1"/>
          </p:cNvPicPr>
          <p:nvPr/>
        </p:nvPicPr>
        <p:blipFill>
          <a:blip r:embed="rId2"/>
          <a:stretch>
            <a:fillRect/>
          </a:stretch>
        </p:blipFill>
        <p:spPr>
          <a:xfrm>
            <a:off x="1127448" y="1916832"/>
            <a:ext cx="9937104" cy="3960439"/>
          </a:xfrm>
          <a:prstGeom prst="rect">
            <a:avLst/>
          </a:prstGeom>
        </p:spPr>
      </p:pic>
    </p:spTree>
    <p:extLst>
      <p:ext uri="{BB962C8B-B14F-4D97-AF65-F5344CB8AC3E}">
        <p14:creationId xmlns:p14="http://schemas.microsoft.com/office/powerpoint/2010/main" val="651015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r>
              <a:rPr lang="en-US" altLang="en-US" sz="3200" b="1" dirty="0">
                <a:solidFill>
                  <a:srgbClr val="FF0000"/>
                </a:solidFill>
              </a:rPr>
              <a:t>Module Description(For each Module separately)</a:t>
            </a:r>
            <a:endParaRPr lang="en-IN" sz="2800" dirty="0"/>
          </a:p>
        </p:txBody>
      </p:sp>
      <p:sp>
        <p:nvSpPr>
          <p:cNvPr id="3" name="Content Placeholder 2">
            <a:extLst>
              <a:ext uri="{FF2B5EF4-FFF2-40B4-BE49-F238E27FC236}">
                <a16:creationId xmlns:a16="http://schemas.microsoft.com/office/drawing/2014/main" xmlns="" id="{01F36FF0-FD4A-EE78-6CA2-4ADCB6BA1B65}"/>
              </a:ext>
            </a:extLst>
          </p:cNvPr>
          <p:cNvSpPr>
            <a:spLocks noGrp="1"/>
          </p:cNvSpPr>
          <p:nvPr>
            <p:ph idx="1"/>
          </p:nvPr>
        </p:nvSpPr>
        <p:spPr/>
        <p:txBody>
          <a:bodyPr/>
          <a:lstStyle/>
          <a:p>
            <a:pPr marL="0" indent="0">
              <a:buNone/>
            </a:pPr>
            <a:r>
              <a:rPr lang="en-US" sz="2400" b="1" dirty="0">
                <a:solidFill>
                  <a:srgbClr val="C00000"/>
                </a:solidFill>
                <a:latin typeface="Aptos"/>
              </a:rPr>
              <a:t>Module 1</a:t>
            </a:r>
            <a:r>
              <a:rPr lang="en-US" sz="2400" b="1" dirty="0">
                <a:latin typeface="Aptos"/>
              </a:rPr>
              <a:t>: Case &amp; Evidence Management — Completed</a:t>
            </a:r>
          </a:p>
          <a:p>
            <a:pPr>
              <a:buFont typeface="Wingdings" panose="05000000000000000000" pitchFamily="2" charset="2"/>
              <a:buChar char="§"/>
            </a:pPr>
            <a:r>
              <a:rPr lang="en-US" sz="2400" b="1" dirty="0">
                <a:latin typeface="Aptos"/>
              </a:rPr>
              <a:t>Purpose</a:t>
            </a:r>
            <a:r>
              <a:rPr lang="en-US" sz="2400" dirty="0">
                <a:latin typeface="Aptos"/>
              </a:rPr>
              <a:t>: Create cases and manage digital evidence.</a:t>
            </a:r>
          </a:p>
          <a:p>
            <a:pPr>
              <a:buFont typeface="Wingdings" panose="05000000000000000000" pitchFamily="2" charset="2"/>
              <a:buChar char="§"/>
            </a:pPr>
            <a:r>
              <a:rPr lang="en-US" sz="2400" b="1" dirty="0">
                <a:latin typeface="Aptos"/>
              </a:rPr>
              <a:t>Input</a:t>
            </a:r>
            <a:r>
              <a:rPr lang="en-US" sz="2400" dirty="0">
                <a:latin typeface="Aptos"/>
              </a:rPr>
              <a:t>: Case details and evidence files.</a:t>
            </a:r>
          </a:p>
          <a:p>
            <a:pPr>
              <a:buFont typeface="Wingdings" panose="05000000000000000000" pitchFamily="2" charset="2"/>
              <a:buChar char="§"/>
            </a:pPr>
            <a:r>
              <a:rPr lang="en-US" sz="2400" b="1" dirty="0">
                <a:latin typeface="Aptos"/>
              </a:rPr>
              <a:t>Output</a:t>
            </a:r>
            <a:r>
              <a:rPr lang="en-US" sz="2400" dirty="0">
                <a:latin typeface="Aptos"/>
              </a:rPr>
              <a:t>: Stored evidence and SHA-256 hashes.</a:t>
            </a:r>
          </a:p>
          <a:p>
            <a:pPr>
              <a:buFont typeface="Wingdings" panose="05000000000000000000" pitchFamily="2" charset="2"/>
              <a:buChar char="§"/>
            </a:pPr>
            <a:r>
              <a:rPr lang="en-US" sz="2400" b="1" dirty="0">
                <a:latin typeface="Aptos"/>
              </a:rPr>
              <a:t>Implementation</a:t>
            </a:r>
            <a:r>
              <a:rPr lang="en-US" sz="2400" dirty="0">
                <a:latin typeface="Aptos"/>
              </a:rPr>
              <a:t>: Case creation, file handling, and hashing</a:t>
            </a:r>
            <a:r>
              <a:rPr lang="en-US" sz="2400" dirty="0" smtClean="0">
                <a:latin typeface="Aptos"/>
              </a:rPr>
              <a:t>.</a:t>
            </a:r>
          </a:p>
          <a:p>
            <a:pPr marL="0" indent="0">
              <a:buNone/>
            </a:pPr>
            <a:r>
              <a:rPr lang="en-US" sz="2400" b="1" dirty="0">
                <a:solidFill>
                  <a:srgbClr val="C00000"/>
                </a:solidFill>
                <a:latin typeface="Aptos"/>
              </a:rPr>
              <a:t>Module 2</a:t>
            </a:r>
            <a:r>
              <a:rPr lang="en-US" sz="2400" b="1" dirty="0">
                <a:latin typeface="Aptos"/>
              </a:rPr>
              <a:t>: Multi-Source Evidence Analysis — Completed</a:t>
            </a:r>
          </a:p>
          <a:p>
            <a:pPr>
              <a:buFont typeface="Wingdings" panose="05000000000000000000" pitchFamily="2" charset="2"/>
              <a:buChar char="§"/>
            </a:pPr>
            <a:r>
              <a:rPr lang="en-US" sz="2400" b="1" dirty="0">
                <a:latin typeface="Aptos"/>
              </a:rPr>
              <a:t>Purpose</a:t>
            </a:r>
            <a:r>
              <a:rPr lang="en-US" sz="2400" dirty="0">
                <a:latin typeface="Aptos"/>
              </a:rPr>
              <a:t>: Analyze evidence from multiple sources.</a:t>
            </a:r>
          </a:p>
          <a:p>
            <a:pPr>
              <a:buFont typeface="Wingdings" panose="05000000000000000000" pitchFamily="2" charset="2"/>
              <a:buChar char="§"/>
            </a:pPr>
            <a:r>
              <a:rPr lang="en-US" sz="2400" b="1" dirty="0">
                <a:latin typeface="Aptos"/>
              </a:rPr>
              <a:t>Input</a:t>
            </a:r>
            <a:r>
              <a:rPr lang="en-US" sz="2400" dirty="0">
                <a:latin typeface="Aptos"/>
              </a:rPr>
              <a:t>: Logs, files, browser history, and email data.</a:t>
            </a:r>
          </a:p>
          <a:p>
            <a:pPr>
              <a:buFont typeface="Wingdings" panose="05000000000000000000" pitchFamily="2" charset="2"/>
              <a:buChar char="§"/>
            </a:pPr>
            <a:r>
              <a:rPr lang="en-US" sz="2400" b="1" dirty="0">
                <a:latin typeface="Aptos"/>
              </a:rPr>
              <a:t>Output</a:t>
            </a:r>
            <a:r>
              <a:rPr lang="en-US" sz="2400" dirty="0">
                <a:latin typeface="Aptos"/>
              </a:rPr>
              <a:t>: Extracted forensic facts.</a:t>
            </a:r>
          </a:p>
          <a:p>
            <a:pPr>
              <a:buFont typeface="Wingdings" panose="05000000000000000000" pitchFamily="2" charset="2"/>
              <a:buChar char="§"/>
            </a:pPr>
            <a:r>
              <a:rPr lang="en-US" sz="2400" b="1" dirty="0">
                <a:latin typeface="Aptos"/>
              </a:rPr>
              <a:t>Implementation</a:t>
            </a:r>
            <a:r>
              <a:rPr lang="en-US" sz="2400" dirty="0">
                <a:latin typeface="Aptos"/>
              </a:rPr>
              <a:t>: Evidence parsing and fact extraction.</a:t>
            </a:r>
          </a:p>
          <a:p>
            <a:pPr marL="0" indent="0">
              <a:buNone/>
            </a:pPr>
            <a:endParaRPr lang="en-US" sz="2400" dirty="0">
              <a:latin typeface="Aptos"/>
            </a:endParaRP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14</a:t>
            </a:fld>
            <a:endParaRPr lang="en-IN"/>
          </a:p>
        </p:txBody>
      </p:sp>
    </p:spTree>
    <p:extLst>
      <p:ext uri="{BB962C8B-B14F-4D97-AF65-F5344CB8AC3E}">
        <p14:creationId xmlns:p14="http://schemas.microsoft.com/office/powerpoint/2010/main" val="5175299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r>
              <a:rPr lang="en-US" altLang="en-US" sz="3200" b="1" dirty="0">
                <a:solidFill>
                  <a:srgbClr val="FF0000"/>
                </a:solidFill>
              </a:rPr>
              <a:t>Module Description(For each Module separately)</a:t>
            </a:r>
            <a:endParaRPr lang="en-IN" sz="2800" dirty="0"/>
          </a:p>
        </p:txBody>
      </p:sp>
      <p:sp>
        <p:nvSpPr>
          <p:cNvPr id="3" name="Content Placeholder 2">
            <a:extLst>
              <a:ext uri="{FF2B5EF4-FFF2-40B4-BE49-F238E27FC236}">
                <a16:creationId xmlns:a16="http://schemas.microsoft.com/office/drawing/2014/main" xmlns="" id="{01F36FF0-FD4A-EE78-6CA2-4ADCB6BA1B65}"/>
              </a:ext>
            </a:extLst>
          </p:cNvPr>
          <p:cNvSpPr>
            <a:spLocks noGrp="1"/>
          </p:cNvSpPr>
          <p:nvPr>
            <p:ph idx="1"/>
          </p:nvPr>
        </p:nvSpPr>
        <p:spPr/>
        <p:txBody>
          <a:bodyPr/>
          <a:lstStyle/>
          <a:p>
            <a:pPr marL="0" indent="0">
              <a:buNone/>
            </a:pPr>
            <a:r>
              <a:rPr lang="en-US" sz="2400" b="1" dirty="0">
                <a:solidFill>
                  <a:srgbClr val="C00000"/>
                </a:solidFill>
                <a:latin typeface="Aptos"/>
              </a:rPr>
              <a:t>Module 3</a:t>
            </a:r>
            <a:r>
              <a:rPr lang="en-US" sz="2400" b="1" dirty="0">
                <a:latin typeface="Aptos"/>
              </a:rPr>
              <a:t>: Rule-Based AI Reasoning — Completed</a:t>
            </a:r>
          </a:p>
          <a:p>
            <a:pPr>
              <a:buFont typeface="Wingdings" panose="05000000000000000000" pitchFamily="2" charset="2"/>
              <a:buChar char="§"/>
            </a:pPr>
            <a:r>
              <a:rPr lang="en-US" sz="2400" b="1" dirty="0">
                <a:latin typeface="Aptos"/>
              </a:rPr>
              <a:t>Purpose</a:t>
            </a:r>
            <a:r>
              <a:rPr lang="en-US" sz="2400" dirty="0">
                <a:latin typeface="Aptos"/>
              </a:rPr>
              <a:t>: Identify suspicious activities through logical reasoning.</a:t>
            </a:r>
          </a:p>
          <a:p>
            <a:pPr>
              <a:buFont typeface="Wingdings" panose="05000000000000000000" pitchFamily="2" charset="2"/>
              <a:buChar char="§"/>
            </a:pPr>
            <a:r>
              <a:rPr lang="en-US" sz="2400" b="1" dirty="0">
                <a:latin typeface="Aptos"/>
              </a:rPr>
              <a:t>Input</a:t>
            </a:r>
            <a:r>
              <a:rPr lang="en-US" sz="2400" dirty="0">
                <a:latin typeface="Aptos"/>
              </a:rPr>
              <a:t>: Extracted facts and predefined rules.</a:t>
            </a:r>
          </a:p>
          <a:p>
            <a:pPr>
              <a:buFont typeface="Wingdings" panose="05000000000000000000" pitchFamily="2" charset="2"/>
              <a:buChar char="§"/>
            </a:pPr>
            <a:r>
              <a:rPr lang="en-US" sz="2400" b="1" dirty="0">
                <a:latin typeface="Aptos"/>
              </a:rPr>
              <a:t>Output</a:t>
            </a:r>
            <a:r>
              <a:rPr lang="en-US" sz="2400" dirty="0">
                <a:latin typeface="Aptos"/>
              </a:rPr>
              <a:t>: Forensic findings with explanations.</a:t>
            </a:r>
          </a:p>
          <a:p>
            <a:pPr>
              <a:buFont typeface="Wingdings" panose="05000000000000000000" pitchFamily="2" charset="2"/>
              <a:buChar char="§"/>
            </a:pPr>
            <a:r>
              <a:rPr lang="en-US" sz="2400" b="1" dirty="0">
                <a:latin typeface="Aptos"/>
              </a:rPr>
              <a:t>Implementation</a:t>
            </a:r>
            <a:r>
              <a:rPr lang="en-US" sz="2400" dirty="0">
                <a:latin typeface="Aptos"/>
              </a:rPr>
              <a:t>: IF–THEN rules and Forward Chaining.</a:t>
            </a:r>
          </a:p>
          <a:p>
            <a:pPr marL="0" indent="0">
              <a:buNone/>
            </a:pPr>
            <a:r>
              <a:rPr lang="en-US" sz="2400" b="1" dirty="0">
                <a:solidFill>
                  <a:srgbClr val="C00000"/>
                </a:solidFill>
                <a:latin typeface="Aptos"/>
              </a:rPr>
              <a:t>Module 4</a:t>
            </a:r>
            <a:r>
              <a:rPr lang="en-US" sz="2400" b="1" dirty="0">
                <a:latin typeface="Aptos"/>
              </a:rPr>
              <a:t>: Risk &amp; Event Sequence Analysis — Completed</a:t>
            </a:r>
          </a:p>
          <a:p>
            <a:pPr>
              <a:buFont typeface="Wingdings" panose="05000000000000000000" pitchFamily="2" charset="2"/>
              <a:buChar char="§"/>
            </a:pPr>
            <a:r>
              <a:rPr lang="en-US" sz="2400" b="1" dirty="0">
                <a:latin typeface="Aptos"/>
              </a:rPr>
              <a:t>Purpose</a:t>
            </a:r>
            <a:r>
              <a:rPr lang="en-US" sz="2400" dirty="0">
                <a:latin typeface="Aptos"/>
              </a:rPr>
              <a:t>: Assess risk and reconstruct event sequences.</a:t>
            </a:r>
          </a:p>
          <a:p>
            <a:pPr>
              <a:buFont typeface="Wingdings" panose="05000000000000000000" pitchFamily="2" charset="2"/>
              <a:buChar char="§"/>
            </a:pPr>
            <a:r>
              <a:rPr lang="en-US" sz="2400" b="1" dirty="0">
                <a:latin typeface="Aptos"/>
              </a:rPr>
              <a:t>Input</a:t>
            </a:r>
            <a:r>
              <a:rPr lang="en-US" sz="2400" dirty="0">
                <a:latin typeface="Aptos"/>
              </a:rPr>
              <a:t>: Forensic findings and event data.</a:t>
            </a:r>
          </a:p>
          <a:p>
            <a:pPr>
              <a:buFont typeface="Wingdings" panose="05000000000000000000" pitchFamily="2" charset="2"/>
              <a:buChar char="§"/>
            </a:pPr>
            <a:r>
              <a:rPr lang="en-US" sz="2400" b="1" dirty="0">
                <a:latin typeface="Aptos"/>
              </a:rPr>
              <a:t>Output</a:t>
            </a:r>
            <a:r>
              <a:rPr lang="en-US" sz="2400" dirty="0">
                <a:latin typeface="Aptos"/>
              </a:rPr>
              <a:t>: Risk score and chronological timeline.</a:t>
            </a:r>
          </a:p>
          <a:p>
            <a:pPr>
              <a:buFont typeface="Wingdings" panose="05000000000000000000" pitchFamily="2" charset="2"/>
              <a:buChar char="§"/>
            </a:pPr>
            <a:r>
              <a:rPr lang="en-US" sz="2400" b="1" dirty="0">
                <a:latin typeface="Aptos"/>
              </a:rPr>
              <a:t>Implementation</a:t>
            </a:r>
            <a:r>
              <a:rPr lang="en-US" sz="2400" dirty="0">
                <a:latin typeface="Aptos"/>
              </a:rPr>
              <a:t>: Weighted risk calculation and event ordering.</a:t>
            </a:r>
          </a:p>
          <a:p>
            <a:pPr marL="0" indent="0">
              <a:buNone/>
            </a:pPr>
            <a:endParaRPr lang="en-US" sz="2400" dirty="0">
              <a:latin typeface="Aptos"/>
            </a:endParaRP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15</a:t>
            </a:fld>
            <a:endParaRPr lang="en-IN"/>
          </a:p>
        </p:txBody>
      </p:sp>
    </p:spTree>
    <p:extLst>
      <p:ext uri="{BB962C8B-B14F-4D97-AF65-F5344CB8AC3E}">
        <p14:creationId xmlns:p14="http://schemas.microsoft.com/office/powerpoint/2010/main" val="2989014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r>
              <a:rPr lang="en-US" altLang="en-US" sz="3200" b="1" dirty="0">
                <a:solidFill>
                  <a:srgbClr val="FF0000"/>
                </a:solidFill>
              </a:rPr>
              <a:t>Module Description(For each Module separately)</a:t>
            </a:r>
            <a:endParaRPr lang="en-IN" sz="2800" dirty="0"/>
          </a:p>
        </p:txBody>
      </p:sp>
      <p:sp>
        <p:nvSpPr>
          <p:cNvPr id="3" name="Content Placeholder 2">
            <a:extLst>
              <a:ext uri="{FF2B5EF4-FFF2-40B4-BE49-F238E27FC236}">
                <a16:creationId xmlns:a16="http://schemas.microsoft.com/office/drawing/2014/main" xmlns="" id="{01F36FF0-FD4A-EE78-6CA2-4ADCB6BA1B65}"/>
              </a:ext>
            </a:extLst>
          </p:cNvPr>
          <p:cNvSpPr>
            <a:spLocks noGrp="1"/>
          </p:cNvSpPr>
          <p:nvPr>
            <p:ph idx="1"/>
          </p:nvPr>
        </p:nvSpPr>
        <p:spPr>
          <a:xfrm>
            <a:off x="755651" y="1752600"/>
            <a:ext cx="10668000" cy="4772744"/>
          </a:xfrm>
        </p:spPr>
        <p:txBody>
          <a:bodyPr/>
          <a:lstStyle/>
          <a:p>
            <a:pPr marL="0" indent="0">
              <a:buNone/>
            </a:pPr>
            <a:r>
              <a:rPr lang="en-US" sz="2400" b="1" dirty="0">
                <a:solidFill>
                  <a:srgbClr val="C00000"/>
                </a:solidFill>
                <a:latin typeface="Aptos"/>
              </a:rPr>
              <a:t>Module 5</a:t>
            </a:r>
            <a:r>
              <a:rPr lang="en-US" sz="2400" b="1" dirty="0">
                <a:latin typeface="Aptos"/>
              </a:rPr>
              <a:t>: Forensic Report Generation — </a:t>
            </a:r>
            <a:r>
              <a:rPr lang="en-US" sz="2400" b="1" dirty="0" smtClean="0">
                <a:latin typeface="Aptos"/>
              </a:rPr>
              <a:t>Completed</a:t>
            </a:r>
            <a:endParaRPr lang="en-US" sz="2400" b="1" dirty="0">
              <a:latin typeface="Aptos"/>
            </a:endParaRPr>
          </a:p>
          <a:p>
            <a:pPr>
              <a:buFont typeface="Wingdings" panose="05000000000000000000" pitchFamily="2" charset="2"/>
              <a:buChar char="§"/>
            </a:pPr>
            <a:r>
              <a:rPr lang="en-US" sz="2400" b="1" dirty="0">
                <a:latin typeface="Aptos"/>
              </a:rPr>
              <a:t>Purpose:</a:t>
            </a:r>
            <a:r>
              <a:rPr lang="en-US" sz="2400" dirty="0">
                <a:latin typeface="Aptos"/>
              </a:rPr>
              <a:t> Present investigation results in a structured format.</a:t>
            </a:r>
          </a:p>
          <a:p>
            <a:pPr>
              <a:buFont typeface="Wingdings" panose="05000000000000000000" pitchFamily="2" charset="2"/>
              <a:buChar char="§"/>
            </a:pPr>
            <a:r>
              <a:rPr lang="en-US" sz="2400" b="1" dirty="0">
                <a:latin typeface="Aptos"/>
              </a:rPr>
              <a:t>Input:</a:t>
            </a:r>
            <a:r>
              <a:rPr lang="en-US" sz="2400" dirty="0">
                <a:latin typeface="Aptos"/>
              </a:rPr>
              <a:t> Findings, risk scores, and timeline.</a:t>
            </a:r>
          </a:p>
          <a:p>
            <a:pPr>
              <a:buFont typeface="Wingdings" panose="05000000000000000000" pitchFamily="2" charset="2"/>
              <a:buChar char="§"/>
            </a:pPr>
            <a:r>
              <a:rPr lang="en-US" sz="2400" b="1" dirty="0">
                <a:latin typeface="Aptos"/>
              </a:rPr>
              <a:t>Output</a:t>
            </a:r>
            <a:r>
              <a:rPr lang="en-US" sz="2400" dirty="0">
                <a:latin typeface="Aptos"/>
              </a:rPr>
              <a:t>: Forensic report and PDF.</a:t>
            </a:r>
          </a:p>
          <a:p>
            <a:pPr>
              <a:buFont typeface="Wingdings" panose="05000000000000000000" pitchFamily="2" charset="2"/>
              <a:buChar char="§"/>
            </a:pPr>
            <a:r>
              <a:rPr lang="en-US" sz="2400" b="1" dirty="0">
                <a:latin typeface="Aptos"/>
              </a:rPr>
              <a:t>Implementation</a:t>
            </a:r>
            <a:r>
              <a:rPr lang="en-US" sz="2400" dirty="0">
                <a:latin typeface="Aptos"/>
              </a:rPr>
              <a:t>: Report formatting and PDF export.</a:t>
            </a:r>
          </a:p>
          <a:p>
            <a:pPr marL="0" indent="0">
              <a:buNone/>
            </a:pPr>
            <a:r>
              <a:rPr lang="en-US" sz="2400" b="1" dirty="0" smtClean="0">
                <a:solidFill>
                  <a:srgbClr val="C00000"/>
                </a:solidFill>
                <a:latin typeface="Aptos"/>
              </a:rPr>
              <a:t>Module 6</a:t>
            </a:r>
            <a:r>
              <a:rPr lang="en-US" sz="2400" b="1" dirty="0" smtClean="0">
                <a:latin typeface="Aptos"/>
              </a:rPr>
              <a:t>: </a:t>
            </a:r>
            <a:r>
              <a:rPr lang="en-US" sz="2400" b="1" dirty="0">
                <a:latin typeface="Aptos"/>
              </a:rPr>
              <a:t>Risk &amp; Event Sequence Analysis — Completed</a:t>
            </a:r>
          </a:p>
          <a:p>
            <a:pPr>
              <a:buFont typeface="Wingdings" panose="05000000000000000000" pitchFamily="2" charset="2"/>
              <a:buChar char="§"/>
            </a:pPr>
            <a:r>
              <a:rPr lang="en-US" sz="2400" b="1" dirty="0">
                <a:latin typeface="Aptos"/>
              </a:rPr>
              <a:t>Purpose</a:t>
            </a:r>
            <a:r>
              <a:rPr lang="en-US" sz="2400" dirty="0">
                <a:latin typeface="Aptos"/>
              </a:rPr>
              <a:t>: Detect changes in monitored evidence</a:t>
            </a:r>
            <a:r>
              <a:rPr lang="en-US" sz="2400" dirty="0" smtClean="0">
                <a:latin typeface="Aptos"/>
              </a:rPr>
              <a:t>.</a:t>
            </a:r>
          </a:p>
          <a:p>
            <a:pPr>
              <a:buFont typeface="Wingdings" panose="05000000000000000000" pitchFamily="2" charset="2"/>
              <a:buChar char="§"/>
            </a:pPr>
            <a:r>
              <a:rPr lang="en-US" sz="2400" b="1" dirty="0">
                <a:latin typeface="Aptos"/>
              </a:rPr>
              <a:t>Input</a:t>
            </a:r>
            <a:r>
              <a:rPr lang="en-US" sz="2400" dirty="0">
                <a:latin typeface="Aptos"/>
              </a:rPr>
              <a:t>: Monitored evidence files and folders</a:t>
            </a:r>
            <a:r>
              <a:rPr lang="en-US" sz="2400" dirty="0" smtClean="0">
                <a:latin typeface="Aptos"/>
              </a:rPr>
              <a:t>.</a:t>
            </a:r>
          </a:p>
          <a:p>
            <a:pPr>
              <a:buFont typeface="Wingdings" panose="05000000000000000000" pitchFamily="2" charset="2"/>
              <a:buChar char="§"/>
            </a:pPr>
            <a:r>
              <a:rPr lang="en-US" sz="2400" b="1" dirty="0">
                <a:latin typeface="Aptos"/>
              </a:rPr>
              <a:t>Output</a:t>
            </a:r>
            <a:r>
              <a:rPr lang="en-US" sz="2400" dirty="0">
                <a:latin typeface="Aptos"/>
              </a:rPr>
              <a:t>: Change alerts and re-analysis triggers</a:t>
            </a:r>
            <a:r>
              <a:rPr lang="en-US" sz="2400" dirty="0" smtClean="0">
                <a:latin typeface="Aptos"/>
              </a:rPr>
              <a:t>.</a:t>
            </a:r>
          </a:p>
          <a:p>
            <a:pPr>
              <a:buFont typeface="Wingdings" panose="05000000000000000000" pitchFamily="2" charset="2"/>
              <a:buChar char="§"/>
            </a:pPr>
            <a:r>
              <a:rPr lang="en-IN" sz="2400" b="1" dirty="0">
                <a:latin typeface="Aptos"/>
              </a:rPr>
              <a:t>Implementation</a:t>
            </a:r>
            <a:r>
              <a:rPr lang="en-IN" sz="2400" dirty="0">
                <a:latin typeface="Aptos"/>
              </a:rPr>
              <a:t>: File-system monitoring </a:t>
            </a:r>
            <a:r>
              <a:rPr lang="en-IN" sz="2400" dirty="0" smtClean="0">
                <a:latin typeface="Aptos"/>
              </a:rPr>
              <a:t>using watchdog</a:t>
            </a:r>
            <a:endParaRPr lang="en-US" sz="2400" dirty="0">
              <a:latin typeface="Aptos"/>
            </a:endParaRP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16</a:t>
            </a:fld>
            <a:endParaRPr lang="en-IN"/>
          </a:p>
        </p:txBody>
      </p:sp>
    </p:spTree>
    <p:extLst>
      <p:ext uri="{BB962C8B-B14F-4D97-AF65-F5344CB8AC3E}">
        <p14:creationId xmlns:p14="http://schemas.microsoft.com/office/powerpoint/2010/main" val="1816112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r>
              <a:rPr lang="en-US" altLang="en-US" sz="3200" b="1" dirty="0">
                <a:solidFill>
                  <a:srgbClr val="FF0000"/>
                </a:solidFill>
              </a:rPr>
              <a:t>Results &amp; Discussion</a:t>
            </a:r>
            <a:endParaRPr lang="en-IN" sz="2800" dirty="0"/>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17</a:t>
            </a:fld>
            <a:endParaRPr lang="en-IN"/>
          </a:p>
        </p:txBody>
      </p:sp>
      <p:sp>
        <p:nvSpPr>
          <p:cNvPr id="7" name="Rectangle 2"/>
          <p:cNvSpPr>
            <a:spLocks noGrp="1" noChangeArrowheads="1"/>
          </p:cNvSpPr>
          <p:nvPr>
            <p:ph idx="1"/>
          </p:nvPr>
        </p:nvSpPr>
        <p:spPr bwMode="auto">
          <a:xfrm>
            <a:off x="766233" y="1988840"/>
            <a:ext cx="8007320" cy="2793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sz="2400" b="0" i="0" u="none" strike="noStrike" cap="none" normalizeH="0" baseline="0" dirty="0" smtClean="0">
                <a:ln>
                  <a:noFill/>
                </a:ln>
                <a:solidFill>
                  <a:schemeClr val="tx1"/>
                </a:solidFill>
                <a:effectLst/>
                <a:latin typeface="Aptos"/>
              </a:rPr>
              <a:t>Evidence analysis and rule-based findings completed.</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sz="2400" b="0" i="0" u="none" strike="noStrike" cap="none" normalizeH="0" baseline="0" dirty="0" smtClean="0">
                <a:ln>
                  <a:noFill/>
                </a:ln>
                <a:solidFill>
                  <a:schemeClr val="tx1"/>
                </a:solidFill>
                <a:effectLst/>
                <a:latin typeface="Aptos"/>
              </a:rPr>
              <a:t>Risk scoring and timeline generation completed.</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sz="2400" b="0" i="0" u="none" strike="noStrike" cap="none" normalizeH="0" baseline="0" dirty="0" smtClean="0">
                <a:ln>
                  <a:noFill/>
                </a:ln>
                <a:solidFill>
                  <a:schemeClr val="tx1"/>
                </a:solidFill>
                <a:effectLst/>
                <a:latin typeface="Aptos"/>
              </a:rPr>
              <a:t>Testing through functional test cases.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sz="2400" b="0" i="0" u="none" strike="noStrike" cap="none" normalizeH="0" baseline="0" dirty="0" smtClean="0">
                <a:ln>
                  <a:noFill/>
                </a:ln>
                <a:solidFill>
                  <a:schemeClr val="tx1"/>
                </a:solidFill>
                <a:effectLst/>
                <a:latin typeface="Aptos"/>
              </a:rPr>
              <a:t>PDF reporting in progress; live monitoring pending.</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sz="2400" b="0" i="0" u="none" strike="noStrike" cap="none" normalizeH="0" baseline="0" dirty="0" smtClean="0">
                <a:ln>
                  <a:noFill/>
                </a:ln>
                <a:solidFill>
                  <a:schemeClr val="tx1"/>
                </a:solidFill>
                <a:effectLst/>
                <a:latin typeface="Aptos"/>
              </a:rPr>
              <a:t>Improvement: Automated, unified forensic analysis.</a:t>
            </a:r>
          </a:p>
        </p:txBody>
      </p:sp>
    </p:spTree>
    <p:extLst>
      <p:ext uri="{BB962C8B-B14F-4D97-AF65-F5344CB8AC3E}">
        <p14:creationId xmlns:p14="http://schemas.microsoft.com/office/powerpoint/2010/main" val="4109638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2664CE-7311-4C5B-AA2E-45ABB90DD588}"/>
              </a:ext>
            </a:extLst>
          </p:cNvPr>
          <p:cNvSpPr>
            <a:spLocks noGrp="1"/>
          </p:cNvSpPr>
          <p:nvPr>
            <p:ph type="title"/>
          </p:nvPr>
        </p:nvSpPr>
        <p:spPr/>
        <p:txBody>
          <a:bodyPr/>
          <a:lstStyle/>
          <a:p>
            <a:r>
              <a:rPr lang="en-US" sz="3200" b="1" dirty="0">
                <a:solidFill>
                  <a:srgbClr val="FF0000"/>
                </a:solidFill>
              </a:rPr>
              <a:t>User Interface/ Screenshots</a:t>
            </a:r>
            <a:endParaRPr lang="en-IN" sz="3200" dirty="0"/>
          </a:p>
        </p:txBody>
      </p:sp>
      <p:sp>
        <p:nvSpPr>
          <p:cNvPr id="4" name="Date Placeholder 3">
            <a:extLst>
              <a:ext uri="{FF2B5EF4-FFF2-40B4-BE49-F238E27FC236}">
                <a16:creationId xmlns:a16="http://schemas.microsoft.com/office/drawing/2014/main" xmlns="" id="{26FBE2C3-AC88-4E92-99FF-8D9C75D3439B}"/>
              </a:ext>
            </a:extLst>
          </p:cNvPr>
          <p:cNvSpPr>
            <a:spLocks noGrp="1"/>
          </p:cNvSpPr>
          <p:nvPr>
            <p:ph type="dt" sz="half" idx="10"/>
          </p:nvPr>
        </p:nvSpPr>
        <p:spPr/>
        <p:txBody>
          <a:bodyPr/>
          <a:lstStyle/>
          <a:p>
            <a:pPr>
              <a:defRPr/>
            </a:pPr>
            <a:r>
              <a:rPr lang="en-US"/>
              <a:t>Second Review</a:t>
            </a:r>
          </a:p>
        </p:txBody>
      </p:sp>
      <p:sp>
        <p:nvSpPr>
          <p:cNvPr id="5" name="Footer Placeholder 4">
            <a:extLst>
              <a:ext uri="{FF2B5EF4-FFF2-40B4-BE49-F238E27FC236}">
                <a16:creationId xmlns:a16="http://schemas.microsoft.com/office/drawing/2014/main" xmlns="" id="{2454BBD9-F4E8-4A60-9A83-C40083E30873}"/>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xmlns="" id="{3306318D-05CC-4803-9541-7064C44F7DE0}"/>
              </a:ext>
            </a:extLst>
          </p:cNvPr>
          <p:cNvSpPr>
            <a:spLocks noGrp="1"/>
          </p:cNvSpPr>
          <p:nvPr>
            <p:ph type="sldNum" sz="quarter" idx="12"/>
          </p:nvPr>
        </p:nvSpPr>
        <p:spPr/>
        <p:txBody>
          <a:bodyPr/>
          <a:lstStyle/>
          <a:p>
            <a:pPr>
              <a:defRPr/>
            </a:pPr>
            <a:fld id="{BDC2143B-610F-499C-A392-DFFBE135A7B2}" type="slidenum">
              <a:rPr lang="en-US" altLang="en-US" smtClean="0"/>
              <a:pPr>
                <a:defRPr/>
              </a:pPr>
              <a:t>18</a:t>
            </a:fld>
            <a:endParaRPr lang="en-US" alt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9536" y="1772816"/>
            <a:ext cx="8064896" cy="3814940"/>
          </a:xfrm>
          <a:prstGeom prst="rect">
            <a:avLst/>
          </a:prstGeom>
        </p:spPr>
      </p:pic>
      <p:sp>
        <p:nvSpPr>
          <p:cNvPr id="8" name="TextBox 7"/>
          <p:cNvSpPr txBox="1"/>
          <p:nvPr/>
        </p:nvSpPr>
        <p:spPr>
          <a:xfrm>
            <a:off x="5087888" y="5655080"/>
            <a:ext cx="3024336"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DASHBOARD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7265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2664CE-7311-4C5B-AA2E-45ABB90DD588}"/>
              </a:ext>
            </a:extLst>
          </p:cNvPr>
          <p:cNvSpPr>
            <a:spLocks noGrp="1"/>
          </p:cNvSpPr>
          <p:nvPr>
            <p:ph type="title"/>
          </p:nvPr>
        </p:nvSpPr>
        <p:spPr/>
        <p:txBody>
          <a:bodyPr/>
          <a:lstStyle/>
          <a:p>
            <a:r>
              <a:rPr lang="en-US" sz="3200" b="1" dirty="0">
                <a:solidFill>
                  <a:srgbClr val="FF0000"/>
                </a:solidFill>
              </a:rPr>
              <a:t>User Interface/ Screenshots</a:t>
            </a:r>
            <a:endParaRPr lang="en-IN" sz="3200" dirty="0"/>
          </a:p>
        </p:txBody>
      </p:sp>
      <p:sp>
        <p:nvSpPr>
          <p:cNvPr id="4" name="Date Placeholder 3">
            <a:extLst>
              <a:ext uri="{FF2B5EF4-FFF2-40B4-BE49-F238E27FC236}">
                <a16:creationId xmlns:a16="http://schemas.microsoft.com/office/drawing/2014/main" xmlns="" id="{26FBE2C3-AC88-4E92-99FF-8D9C75D3439B}"/>
              </a:ext>
            </a:extLst>
          </p:cNvPr>
          <p:cNvSpPr>
            <a:spLocks noGrp="1"/>
          </p:cNvSpPr>
          <p:nvPr>
            <p:ph type="dt" sz="half" idx="10"/>
          </p:nvPr>
        </p:nvSpPr>
        <p:spPr/>
        <p:txBody>
          <a:bodyPr/>
          <a:lstStyle/>
          <a:p>
            <a:pPr>
              <a:defRPr/>
            </a:pPr>
            <a:r>
              <a:rPr lang="en-US"/>
              <a:t>Second Review</a:t>
            </a:r>
          </a:p>
        </p:txBody>
      </p:sp>
      <p:sp>
        <p:nvSpPr>
          <p:cNvPr id="5" name="Footer Placeholder 4">
            <a:extLst>
              <a:ext uri="{FF2B5EF4-FFF2-40B4-BE49-F238E27FC236}">
                <a16:creationId xmlns:a16="http://schemas.microsoft.com/office/drawing/2014/main" xmlns="" id="{2454BBD9-F4E8-4A60-9A83-C40083E30873}"/>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xmlns="" id="{3306318D-05CC-4803-9541-7064C44F7DE0}"/>
              </a:ext>
            </a:extLst>
          </p:cNvPr>
          <p:cNvSpPr>
            <a:spLocks noGrp="1"/>
          </p:cNvSpPr>
          <p:nvPr>
            <p:ph type="sldNum" sz="quarter" idx="12"/>
          </p:nvPr>
        </p:nvSpPr>
        <p:spPr/>
        <p:txBody>
          <a:bodyPr/>
          <a:lstStyle/>
          <a:p>
            <a:pPr>
              <a:defRPr/>
            </a:pPr>
            <a:fld id="{BDC2143B-610F-499C-A392-DFFBE135A7B2}" type="slidenum">
              <a:rPr lang="en-US" altLang="en-US" smtClean="0"/>
              <a:pPr>
                <a:defRPr/>
              </a:pPr>
              <a:t>19</a:t>
            </a:fld>
            <a:endParaRPr lang="en-US" altLang="en-US"/>
          </a:p>
        </p:txBody>
      </p:sp>
      <p:pic>
        <p:nvPicPr>
          <p:cNvPr id="9"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51584" y="1844824"/>
            <a:ext cx="7379591" cy="3809714"/>
          </a:xfrm>
        </p:spPr>
      </p:pic>
      <p:sp>
        <p:nvSpPr>
          <p:cNvPr id="11" name="TextBox 10"/>
          <p:cNvSpPr txBox="1"/>
          <p:nvPr/>
        </p:nvSpPr>
        <p:spPr>
          <a:xfrm>
            <a:off x="4439816" y="5733256"/>
            <a:ext cx="3384376"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CASE INVESTIGATION TAB</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9584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2664CE-7311-4C5B-AA2E-45ABB90DD588}"/>
              </a:ext>
            </a:extLst>
          </p:cNvPr>
          <p:cNvSpPr>
            <a:spLocks noGrp="1"/>
          </p:cNvSpPr>
          <p:nvPr>
            <p:ph type="title"/>
          </p:nvPr>
        </p:nvSpPr>
        <p:spPr/>
        <p:txBody>
          <a:bodyPr/>
          <a:lstStyle/>
          <a:p>
            <a:r>
              <a:rPr lang="en-US" sz="3200" b="1" dirty="0">
                <a:solidFill>
                  <a:srgbClr val="FF0000"/>
                </a:solidFill>
              </a:rPr>
              <a:t>User Interface/ Screenshots</a:t>
            </a:r>
            <a:endParaRPr lang="en-IN" sz="3200" dirty="0"/>
          </a:p>
        </p:txBody>
      </p:sp>
      <p:sp>
        <p:nvSpPr>
          <p:cNvPr id="4" name="Date Placeholder 3">
            <a:extLst>
              <a:ext uri="{FF2B5EF4-FFF2-40B4-BE49-F238E27FC236}">
                <a16:creationId xmlns:a16="http://schemas.microsoft.com/office/drawing/2014/main" xmlns="" id="{26FBE2C3-AC88-4E92-99FF-8D9C75D3439B}"/>
              </a:ext>
            </a:extLst>
          </p:cNvPr>
          <p:cNvSpPr>
            <a:spLocks noGrp="1"/>
          </p:cNvSpPr>
          <p:nvPr>
            <p:ph type="dt" sz="half" idx="10"/>
          </p:nvPr>
        </p:nvSpPr>
        <p:spPr/>
        <p:txBody>
          <a:bodyPr/>
          <a:lstStyle/>
          <a:p>
            <a:pPr>
              <a:defRPr/>
            </a:pPr>
            <a:r>
              <a:rPr lang="en-US"/>
              <a:t>Second Review</a:t>
            </a:r>
          </a:p>
        </p:txBody>
      </p:sp>
      <p:sp>
        <p:nvSpPr>
          <p:cNvPr id="5" name="Footer Placeholder 4">
            <a:extLst>
              <a:ext uri="{FF2B5EF4-FFF2-40B4-BE49-F238E27FC236}">
                <a16:creationId xmlns:a16="http://schemas.microsoft.com/office/drawing/2014/main" xmlns="" id="{2454BBD9-F4E8-4A60-9A83-C40083E30873}"/>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xmlns="" id="{3306318D-05CC-4803-9541-7064C44F7DE0}"/>
              </a:ext>
            </a:extLst>
          </p:cNvPr>
          <p:cNvSpPr>
            <a:spLocks noGrp="1"/>
          </p:cNvSpPr>
          <p:nvPr>
            <p:ph type="sldNum" sz="quarter" idx="12"/>
          </p:nvPr>
        </p:nvSpPr>
        <p:spPr/>
        <p:txBody>
          <a:bodyPr/>
          <a:lstStyle/>
          <a:p>
            <a:pPr>
              <a:defRPr/>
            </a:pPr>
            <a:fld id="{BDC2143B-610F-499C-A392-DFFBE135A7B2}" type="slidenum">
              <a:rPr lang="en-US" altLang="en-US" smtClean="0"/>
              <a:pPr>
                <a:defRPr/>
              </a:pPr>
              <a:t>20</a:t>
            </a:fld>
            <a:endParaRPr lang="en-US" altLang="en-US"/>
          </a:p>
        </p:txBody>
      </p:sp>
      <p:pic>
        <p:nvPicPr>
          <p:cNvPr id="10" name="Content Placeholder 8"/>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2120980" y="1831497"/>
            <a:ext cx="7641143" cy="3901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p:cNvSpPr txBox="1"/>
          <p:nvPr/>
        </p:nvSpPr>
        <p:spPr>
          <a:xfrm>
            <a:off x="4439816" y="5733256"/>
            <a:ext cx="3384376" cy="369332"/>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AI THREAT ANALYSIS TAB</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6138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US" altLang="en-US" sz="3200" b="1" dirty="0">
                <a:solidFill>
                  <a:srgbClr val="FF0000"/>
                </a:solidFill>
              </a:rPr>
              <a:t>Conclusion</a:t>
            </a:r>
            <a:endParaRPr lang="en-IN" sz="2800" dirty="0"/>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21</a:t>
            </a:fld>
            <a:endParaRPr lang="en-IN"/>
          </a:p>
        </p:txBody>
      </p:sp>
      <p:sp>
        <p:nvSpPr>
          <p:cNvPr id="8" name="Rectangle 3"/>
          <p:cNvSpPr>
            <a:spLocks noGrp="1" noChangeArrowheads="1"/>
          </p:cNvSpPr>
          <p:nvPr>
            <p:ph idx="1"/>
          </p:nvPr>
        </p:nvSpPr>
        <p:spPr bwMode="auto">
          <a:xfrm>
            <a:off x="766233" y="1700808"/>
            <a:ext cx="11221342"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v"/>
              <a:tabLst/>
            </a:pPr>
            <a:r>
              <a:rPr kumimoji="0" lang="en-US" sz="2400" b="0" i="0" u="none" strike="noStrike" cap="none" normalizeH="0" baseline="0" dirty="0" smtClean="0">
                <a:ln>
                  <a:noFill/>
                </a:ln>
                <a:solidFill>
                  <a:schemeClr val="tx1"/>
                </a:solidFill>
                <a:effectLst/>
                <a:latin typeface="Aptos"/>
              </a:rPr>
              <a:t>FORENSEQUENCE automates digital evidence analysis using rule-based AI.</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v"/>
              <a:tabLst/>
            </a:pPr>
            <a:r>
              <a:rPr kumimoji="0" lang="en-US" sz="2400" b="0" i="0" u="none" strike="noStrike" cap="none" normalizeH="0" baseline="0" dirty="0" smtClean="0">
                <a:ln>
                  <a:noFill/>
                </a:ln>
                <a:solidFill>
                  <a:schemeClr val="tx1"/>
                </a:solidFill>
                <a:effectLst/>
                <a:latin typeface="Aptos"/>
              </a:rPr>
              <a:t>Forward Chaining enables explainable forensic findings.</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v"/>
              <a:tabLst/>
            </a:pPr>
            <a:r>
              <a:rPr kumimoji="0" lang="en-US" sz="2400" b="0" i="0" u="none" strike="noStrike" cap="none" normalizeH="0" baseline="0" dirty="0" smtClean="0">
                <a:ln>
                  <a:noFill/>
                </a:ln>
                <a:solidFill>
                  <a:schemeClr val="tx1"/>
                </a:solidFill>
                <a:effectLst/>
                <a:latin typeface="Aptos"/>
              </a:rPr>
              <a:t>Risk scoring and event timelines support investigation.</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v"/>
              <a:tabLst/>
            </a:pPr>
            <a:r>
              <a:rPr kumimoji="0" lang="en-US" sz="2400" b="0" i="0" u="none" strike="noStrike" cap="none" normalizeH="0" baseline="0" dirty="0" smtClean="0">
                <a:ln>
                  <a:noFill/>
                </a:ln>
                <a:solidFill>
                  <a:schemeClr val="tx1"/>
                </a:solidFill>
                <a:effectLst/>
                <a:latin typeface="Aptos"/>
              </a:rPr>
              <a:t>PDF reporting and real-time monitoring will enhance the system further.</a:t>
            </a:r>
          </a:p>
        </p:txBody>
      </p:sp>
    </p:spTree>
    <p:extLst>
      <p:ext uri="{BB962C8B-B14F-4D97-AF65-F5344CB8AC3E}">
        <p14:creationId xmlns:p14="http://schemas.microsoft.com/office/powerpoint/2010/main" val="2369166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US" sz="3200" b="1" dirty="0">
                <a:solidFill>
                  <a:srgbClr val="FF0000"/>
                </a:solidFill>
              </a:rPr>
              <a:t>Future Work</a:t>
            </a:r>
            <a:endParaRPr lang="en-IN" sz="3200" b="1" dirty="0">
              <a:solidFill>
                <a:srgbClr val="FF0000"/>
              </a:solidFill>
            </a:endParaRP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22</a:t>
            </a:fld>
            <a:endParaRPr lang="en-IN"/>
          </a:p>
        </p:txBody>
      </p:sp>
      <p:sp>
        <p:nvSpPr>
          <p:cNvPr id="7" name="Rectangle 2"/>
          <p:cNvSpPr>
            <a:spLocks noGrp="1" noChangeArrowheads="1"/>
          </p:cNvSpPr>
          <p:nvPr>
            <p:ph idx="1"/>
          </p:nvPr>
        </p:nvSpPr>
        <p:spPr bwMode="auto">
          <a:xfrm>
            <a:off x="766233" y="1506468"/>
            <a:ext cx="1036477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sz="2400" b="0" i="0" u="none" strike="noStrike" cap="none" normalizeH="0" baseline="0" dirty="0" smtClean="0">
                <a:ln>
                  <a:noFill/>
                </a:ln>
                <a:solidFill>
                  <a:schemeClr val="tx1"/>
                </a:solidFill>
                <a:effectLst/>
                <a:latin typeface="Aptos"/>
              </a:rPr>
              <a:t>Implement live evidence monitoring with automatic re-analysis and real-time alerts.</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sz="2400" b="0" i="0" u="none" strike="noStrike" cap="none" normalizeH="0" baseline="0" dirty="0" smtClean="0">
                <a:ln>
                  <a:noFill/>
                </a:ln>
                <a:solidFill>
                  <a:schemeClr val="tx1"/>
                </a:solidFill>
                <a:effectLst/>
                <a:latin typeface="Aptos"/>
              </a:rPr>
              <a:t>Expand the rule base to detect more suspicious activities.</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sz="2400" b="0" i="0" u="none" strike="noStrike" cap="none" normalizeH="0" baseline="0" dirty="0" smtClean="0">
                <a:ln>
                  <a:noFill/>
                </a:ln>
                <a:solidFill>
                  <a:schemeClr val="tx1"/>
                </a:solidFill>
                <a:effectLst/>
                <a:latin typeface="Aptos"/>
              </a:rPr>
              <a:t>Support additional evidence sources and file formats.</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sz="2400" b="0" i="0" u="none" strike="noStrike" cap="none" normalizeH="0" baseline="0" dirty="0" smtClean="0">
                <a:ln>
                  <a:noFill/>
                </a:ln>
                <a:solidFill>
                  <a:schemeClr val="tx1"/>
                </a:solidFill>
                <a:effectLst/>
                <a:latin typeface="Aptos"/>
              </a:rPr>
              <a:t>Enhance PDF reports with clearer findings and event timelines.</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sz="2400" b="0" i="0" u="none" strike="noStrike" cap="none" normalizeH="0" baseline="0" dirty="0" smtClean="0">
                <a:ln>
                  <a:noFill/>
                </a:ln>
                <a:solidFill>
                  <a:schemeClr val="tx1"/>
                </a:solidFill>
                <a:effectLst/>
                <a:latin typeface="Aptos"/>
              </a:rPr>
              <a:t>Improve reliability through extensive testing and evaluation.</a:t>
            </a:r>
          </a:p>
        </p:txBody>
      </p:sp>
    </p:spTree>
    <p:extLst>
      <p:ext uri="{BB962C8B-B14F-4D97-AF65-F5344CB8AC3E}">
        <p14:creationId xmlns:p14="http://schemas.microsoft.com/office/powerpoint/2010/main" val="15301620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8E018A-016D-CA20-9228-A14BE7D00458}"/>
              </a:ext>
            </a:extLst>
          </p:cNvPr>
          <p:cNvSpPr>
            <a:spLocks noGrp="1"/>
          </p:cNvSpPr>
          <p:nvPr>
            <p:ph type="title"/>
          </p:nvPr>
        </p:nvSpPr>
        <p:spPr/>
        <p:txBody>
          <a:bodyPr/>
          <a:lstStyle/>
          <a:p>
            <a:pPr algn="ctr"/>
            <a:r>
              <a:rPr lang="en-US" sz="3200" b="1" dirty="0">
                <a:solidFill>
                  <a:srgbClr val="FF0000"/>
                </a:solidFill>
              </a:rPr>
              <a:t>References</a:t>
            </a:r>
            <a:endParaRPr lang="en-IN" sz="3200" b="1" dirty="0">
              <a:solidFill>
                <a:srgbClr val="FF0000"/>
              </a:solidFill>
            </a:endParaRPr>
          </a:p>
        </p:txBody>
      </p:sp>
      <p:sp>
        <p:nvSpPr>
          <p:cNvPr id="3" name="Content Placeholder 2">
            <a:extLst>
              <a:ext uri="{FF2B5EF4-FFF2-40B4-BE49-F238E27FC236}">
                <a16:creationId xmlns:a16="http://schemas.microsoft.com/office/drawing/2014/main" xmlns="" id="{01F36FF0-FD4A-EE78-6CA2-4ADCB6BA1B65}"/>
              </a:ext>
            </a:extLst>
          </p:cNvPr>
          <p:cNvSpPr>
            <a:spLocks noGrp="1"/>
          </p:cNvSpPr>
          <p:nvPr>
            <p:ph idx="1"/>
          </p:nvPr>
        </p:nvSpPr>
        <p:spPr/>
        <p:txBody>
          <a:bodyPr/>
          <a:lstStyle/>
          <a:p>
            <a:pPr>
              <a:buFont typeface="Wingdings" panose="05000000000000000000" pitchFamily="2" charset="2"/>
              <a:buChar char="v"/>
            </a:pPr>
            <a:r>
              <a:rPr lang="en-IN" sz="2400" dirty="0">
                <a:latin typeface="Aptos"/>
              </a:rPr>
              <a:t>D. </a:t>
            </a:r>
            <a:r>
              <a:rPr lang="en-IN" sz="2400" dirty="0" err="1">
                <a:latin typeface="Aptos"/>
              </a:rPr>
              <a:t>Dunsin</a:t>
            </a:r>
            <a:r>
              <a:rPr lang="en-IN" sz="2400" dirty="0">
                <a:latin typeface="Aptos"/>
              </a:rPr>
              <a:t> et al. (2023) — Rule-Based Digital Forensics</a:t>
            </a:r>
          </a:p>
          <a:p>
            <a:pPr>
              <a:buFont typeface="Wingdings" panose="05000000000000000000" pitchFamily="2" charset="2"/>
              <a:buChar char="v"/>
            </a:pPr>
            <a:r>
              <a:rPr lang="en-IN" sz="2400" dirty="0">
                <a:latin typeface="Aptos"/>
              </a:rPr>
              <a:t>S. </a:t>
            </a:r>
            <a:r>
              <a:rPr lang="en-IN" sz="2400" dirty="0" err="1">
                <a:latin typeface="Aptos"/>
              </a:rPr>
              <a:t>Alam</a:t>
            </a:r>
            <a:r>
              <a:rPr lang="en-IN" sz="2400" dirty="0">
                <a:latin typeface="Aptos"/>
              </a:rPr>
              <a:t> &amp; A. K. </a:t>
            </a:r>
            <a:r>
              <a:rPr lang="en-IN" sz="2400" dirty="0" err="1">
                <a:latin typeface="Aptos"/>
              </a:rPr>
              <a:t>Demir</a:t>
            </a:r>
            <a:r>
              <a:rPr lang="en-IN" sz="2400" dirty="0">
                <a:latin typeface="Aptos"/>
              </a:rPr>
              <a:t> (2024) — SIFT: Explainable AI in Cyber Forensics</a:t>
            </a:r>
          </a:p>
          <a:p>
            <a:pPr>
              <a:buFont typeface="Wingdings" panose="05000000000000000000" pitchFamily="2" charset="2"/>
              <a:buChar char="v"/>
            </a:pPr>
            <a:r>
              <a:rPr lang="en-IN" sz="2400" dirty="0">
                <a:latin typeface="Aptos"/>
              </a:rPr>
              <a:t>D. D. et al. (2024) — AI in Digital Forensic Investigation</a:t>
            </a:r>
          </a:p>
          <a:p>
            <a:pPr>
              <a:buFont typeface="Wingdings" panose="05000000000000000000" pitchFamily="2" charset="2"/>
              <a:buChar char="v"/>
            </a:pPr>
            <a:r>
              <a:rPr lang="en-IN" sz="2400" dirty="0">
                <a:latin typeface="Aptos"/>
              </a:rPr>
              <a:t>S. Russell &amp; P. </a:t>
            </a:r>
            <a:r>
              <a:rPr lang="en-IN" sz="2400" dirty="0" err="1">
                <a:latin typeface="Aptos"/>
              </a:rPr>
              <a:t>Norvig</a:t>
            </a:r>
            <a:r>
              <a:rPr lang="en-IN" sz="2400" dirty="0">
                <a:latin typeface="Aptos"/>
              </a:rPr>
              <a:t> — Artificial Intelligence: A Modern Approach</a:t>
            </a:r>
          </a:p>
          <a:p>
            <a:pPr>
              <a:buFont typeface="Wingdings" panose="05000000000000000000" pitchFamily="2" charset="2"/>
              <a:buChar char="v"/>
            </a:pPr>
            <a:r>
              <a:rPr lang="en-IN" sz="2400" dirty="0">
                <a:latin typeface="Aptos"/>
              </a:rPr>
              <a:t>Python Software Foundation — Python Documentation</a:t>
            </a:r>
          </a:p>
          <a:p>
            <a:pPr>
              <a:buFont typeface="Wingdings" panose="05000000000000000000" pitchFamily="2" charset="2"/>
              <a:buChar char="v"/>
            </a:pPr>
            <a:r>
              <a:rPr lang="en-IN" sz="2400" dirty="0">
                <a:latin typeface="Aptos"/>
              </a:rPr>
              <a:t>SQLite — SQLite Documentation</a:t>
            </a:r>
            <a:endParaRPr lang="en-IN" sz="2400" dirty="0">
              <a:latin typeface="Aptos"/>
            </a:endParaRPr>
          </a:p>
        </p:txBody>
      </p:sp>
      <p:sp>
        <p:nvSpPr>
          <p:cNvPr id="6" name="Slide Number Placeholder 5">
            <a:extLst>
              <a:ext uri="{FF2B5EF4-FFF2-40B4-BE49-F238E27FC236}">
                <a16:creationId xmlns:a16="http://schemas.microsoft.com/office/drawing/2014/main" xmlns="" id="{C5DE7F8E-147A-1C48-B5E0-51437A1B86AF}"/>
              </a:ext>
            </a:extLst>
          </p:cNvPr>
          <p:cNvSpPr>
            <a:spLocks noGrp="1"/>
          </p:cNvSpPr>
          <p:nvPr>
            <p:ph type="sldNum" sz="quarter" idx="12"/>
          </p:nvPr>
        </p:nvSpPr>
        <p:spPr/>
        <p:txBody>
          <a:bodyPr/>
          <a:lstStyle/>
          <a:p>
            <a:fld id="{5AB9ECBD-B4DD-40D5-8D24-9ECCDBB1583E}" type="slidenum">
              <a:rPr lang="en-IN" smtClean="0"/>
              <a:t>23</a:t>
            </a:fld>
            <a:endParaRPr lang="en-IN"/>
          </a:p>
        </p:txBody>
      </p:sp>
    </p:spTree>
    <p:extLst>
      <p:ext uri="{BB962C8B-B14F-4D97-AF65-F5344CB8AC3E}">
        <p14:creationId xmlns:p14="http://schemas.microsoft.com/office/powerpoint/2010/main" val="29464227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CC349C-5BE6-7AA1-4EE3-C4AA5A3BB314}"/>
              </a:ext>
            </a:extLst>
          </p:cNvPr>
          <p:cNvSpPr>
            <a:spLocks noGrp="1"/>
          </p:cNvSpPr>
          <p:nvPr>
            <p:ph type="title"/>
          </p:nvPr>
        </p:nvSpPr>
        <p:spPr>
          <a:xfrm>
            <a:off x="711200" y="3168074"/>
            <a:ext cx="10668000" cy="1216025"/>
          </a:xfrm>
        </p:spPr>
        <p:txBody>
          <a:bodyPr anchor="ctr"/>
          <a:lstStyle/>
          <a:p>
            <a:pPr algn="ctr"/>
            <a:r>
              <a:rPr lang="en-IN" altLang="en-US" sz="4000" b="1" dirty="0">
                <a:solidFill>
                  <a:srgbClr val="FF0000"/>
                </a:solidFill>
              </a:rPr>
              <a:t>Thank You</a:t>
            </a:r>
            <a:endParaRPr lang="en-IN" dirty="0"/>
          </a:p>
        </p:txBody>
      </p:sp>
      <p:sp>
        <p:nvSpPr>
          <p:cNvPr id="4" name="Slide Number Placeholder 3">
            <a:extLst>
              <a:ext uri="{FF2B5EF4-FFF2-40B4-BE49-F238E27FC236}">
                <a16:creationId xmlns:a16="http://schemas.microsoft.com/office/drawing/2014/main" xmlns="" id="{CF44F5F3-B604-7034-3991-F0917DEC107F}"/>
              </a:ext>
            </a:extLst>
          </p:cNvPr>
          <p:cNvSpPr>
            <a:spLocks noGrp="1"/>
          </p:cNvSpPr>
          <p:nvPr>
            <p:ph type="sldNum" sz="quarter" idx="12"/>
          </p:nvPr>
        </p:nvSpPr>
        <p:spPr/>
        <p:txBody>
          <a:bodyPr/>
          <a:lstStyle/>
          <a:p>
            <a:pPr>
              <a:defRPr/>
            </a:pPr>
            <a:fld id="{F583B680-F650-469F-A231-392F163461F6}" type="slidenum">
              <a:rPr lang="en-US" altLang="en-US" smtClean="0"/>
              <a:pPr>
                <a:defRPr/>
              </a:pPr>
              <a:t>24</a:t>
            </a:fld>
            <a:endParaRPr lang="en-US" altLang="en-US" dirty="0"/>
          </a:p>
        </p:txBody>
      </p:sp>
    </p:spTree>
    <p:extLst>
      <p:ext uri="{BB962C8B-B14F-4D97-AF65-F5344CB8AC3E}">
        <p14:creationId xmlns:p14="http://schemas.microsoft.com/office/powerpoint/2010/main" val="2273965067"/>
      </p:ext>
    </p:extLst>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4.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5.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6.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7.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8.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docProps/app.xml><?xml version="1.0" encoding="utf-8"?>
<Properties xmlns="http://schemas.openxmlformats.org/officeDocument/2006/extended-properties" xmlns:vt="http://schemas.openxmlformats.org/officeDocument/2006/docPropsVTypes">
  <TotalTime>2061</TotalTime>
  <Words>1164</Words>
  <Application>Microsoft Office PowerPoint</Application>
  <PresentationFormat>Widescreen</PresentationFormat>
  <Paragraphs>197</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Aptos</vt:lpstr>
      <vt:lpstr>Aptos Display</vt:lpstr>
      <vt:lpstr>Arial</vt:lpstr>
      <vt:lpstr>Calibri</vt:lpstr>
      <vt:lpstr>Times New Roman</vt:lpstr>
      <vt:lpstr>Verdana</vt:lpstr>
      <vt:lpstr>Wingdings</vt:lpstr>
      <vt:lpstr>Profile</vt:lpstr>
      <vt:lpstr>PowerPoint Presentation</vt:lpstr>
      <vt:lpstr>Problem Statement and Motivation</vt:lpstr>
      <vt:lpstr>Objectives</vt:lpstr>
      <vt:lpstr>Abstract</vt:lpstr>
      <vt:lpstr>Literature Survey</vt:lpstr>
      <vt:lpstr>Literature Survey</vt:lpstr>
      <vt:lpstr>Research Gap/Existing System</vt:lpstr>
      <vt:lpstr>Proposed System </vt:lpstr>
      <vt:lpstr>DFD Diagram – level 0</vt:lpstr>
      <vt:lpstr>DFD Diagram – level 1</vt:lpstr>
      <vt:lpstr>Methodology/Work Flow Diagram</vt:lpstr>
      <vt:lpstr>Tools and Technologies</vt:lpstr>
      <vt:lpstr>List of Modules</vt:lpstr>
      <vt:lpstr>Module Description(For each Module separately)</vt:lpstr>
      <vt:lpstr>Module Description(For each Module separately)</vt:lpstr>
      <vt:lpstr>Module Description(For each Module separately)</vt:lpstr>
      <vt:lpstr>Results &amp; Discussion</vt:lpstr>
      <vt:lpstr>User Interface/ Screenshots</vt:lpstr>
      <vt:lpstr>User Interface/ Screenshots</vt:lpstr>
      <vt:lpstr>User Interface/ Screenshots</vt:lpstr>
      <vt:lpstr>Conclusion</vt:lpstr>
      <vt:lpstr>Future Work</vt:lpstr>
      <vt:lpstr>References</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24</cp:revision>
  <dcterms:modified xsi:type="dcterms:W3CDTF">2026-10-15T18:11:42Z</dcterms:modified>
</cp:coreProperties>
</file>